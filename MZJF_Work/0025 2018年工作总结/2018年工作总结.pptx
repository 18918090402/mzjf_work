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02" r:id="rId2"/>
    <p:sldId id="440" r:id="rId3"/>
    <p:sldId id="441" r:id="rId4"/>
    <p:sldId id="442" r:id="rId5"/>
    <p:sldId id="443" r:id="rId6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F54"/>
    <a:srgbClr val="F8931D"/>
    <a:srgbClr val="70AD47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327B8B-008C-46E6-9437-9D1EB543BB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8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2019/1/3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846638" y="2199562"/>
            <a:ext cx="8984798" cy="167462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3600" dirty="0" smtClean="0"/>
              <a:t>2018</a:t>
            </a:r>
            <a:r>
              <a:rPr lang="zh-CN" altLang="en-US" sz="3600" dirty="0" smtClean="0"/>
              <a:t>年工作总结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93174" y="5110087"/>
            <a:ext cx="6638783" cy="606425"/>
          </a:xfrm>
        </p:spPr>
        <p:txBody>
          <a:bodyPr/>
          <a:lstStyle/>
          <a:p>
            <a:r>
              <a:rPr lang="zh-CN" altLang="en-US" sz="2400" dirty="0" smtClean="0"/>
              <a:t>黄威 </a:t>
            </a:r>
            <a:endParaRPr lang="en-US" altLang="zh-CN" sz="2400" dirty="0" smtClean="0"/>
          </a:p>
          <a:p>
            <a:r>
              <a:rPr lang="en-US" altLang="zh-CN" sz="2400" dirty="0" smtClean="0"/>
              <a:t>2019</a:t>
            </a:r>
            <a:r>
              <a:rPr lang="zh-CN" altLang="en-US" sz="2400" dirty="0" smtClean="0"/>
              <a:t>年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月</a:t>
            </a:r>
            <a:r>
              <a:rPr lang="en-US" altLang="zh-CN" sz="2400" dirty="0"/>
              <a:t>3</a:t>
            </a:r>
            <a:r>
              <a:rPr lang="zh-CN" altLang="en-US" sz="2400" dirty="0" smtClean="0"/>
              <a:t>日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1301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2018</a:t>
            </a:r>
            <a:r>
              <a:rPr lang="zh-CN" altLang="en-US" dirty="0" smtClean="0"/>
              <a:t>年工作回顾</a:t>
            </a:r>
            <a:endParaRPr lang="zh-CN" altLang="en-US" dirty="0"/>
          </a:p>
        </p:txBody>
      </p:sp>
      <p:grpSp>
        <p:nvGrpSpPr>
          <p:cNvPr id="24" name="时间线 17"/>
          <p:cNvGrpSpPr/>
          <p:nvPr/>
        </p:nvGrpSpPr>
        <p:grpSpPr>
          <a:xfrm>
            <a:off x="1986722" y="1282700"/>
            <a:ext cx="9278178" cy="2794000"/>
            <a:chOff x="1339023" y="2312750"/>
            <a:chExt cx="6435224" cy="2232500"/>
          </a:xfrm>
        </p:grpSpPr>
        <p:grpSp>
          <p:nvGrpSpPr>
            <p:cNvPr id="25" name="组合 24"/>
            <p:cNvGrpSpPr/>
            <p:nvPr/>
          </p:nvGrpSpPr>
          <p:grpSpPr>
            <a:xfrm>
              <a:off x="1339023" y="3598205"/>
              <a:ext cx="5351754" cy="947045"/>
              <a:chOff x="1339023" y="3598205"/>
              <a:chExt cx="5351754" cy="947045"/>
            </a:xfrm>
          </p:grpSpPr>
          <p:sp>
            <p:nvSpPr>
              <p:cNvPr id="61" name="任意多边形 60"/>
              <p:cNvSpPr/>
              <p:nvPr/>
            </p:nvSpPr>
            <p:spPr>
              <a:xfrm>
                <a:off x="1339023" y="3598205"/>
                <a:ext cx="894950" cy="947045"/>
              </a:xfrm>
              <a:custGeom>
                <a:avLst/>
                <a:gdLst/>
                <a:ahLst/>
                <a:cxnLst/>
                <a:rect l="0" t="0" r="0" b="0"/>
                <a:pathLst>
                  <a:path w="894950" h="947045">
                    <a:moveTo>
                      <a:pt x="0" y="0"/>
                    </a:moveTo>
                    <a:lnTo>
                      <a:pt x="894950" y="0"/>
                    </a:lnTo>
                    <a:lnTo>
                      <a:pt x="894950" y="947045"/>
                    </a:lnTo>
                    <a:lnTo>
                      <a:pt x="0" y="94704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FFC332"/>
                </a:solidFill>
                <a:bevel/>
              </a:ln>
            </p:spPr>
          </p:sp>
          <p:sp>
            <p:nvSpPr>
              <p:cNvPr id="62" name="任意多边形 61"/>
              <p:cNvSpPr/>
              <p:nvPr/>
            </p:nvSpPr>
            <p:spPr>
              <a:xfrm>
                <a:off x="2453224" y="3598205"/>
                <a:ext cx="894950" cy="947045"/>
              </a:xfrm>
              <a:custGeom>
                <a:avLst/>
                <a:gdLst/>
                <a:ahLst/>
                <a:cxnLst/>
                <a:rect l="0" t="0" r="0" b="0"/>
                <a:pathLst>
                  <a:path w="894950" h="947045">
                    <a:moveTo>
                      <a:pt x="0" y="0"/>
                    </a:moveTo>
                    <a:lnTo>
                      <a:pt x="894950" y="0"/>
                    </a:lnTo>
                    <a:lnTo>
                      <a:pt x="894950" y="947045"/>
                    </a:lnTo>
                    <a:lnTo>
                      <a:pt x="0" y="94704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FFC332"/>
                </a:solidFill>
                <a:bevel/>
              </a:ln>
            </p:spPr>
          </p:sp>
          <p:sp>
            <p:nvSpPr>
              <p:cNvPr id="63" name="任意多边形 62"/>
              <p:cNvSpPr/>
              <p:nvPr/>
            </p:nvSpPr>
            <p:spPr>
              <a:xfrm>
                <a:off x="3567425" y="3598205"/>
                <a:ext cx="894950" cy="947045"/>
              </a:xfrm>
              <a:custGeom>
                <a:avLst/>
                <a:gdLst/>
                <a:ahLst/>
                <a:cxnLst/>
                <a:rect l="0" t="0" r="0" b="0"/>
                <a:pathLst>
                  <a:path w="894950" h="947045">
                    <a:moveTo>
                      <a:pt x="0" y="0"/>
                    </a:moveTo>
                    <a:lnTo>
                      <a:pt x="894950" y="0"/>
                    </a:lnTo>
                    <a:lnTo>
                      <a:pt x="894950" y="947045"/>
                    </a:lnTo>
                    <a:lnTo>
                      <a:pt x="0" y="94704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FFC332"/>
                </a:solidFill>
                <a:bevel/>
              </a:ln>
            </p:spPr>
          </p:sp>
          <p:sp>
            <p:nvSpPr>
              <p:cNvPr id="64" name="任意多边形 63"/>
              <p:cNvSpPr/>
              <p:nvPr/>
            </p:nvSpPr>
            <p:spPr>
              <a:xfrm>
                <a:off x="4681626" y="3598205"/>
                <a:ext cx="894950" cy="947045"/>
              </a:xfrm>
              <a:custGeom>
                <a:avLst/>
                <a:gdLst/>
                <a:ahLst/>
                <a:cxnLst/>
                <a:rect l="0" t="0" r="0" b="0"/>
                <a:pathLst>
                  <a:path w="894950" h="947045">
                    <a:moveTo>
                      <a:pt x="0" y="0"/>
                    </a:moveTo>
                    <a:lnTo>
                      <a:pt x="894950" y="0"/>
                    </a:lnTo>
                    <a:lnTo>
                      <a:pt x="894950" y="947045"/>
                    </a:lnTo>
                    <a:lnTo>
                      <a:pt x="0" y="94704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FFC332"/>
                </a:solidFill>
                <a:bevel/>
              </a:ln>
            </p:spPr>
          </p:sp>
          <p:sp>
            <p:nvSpPr>
              <p:cNvPr id="65" name="任意多边形 64"/>
              <p:cNvSpPr/>
              <p:nvPr/>
            </p:nvSpPr>
            <p:spPr>
              <a:xfrm>
                <a:off x="5795827" y="3598205"/>
                <a:ext cx="894950" cy="947045"/>
              </a:xfrm>
              <a:custGeom>
                <a:avLst/>
                <a:gdLst/>
                <a:ahLst/>
                <a:cxnLst/>
                <a:rect l="0" t="0" r="0" b="0"/>
                <a:pathLst>
                  <a:path w="894950" h="947045">
                    <a:moveTo>
                      <a:pt x="0" y="0"/>
                    </a:moveTo>
                    <a:lnTo>
                      <a:pt x="894950" y="0"/>
                    </a:lnTo>
                    <a:lnTo>
                      <a:pt x="894950" y="947045"/>
                    </a:lnTo>
                    <a:lnTo>
                      <a:pt x="0" y="947045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7600" cap="flat">
                <a:solidFill>
                  <a:srgbClr val="FFC332"/>
                </a:solidFill>
                <a:bevel/>
              </a:ln>
            </p:spPr>
          </p:sp>
        </p:grpSp>
        <p:sp>
          <p:nvSpPr>
            <p:cNvPr id="26" name="任意多边形 25"/>
            <p:cNvSpPr/>
            <p:nvPr/>
          </p:nvSpPr>
          <p:spPr>
            <a:xfrm>
              <a:off x="2112719" y="2360300"/>
              <a:ext cx="464998" cy="402700"/>
            </a:xfrm>
            <a:custGeom>
              <a:avLst/>
              <a:gdLst/>
              <a:ahLst/>
              <a:cxnLst/>
              <a:rect l="0" t="0" r="0" b="0"/>
              <a:pathLst>
                <a:path w="464998" h="402700">
                  <a:moveTo>
                    <a:pt x="348748" y="0"/>
                  </a:moveTo>
                  <a:lnTo>
                    <a:pt x="464998" y="201350"/>
                  </a:lnTo>
                  <a:lnTo>
                    <a:pt x="348748" y="402700"/>
                  </a:lnTo>
                  <a:lnTo>
                    <a:pt x="116249" y="402700"/>
                  </a:lnTo>
                  <a:lnTo>
                    <a:pt x="0" y="201350"/>
                  </a:lnTo>
                  <a:lnTo>
                    <a:pt x="116249" y="0"/>
                  </a:lnTo>
                  <a:lnTo>
                    <a:pt x="348748" y="0"/>
                  </a:lnTo>
                  <a:close/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27" name="任意多边形 26"/>
            <p:cNvSpPr/>
            <p:nvPr/>
          </p:nvSpPr>
          <p:spPr>
            <a:xfrm>
              <a:off x="2167188" y="2407472"/>
              <a:ext cx="356060" cy="308357"/>
            </a:xfrm>
            <a:custGeom>
              <a:avLst/>
              <a:gdLst/>
              <a:ahLst/>
              <a:cxnLst/>
              <a:rect l="l" t="t" r="r" b="b"/>
              <a:pathLst>
                <a:path w="356060" h="308357">
                  <a:moveTo>
                    <a:pt x="267045" y="0"/>
                  </a:moveTo>
                  <a:lnTo>
                    <a:pt x="356060" y="154178"/>
                  </a:lnTo>
                  <a:lnTo>
                    <a:pt x="267045" y="308357"/>
                  </a:lnTo>
                  <a:lnTo>
                    <a:pt x="89015" y="308357"/>
                  </a:lnTo>
                  <a:lnTo>
                    <a:pt x="0" y="154178"/>
                  </a:lnTo>
                  <a:lnTo>
                    <a:pt x="89015" y="0"/>
                  </a:lnTo>
                  <a:lnTo>
                    <a:pt x="267045" y="0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FFFFFF"/>
              </a:solidFill>
              <a:beve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064" dirty="0" smtClean="0">
                  <a:solidFill>
                    <a:srgbClr val="FFC332"/>
                  </a:solidFill>
                  <a:latin typeface="Arial"/>
                </a:rPr>
                <a:t>8</a:t>
              </a:r>
              <a:r>
                <a:rPr lang="zh-CN" altLang="en-US" sz="1064" dirty="0" smtClean="0">
                  <a:solidFill>
                    <a:srgbClr val="FFC332"/>
                  </a:solidFill>
                  <a:latin typeface="Arial"/>
                </a:rPr>
                <a:t>月</a:t>
              </a:r>
              <a:endParaRPr sz="1064" dirty="0">
                <a:solidFill>
                  <a:srgbClr val="FFC332"/>
                </a:solidFill>
                <a:latin typeface="Arial"/>
              </a:endParaRPr>
            </a:p>
          </p:txBody>
        </p:sp>
        <p:sp>
          <p:nvSpPr>
            <p:cNvPr id="28" name="任意多边形 27"/>
            <p:cNvSpPr/>
            <p:nvPr/>
          </p:nvSpPr>
          <p:spPr>
            <a:xfrm>
              <a:off x="3225146" y="2360300"/>
              <a:ext cx="464998" cy="402700"/>
            </a:xfrm>
            <a:custGeom>
              <a:avLst/>
              <a:gdLst/>
              <a:ahLst/>
              <a:cxnLst/>
              <a:rect l="0" t="0" r="0" b="0"/>
              <a:pathLst>
                <a:path w="464998" h="402700">
                  <a:moveTo>
                    <a:pt x="348748" y="0"/>
                  </a:moveTo>
                  <a:lnTo>
                    <a:pt x="464998" y="201350"/>
                  </a:lnTo>
                  <a:lnTo>
                    <a:pt x="348748" y="402700"/>
                  </a:lnTo>
                  <a:lnTo>
                    <a:pt x="116249" y="402700"/>
                  </a:lnTo>
                  <a:lnTo>
                    <a:pt x="0" y="201350"/>
                  </a:lnTo>
                  <a:lnTo>
                    <a:pt x="116249" y="0"/>
                  </a:lnTo>
                  <a:lnTo>
                    <a:pt x="348748" y="0"/>
                  </a:lnTo>
                  <a:close/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29" name="任意多边形 28"/>
            <p:cNvSpPr/>
            <p:nvPr/>
          </p:nvSpPr>
          <p:spPr>
            <a:xfrm>
              <a:off x="3279615" y="2407472"/>
              <a:ext cx="356060" cy="308357"/>
            </a:xfrm>
            <a:custGeom>
              <a:avLst/>
              <a:gdLst/>
              <a:ahLst/>
              <a:cxnLst/>
              <a:rect l="l" t="t" r="r" b="b"/>
              <a:pathLst>
                <a:path w="356060" h="308357">
                  <a:moveTo>
                    <a:pt x="267045" y="0"/>
                  </a:moveTo>
                  <a:lnTo>
                    <a:pt x="356060" y="154178"/>
                  </a:lnTo>
                  <a:lnTo>
                    <a:pt x="267045" y="308357"/>
                  </a:lnTo>
                  <a:lnTo>
                    <a:pt x="89015" y="308357"/>
                  </a:lnTo>
                  <a:lnTo>
                    <a:pt x="0" y="154178"/>
                  </a:lnTo>
                  <a:lnTo>
                    <a:pt x="89015" y="0"/>
                  </a:lnTo>
                  <a:lnTo>
                    <a:pt x="267045" y="0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FFFFFF"/>
              </a:solidFill>
              <a:beve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064" dirty="0" smtClean="0">
                  <a:solidFill>
                    <a:srgbClr val="FFC332"/>
                  </a:solidFill>
                  <a:latin typeface="Arial"/>
                </a:rPr>
                <a:t>9</a:t>
              </a:r>
              <a:r>
                <a:rPr lang="zh-CN" altLang="en-US" sz="1064" dirty="0" smtClean="0">
                  <a:solidFill>
                    <a:srgbClr val="FFC332"/>
                  </a:solidFill>
                  <a:latin typeface="Arial"/>
                </a:rPr>
                <a:t>月</a:t>
              </a:r>
              <a:endParaRPr sz="1064" dirty="0">
                <a:solidFill>
                  <a:srgbClr val="FFC332"/>
                </a:solidFill>
                <a:latin typeface="Arial"/>
              </a:endParaRPr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4339501" y="2360300"/>
              <a:ext cx="464998" cy="402700"/>
            </a:xfrm>
            <a:custGeom>
              <a:avLst/>
              <a:gdLst/>
              <a:ahLst/>
              <a:cxnLst/>
              <a:rect l="0" t="0" r="0" b="0"/>
              <a:pathLst>
                <a:path w="464998" h="402700">
                  <a:moveTo>
                    <a:pt x="348748" y="0"/>
                  </a:moveTo>
                  <a:lnTo>
                    <a:pt x="464998" y="201350"/>
                  </a:lnTo>
                  <a:lnTo>
                    <a:pt x="348748" y="402700"/>
                  </a:lnTo>
                  <a:lnTo>
                    <a:pt x="116249" y="402700"/>
                  </a:lnTo>
                  <a:lnTo>
                    <a:pt x="0" y="201350"/>
                  </a:lnTo>
                  <a:lnTo>
                    <a:pt x="116249" y="0"/>
                  </a:lnTo>
                  <a:lnTo>
                    <a:pt x="348748" y="0"/>
                  </a:lnTo>
                  <a:close/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31" name="任意多边形 30"/>
            <p:cNvSpPr/>
            <p:nvPr/>
          </p:nvSpPr>
          <p:spPr>
            <a:xfrm>
              <a:off x="4393970" y="2407472"/>
              <a:ext cx="356060" cy="308357"/>
            </a:xfrm>
            <a:custGeom>
              <a:avLst/>
              <a:gdLst/>
              <a:ahLst/>
              <a:cxnLst/>
              <a:rect l="l" t="t" r="r" b="b"/>
              <a:pathLst>
                <a:path w="356060" h="308357">
                  <a:moveTo>
                    <a:pt x="267045" y="0"/>
                  </a:moveTo>
                  <a:lnTo>
                    <a:pt x="356060" y="154178"/>
                  </a:lnTo>
                  <a:lnTo>
                    <a:pt x="267045" y="308357"/>
                  </a:lnTo>
                  <a:lnTo>
                    <a:pt x="89015" y="308357"/>
                  </a:lnTo>
                  <a:lnTo>
                    <a:pt x="0" y="154178"/>
                  </a:lnTo>
                  <a:lnTo>
                    <a:pt x="89015" y="0"/>
                  </a:lnTo>
                  <a:lnTo>
                    <a:pt x="267045" y="0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FFFFFF"/>
              </a:solidFill>
              <a:beve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064" dirty="0" smtClean="0">
                  <a:solidFill>
                    <a:srgbClr val="FFC332"/>
                  </a:solidFill>
                  <a:latin typeface="Arial"/>
                </a:rPr>
                <a:t>10</a:t>
              </a:r>
              <a:r>
                <a:rPr lang="zh-CN" altLang="en-US" sz="1064" dirty="0" smtClean="0">
                  <a:solidFill>
                    <a:srgbClr val="FFC332"/>
                  </a:solidFill>
                  <a:latin typeface="Arial"/>
                </a:rPr>
                <a:t>月</a:t>
              </a:r>
              <a:endParaRPr sz="1064" dirty="0">
                <a:solidFill>
                  <a:srgbClr val="FFC332"/>
                </a:solidFill>
                <a:latin typeface="Arial"/>
              </a:endParaRPr>
            </a:p>
          </p:txBody>
        </p:sp>
        <p:sp>
          <p:nvSpPr>
            <p:cNvPr id="32" name="任意多边形 31"/>
            <p:cNvSpPr/>
            <p:nvPr/>
          </p:nvSpPr>
          <p:spPr>
            <a:xfrm>
              <a:off x="5450000" y="2360300"/>
              <a:ext cx="464998" cy="402700"/>
            </a:xfrm>
            <a:custGeom>
              <a:avLst/>
              <a:gdLst/>
              <a:ahLst/>
              <a:cxnLst/>
              <a:rect l="0" t="0" r="0" b="0"/>
              <a:pathLst>
                <a:path w="464998" h="402700">
                  <a:moveTo>
                    <a:pt x="348748" y="0"/>
                  </a:moveTo>
                  <a:lnTo>
                    <a:pt x="464998" y="201350"/>
                  </a:lnTo>
                  <a:lnTo>
                    <a:pt x="348748" y="402700"/>
                  </a:lnTo>
                  <a:lnTo>
                    <a:pt x="116249" y="402700"/>
                  </a:lnTo>
                  <a:lnTo>
                    <a:pt x="0" y="201350"/>
                  </a:lnTo>
                  <a:lnTo>
                    <a:pt x="116249" y="0"/>
                  </a:lnTo>
                  <a:lnTo>
                    <a:pt x="348748" y="0"/>
                  </a:lnTo>
                  <a:close/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33" name="任意多边形 32"/>
            <p:cNvSpPr/>
            <p:nvPr/>
          </p:nvSpPr>
          <p:spPr>
            <a:xfrm>
              <a:off x="5504469" y="2407472"/>
              <a:ext cx="356060" cy="308357"/>
            </a:xfrm>
            <a:custGeom>
              <a:avLst/>
              <a:gdLst/>
              <a:ahLst/>
              <a:cxnLst/>
              <a:rect l="l" t="t" r="r" b="b"/>
              <a:pathLst>
                <a:path w="356060" h="308357">
                  <a:moveTo>
                    <a:pt x="267045" y="0"/>
                  </a:moveTo>
                  <a:lnTo>
                    <a:pt x="356060" y="154178"/>
                  </a:lnTo>
                  <a:lnTo>
                    <a:pt x="267045" y="308357"/>
                  </a:lnTo>
                  <a:lnTo>
                    <a:pt x="89015" y="308357"/>
                  </a:lnTo>
                  <a:lnTo>
                    <a:pt x="0" y="154178"/>
                  </a:lnTo>
                  <a:lnTo>
                    <a:pt x="89015" y="0"/>
                  </a:lnTo>
                  <a:lnTo>
                    <a:pt x="267045" y="0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FFFFFF"/>
              </a:solidFill>
              <a:beve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064" dirty="0" smtClean="0">
                  <a:solidFill>
                    <a:srgbClr val="FFC332"/>
                  </a:solidFill>
                  <a:latin typeface="Arial"/>
                </a:rPr>
                <a:t>11</a:t>
              </a:r>
              <a:r>
                <a:rPr lang="zh-CN" altLang="en-US" sz="1064" dirty="0" smtClean="0">
                  <a:solidFill>
                    <a:srgbClr val="FFC332"/>
                  </a:solidFill>
                  <a:latin typeface="Arial"/>
                </a:rPr>
                <a:t>月</a:t>
              </a:r>
              <a:endParaRPr sz="1064" dirty="0">
                <a:solidFill>
                  <a:srgbClr val="FFC332"/>
                </a:solidFill>
                <a:latin typeface="Arial"/>
              </a:endParaRPr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6562427" y="2360300"/>
              <a:ext cx="464998" cy="402700"/>
            </a:xfrm>
            <a:custGeom>
              <a:avLst/>
              <a:gdLst/>
              <a:ahLst/>
              <a:cxnLst/>
              <a:rect l="0" t="0" r="0" b="0"/>
              <a:pathLst>
                <a:path w="464998" h="402700">
                  <a:moveTo>
                    <a:pt x="348748" y="0"/>
                  </a:moveTo>
                  <a:lnTo>
                    <a:pt x="464998" y="201350"/>
                  </a:lnTo>
                  <a:lnTo>
                    <a:pt x="348748" y="402700"/>
                  </a:lnTo>
                  <a:lnTo>
                    <a:pt x="116249" y="402700"/>
                  </a:lnTo>
                  <a:lnTo>
                    <a:pt x="0" y="201350"/>
                  </a:lnTo>
                  <a:lnTo>
                    <a:pt x="116249" y="0"/>
                  </a:lnTo>
                  <a:lnTo>
                    <a:pt x="348748" y="0"/>
                  </a:lnTo>
                  <a:close/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35" name="任意多边形 34"/>
            <p:cNvSpPr/>
            <p:nvPr/>
          </p:nvSpPr>
          <p:spPr>
            <a:xfrm>
              <a:off x="6616896" y="2407472"/>
              <a:ext cx="356060" cy="308357"/>
            </a:xfrm>
            <a:custGeom>
              <a:avLst/>
              <a:gdLst/>
              <a:ahLst/>
              <a:cxnLst/>
              <a:rect l="l" t="t" r="r" b="b"/>
              <a:pathLst>
                <a:path w="356060" h="308357">
                  <a:moveTo>
                    <a:pt x="267045" y="0"/>
                  </a:moveTo>
                  <a:lnTo>
                    <a:pt x="356060" y="154178"/>
                  </a:lnTo>
                  <a:lnTo>
                    <a:pt x="267045" y="308357"/>
                  </a:lnTo>
                  <a:lnTo>
                    <a:pt x="89015" y="308357"/>
                  </a:lnTo>
                  <a:lnTo>
                    <a:pt x="0" y="154178"/>
                  </a:lnTo>
                  <a:lnTo>
                    <a:pt x="89015" y="0"/>
                  </a:lnTo>
                  <a:lnTo>
                    <a:pt x="267045" y="0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FFFFFF"/>
              </a:solidFill>
              <a:beve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064" dirty="0" smtClean="0">
                  <a:solidFill>
                    <a:srgbClr val="FFC332"/>
                  </a:solidFill>
                  <a:latin typeface="Arial"/>
                </a:rPr>
                <a:t>12</a:t>
              </a:r>
              <a:r>
                <a:rPr lang="zh-CN" altLang="en-US" sz="1064" dirty="0" smtClean="0">
                  <a:solidFill>
                    <a:srgbClr val="FFC332"/>
                  </a:solidFill>
                  <a:latin typeface="Arial"/>
                </a:rPr>
                <a:t>月</a:t>
              </a:r>
              <a:endParaRPr sz="1064" dirty="0">
                <a:solidFill>
                  <a:srgbClr val="FFC332"/>
                </a:solidFill>
                <a:latin typeface="Arial"/>
              </a:endParaRPr>
            </a:p>
          </p:txBody>
        </p:sp>
        <p:sp>
          <p:nvSpPr>
            <p:cNvPr id="36" name="任意多边形 35"/>
            <p:cNvSpPr/>
            <p:nvPr/>
          </p:nvSpPr>
          <p:spPr>
            <a:xfrm flipH="1" flipV="1">
              <a:off x="2231097" y="2312750"/>
              <a:ext cx="1345200" cy="497800"/>
            </a:xfrm>
            <a:custGeom>
              <a:avLst/>
              <a:gdLst/>
              <a:ahLst/>
              <a:cxnLst/>
              <a:rect l="0" t="0" r="0" b="0"/>
              <a:pathLst>
                <a:path w="1345200" h="497800" fill="none">
                  <a:moveTo>
                    <a:pt x="1345200" y="497800"/>
                  </a:moveTo>
                  <a:lnTo>
                    <a:pt x="1092500" y="497800"/>
                  </a:lnTo>
                  <a:lnTo>
                    <a:pt x="946200" y="248900"/>
                  </a:lnTo>
                  <a:lnTo>
                    <a:pt x="397025" y="248900"/>
                  </a:lnTo>
                  <a:lnTo>
                    <a:pt x="252700" y="0"/>
                  </a:lnTo>
                  <a:lnTo>
                    <a:pt x="0" y="0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37" name="任意多边形 36"/>
            <p:cNvSpPr/>
            <p:nvPr/>
          </p:nvSpPr>
          <p:spPr>
            <a:xfrm flipH="1" flipV="1">
              <a:off x="3340697" y="2312750"/>
              <a:ext cx="1345200" cy="497800"/>
            </a:xfrm>
            <a:custGeom>
              <a:avLst/>
              <a:gdLst/>
              <a:ahLst/>
              <a:cxnLst/>
              <a:rect l="0" t="0" r="0" b="0"/>
              <a:pathLst>
                <a:path w="1345200" h="497800" fill="none">
                  <a:moveTo>
                    <a:pt x="1345200" y="497800"/>
                  </a:moveTo>
                  <a:lnTo>
                    <a:pt x="1092500" y="497800"/>
                  </a:lnTo>
                  <a:lnTo>
                    <a:pt x="946200" y="248900"/>
                  </a:lnTo>
                  <a:lnTo>
                    <a:pt x="397025" y="248900"/>
                  </a:lnTo>
                  <a:lnTo>
                    <a:pt x="252700" y="0"/>
                  </a:lnTo>
                  <a:lnTo>
                    <a:pt x="0" y="0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38" name="任意多边形 37"/>
            <p:cNvSpPr/>
            <p:nvPr/>
          </p:nvSpPr>
          <p:spPr>
            <a:xfrm flipH="1" flipV="1">
              <a:off x="4454097" y="2312750"/>
              <a:ext cx="1345200" cy="497800"/>
            </a:xfrm>
            <a:custGeom>
              <a:avLst/>
              <a:gdLst/>
              <a:ahLst/>
              <a:cxnLst/>
              <a:rect l="0" t="0" r="0" b="0"/>
              <a:pathLst>
                <a:path w="1345200" h="497800" fill="none">
                  <a:moveTo>
                    <a:pt x="1345200" y="497800"/>
                  </a:moveTo>
                  <a:lnTo>
                    <a:pt x="1092500" y="497800"/>
                  </a:lnTo>
                  <a:lnTo>
                    <a:pt x="946200" y="248900"/>
                  </a:lnTo>
                  <a:lnTo>
                    <a:pt x="397025" y="248900"/>
                  </a:lnTo>
                  <a:lnTo>
                    <a:pt x="252700" y="0"/>
                  </a:lnTo>
                  <a:lnTo>
                    <a:pt x="0" y="0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39" name="任意多边形 38"/>
            <p:cNvSpPr/>
            <p:nvPr/>
          </p:nvSpPr>
          <p:spPr>
            <a:xfrm flipH="1" flipV="1">
              <a:off x="5563697" y="2312750"/>
              <a:ext cx="1345200" cy="497800"/>
            </a:xfrm>
            <a:custGeom>
              <a:avLst/>
              <a:gdLst/>
              <a:ahLst/>
              <a:cxnLst/>
              <a:rect l="0" t="0" r="0" b="0"/>
              <a:pathLst>
                <a:path w="1345200" h="497800" fill="none">
                  <a:moveTo>
                    <a:pt x="1345200" y="497800"/>
                  </a:moveTo>
                  <a:lnTo>
                    <a:pt x="1092500" y="497800"/>
                  </a:lnTo>
                  <a:lnTo>
                    <a:pt x="946200" y="248900"/>
                  </a:lnTo>
                  <a:lnTo>
                    <a:pt x="397025" y="248900"/>
                  </a:lnTo>
                  <a:lnTo>
                    <a:pt x="252700" y="0"/>
                  </a:lnTo>
                  <a:lnTo>
                    <a:pt x="0" y="0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40" name="Text 465"/>
            <p:cNvSpPr txBox="1"/>
            <p:nvPr/>
          </p:nvSpPr>
          <p:spPr>
            <a:xfrm>
              <a:off x="1452303" y="2312750"/>
              <a:ext cx="668389" cy="288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608">
                  <a:solidFill>
                    <a:srgbClr val="454545"/>
                  </a:solidFill>
                  <a:latin typeface="Arial"/>
                </a:rPr>
                <a:t> </a:t>
              </a:r>
            </a:p>
          </p:txBody>
        </p:sp>
        <p:sp>
          <p:nvSpPr>
            <p:cNvPr id="41" name="Text 466"/>
            <p:cNvSpPr txBox="1"/>
            <p:nvPr/>
          </p:nvSpPr>
          <p:spPr>
            <a:xfrm>
              <a:off x="1366561" y="3712901"/>
              <a:ext cx="839872" cy="69897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just">
                <a:lnSpc>
                  <a:spcPct val="100000"/>
                </a:lnSpc>
              </a:pPr>
              <a:r>
                <a:rPr sz="1200" dirty="0">
                  <a:solidFill>
                    <a:srgbClr val="454545"/>
                  </a:solidFill>
                  <a:latin typeface="Arial"/>
                </a:rPr>
                <a:t>1</a:t>
              </a:r>
              <a:r>
                <a:rPr sz="1200" dirty="0" smtClean="0">
                  <a:solidFill>
                    <a:srgbClr val="454545"/>
                  </a:solidFill>
                  <a:latin typeface="Arial"/>
                </a:rPr>
                <a:t>.适应公司环境</a:t>
              </a:r>
              <a:r>
                <a:rPr sz="1200" dirty="0">
                  <a:solidFill>
                    <a:srgbClr val="454545"/>
                  </a:solidFill>
                  <a:latin typeface="Arial"/>
                </a:rPr>
                <a:t>、</a:t>
              </a:r>
              <a:r>
                <a:rPr sz="1200" dirty="0" smtClean="0">
                  <a:solidFill>
                    <a:srgbClr val="454545"/>
                  </a:solidFill>
                  <a:latin typeface="Arial"/>
                </a:rPr>
                <a:t>熟悉团队成员</a:t>
              </a:r>
              <a:endParaRPr lang="en-US" sz="1200" dirty="0" smtClean="0">
                <a:solidFill>
                  <a:srgbClr val="454545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endParaRPr sz="1200" dirty="0">
                <a:solidFill>
                  <a:srgbClr val="454545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r>
                <a:rPr sz="1200" dirty="0">
                  <a:solidFill>
                    <a:srgbClr val="454545"/>
                  </a:solidFill>
                  <a:latin typeface="Arial"/>
                </a:rPr>
                <a:t>2.CRM营销系统建设</a:t>
              </a:r>
            </a:p>
          </p:txBody>
        </p:sp>
        <p:sp>
          <p:nvSpPr>
            <p:cNvPr id="42" name="Text 467"/>
            <p:cNvSpPr txBox="1"/>
            <p:nvPr/>
          </p:nvSpPr>
          <p:spPr>
            <a:xfrm>
              <a:off x="2569503" y="2312750"/>
              <a:ext cx="668389" cy="288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608">
                  <a:solidFill>
                    <a:srgbClr val="454545"/>
                  </a:solidFill>
                  <a:latin typeface="Arial"/>
                </a:rPr>
                <a:t> </a:t>
              </a:r>
            </a:p>
          </p:txBody>
        </p:sp>
        <p:sp>
          <p:nvSpPr>
            <p:cNvPr id="43" name="Text 468"/>
            <p:cNvSpPr txBox="1"/>
            <p:nvPr/>
          </p:nvSpPr>
          <p:spPr>
            <a:xfrm>
              <a:off x="3679103" y="2312750"/>
              <a:ext cx="668389" cy="288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608">
                  <a:solidFill>
                    <a:srgbClr val="454545"/>
                  </a:solidFill>
                  <a:latin typeface="Arial"/>
                </a:rPr>
                <a:t> </a:t>
              </a:r>
            </a:p>
          </p:txBody>
        </p:sp>
        <p:sp>
          <p:nvSpPr>
            <p:cNvPr id="44" name="Text 469"/>
            <p:cNvSpPr txBox="1"/>
            <p:nvPr/>
          </p:nvSpPr>
          <p:spPr>
            <a:xfrm>
              <a:off x="4792503" y="2312750"/>
              <a:ext cx="668389" cy="288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608">
                  <a:solidFill>
                    <a:srgbClr val="454545"/>
                  </a:solidFill>
                  <a:latin typeface="Arial"/>
                </a:rPr>
                <a:t> </a:t>
              </a:r>
            </a:p>
          </p:txBody>
        </p:sp>
        <p:sp>
          <p:nvSpPr>
            <p:cNvPr id="45" name="Text 470"/>
            <p:cNvSpPr txBox="1"/>
            <p:nvPr/>
          </p:nvSpPr>
          <p:spPr>
            <a:xfrm>
              <a:off x="5906108" y="2312750"/>
              <a:ext cx="668389" cy="288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608">
                  <a:solidFill>
                    <a:srgbClr val="454545"/>
                  </a:solidFill>
                  <a:latin typeface="Arial"/>
                </a:rPr>
                <a:t> </a:t>
              </a: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1782697" y="2561968"/>
              <a:ext cx="7600" cy="1033282"/>
            </a:xfrm>
            <a:custGeom>
              <a:avLst/>
              <a:gdLst/>
              <a:ahLst/>
              <a:cxnLst/>
              <a:rect l="0" t="0" r="0" b="0"/>
              <a:pathLst>
                <a:path w="7600" h="1033282" fill="none">
                  <a:moveTo>
                    <a:pt x="0" y="0"/>
                  </a:moveTo>
                  <a:lnTo>
                    <a:pt x="0" y="1033282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47" name="任意多边形 46"/>
            <p:cNvSpPr/>
            <p:nvPr/>
          </p:nvSpPr>
          <p:spPr>
            <a:xfrm>
              <a:off x="2899897" y="2561968"/>
              <a:ext cx="7600" cy="1033282"/>
            </a:xfrm>
            <a:custGeom>
              <a:avLst/>
              <a:gdLst/>
              <a:ahLst/>
              <a:cxnLst/>
              <a:rect l="0" t="0" r="0" b="0"/>
              <a:pathLst>
                <a:path w="7600" h="1033282" fill="none">
                  <a:moveTo>
                    <a:pt x="0" y="0"/>
                  </a:moveTo>
                  <a:lnTo>
                    <a:pt x="0" y="1033282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48" name="任意多边形 47"/>
            <p:cNvSpPr/>
            <p:nvPr/>
          </p:nvSpPr>
          <p:spPr>
            <a:xfrm>
              <a:off x="4009497" y="2561968"/>
              <a:ext cx="7600" cy="1033282"/>
            </a:xfrm>
            <a:custGeom>
              <a:avLst/>
              <a:gdLst/>
              <a:ahLst/>
              <a:cxnLst/>
              <a:rect l="0" t="0" r="0" b="0"/>
              <a:pathLst>
                <a:path w="7600" h="1033282" fill="none">
                  <a:moveTo>
                    <a:pt x="0" y="0"/>
                  </a:moveTo>
                  <a:lnTo>
                    <a:pt x="0" y="1033282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49" name="任意多边形 48"/>
            <p:cNvSpPr/>
            <p:nvPr/>
          </p:nvSpPr>
          <p:spPr>
            <a:xfrm>
              <a:off x="5122897" y="2561968"/>
              <a:ext cx="7600" cy="1033282"/>
            </a:xfrm>
            <a:custGeom>
              <a:avLst/>
              <a:gdLst/>
              <a:ahLst/>
              <a:cxnLst/>
              <a:rect l="0" t="0" r="0" b="0"/>
              <a:pathLst>
                <a:path w="7600" h="1033282" fill="none">
                  <a:moveTo>
                    <a:pt x="0" y="0"/>
                  </a:moveTo>
                  <a:lnTo>
                    <a:pt x="0" y="1033282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50" name="任意多边形 49"/>
            <p:cNvSpPr/>
            <p:nvPr/>
          </p:nvSpPr>
          <p:spPr>
            <a:xfrm>
              <a:off x="6236503" y="2561968"/>
              <a:ext cx="7600" cy="1033282"/>
            </a:xfrm>
            <a:custGeom>
              <a:avLst/>
              <a:gdLst/>
              <a:ahLst/>
              <a:cxnLst/>
              <a:rect l="0" t="0" r="0" b="0"/>
              <a:pathLst>
                <a:path w="7600" h="1033282" fill="none">
                  <a:moveTo>
                    <a:pt x="0" y="0"/>
                  </a:moveTo>
                  <a:lnTo>
                    <a:pt x="0" y="1033282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  <p:sp>
          <p:nvSpPr>
            <p:cNvPr id="52" name="Text 471"/>
            <p:cNvSpPr txBox="1"/>
            <p:nvPr/>
          </p:nvSpPr>
          <p:spPr>
            <a:xfrm>
              <a:off x="2483761" y="3712901"/>
              <a:ext cx="839872" cy="69897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just">
                <a:lnSpc>
                  <a:spcPct val="100000"/>
                </a:lnSpc>
              </a:pPr>
              <a:r>
                <a:rPr sz="1200" dirty="0">
                  <a:solidFill>
                    <a:srgbClr val="454545"/>
                  </a:solidFill>
                  <a:latin typeface="Arial"/>
                </a:rPr>
                <a:t>1.底层业务流水表的50种操作类型梳理及归类： </a:t>
              </a:r>
              <a:r>
                <a:rPr sz="1200" dirty="0" err="1">
                  <a:solidFill>
                    <a:srgbClr val="454545"/>
                  </a:solidFill>
                  <a:latin typeface="Arial"/>
                </a:rPr>
                <a:t>finance_log_all</a:t>
              </a:r>
              <a:endParaRPr sz="1200" dirty="0">
                <a:solidFill>
                  <a:srgbClr val="454545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endParaRPr sz="608" dirty="0">
                <a:solidFill>
                  <a:srgbClr val="454545"/>
                </a:solidFill>
                <a:latin typeface="Arial"/>
              </a:endParaRPr>
            </a:p>
          </p:txBody>
        </p:sp>
        <p:sp>
          <p:nvSpPr>
            <p:cNvPr id="53" name="Text 472"/>
            <p:cNvSpPr txBox="1"/>
            <p:nvPr/>
          </p:nvSpPr>
          <p:spPr>
            <a:xfrm>
              <a:off x="3593361" y="3712901"/>
              <a:ext cx="839872" cy="69897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just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454545"/>
                  </a:solidFill>
                  <a:latin typeface="Arial"/>
                </a:rPr>
                <a:t>1</a:t>
              </a:r>
              <a:r>
                <a:rPr lang="en-US" altLang="zh-CN" sz="1200" dirty="0" smtClean="0">
                  <a:solidFill>
                    <a:srgbClr val="454545"/>
                  </a:solidFill>
                  <a:latin typeface="Arial"/>
                </a:rPr>
                <a:t>.</a:t>
              </a:r>
              <a:r>
                <a:rPr lang="zh-CN" altLang="en-US" sz="1200" dirty="0" smtClean="0">
                  <a:solidFill>
                    <a:srgbClr val="454545"/>
                  </a:solidFill>
                  <a:latin typeface="Arial"/>
                </a:rPr>
                <a:t>数据平台</a:t>
              </a:r>
              <a:r>
                <a:rPr lang="en-US" altLang="zh-CN" sz="1200" dirty="0" smtClean="0">
                  <a:solidFill>
                    <a:srgbClr val="454545"/>
                  </a:solidFill>
                  <a:latin typeface="Arial"/>
                </a:rPr>
                <a:t>HUE</a:t>
              </a:r>
              <a:r>
                <a:rPr lang="zh-CN" altLang="en-US" sz="1200" dirty="0" smtClean="0">
                  <a:solidFill>
                    <a:srgbClr val="454545"/>
                  </a:solidFill>
                  <a:latin typeface="Arial"/>
                </a:rPr>
                <a:t>权限实施管控制度</a:t>
              </a:r>
              <a:endParaRPr lang="en-US" altLang="zh-CN" sz="1200" dirty="0" smtClean="0">
                <a:solidFill>
                  <a:srgbClr val="454545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endParaRPr lang="en-US" altLang="zh-CN" sz="1200" dirty="0" smtClean="0">
                <a:solidFill>
                  <a:srgbClr val="454545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454545"/>
                  </a:solidFill>
                  <a:latin typeface="Arial"/>
                </a:rPr>
                <a:t>2</a:t>
              </a:r>
              <a:r>
                <a:rPr lang="en-US" altLang="zh-CN" sz="1200" dirty="0" smtClean="0">
                  <a:solidFill>
                    <a:srgbClr val="454545"/>
                  </a:solidFill>
                  <a:latin typeface="Arial"/>
                </a:rPr>
                <a:t>.</a:t>
              </a:r>
              <a:r>
                <a:rPr lang="zh-CN" altLang="en-US" sz="1200" dirty="0" smtClean="0">
                  <a:solidFill>
                    <a:srgbClr val="454545"/>
                  </a:solidFill>
                  <a:latin typeface="Arial"/>
                </a:rPr>
                <a:t>咨询费用加入日常批量作业</a:t>
              </a:r>
              <a:endParaRPr sz="1200" dirty="0">
                <a:solidFill>
                  <a:srgbClr val="454545"/>
                </a:solidFill>
                <a:latin typeface="Arial"/>
              </a:endParaRPr>
            </a:p>
          </p:txBody>
        </p:sp>
        <p:sp>
          <p:nvSpPr>
            <p:cNvPr id="54" name="Text 473"/>
            <p:cNvSpPr txBox="1"/>
            <p:nvPr/>
          </p:nvSpPr>
          <p:spPr>
            <a:xfrm>
              <a:off x="4706761" y="3712901"/>
              <a:ext cx="839872" cy="69897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just">
                <a:lnSpc>
                  <a:spcPct val="100000"/>
                </a:lnSpc>
              </a:pPr>
              <a:r>
                <a:rPr lang="en-US" altLang="zh-CN" sz="1200" dirty="0" smtClean="0">
                  <a:solidFill>
                    <a:srgbClr val="454545"/>
                  </a:solidFill>
                  <a:latin typeface="Arial"/>
                </a:rPr>
                <a:t>1.</a:t>
              </a:r>
              <a:r>
                <a:rPr lang="zh-CN" altLang="en-US" sz="1200" dirty="0" smtClean="0">
                  <a:solidFill>
                    <a:srgbClr val="454545"/>
                  </a:solidFill>
                  <a:latin typeface="Arial"/>
                </a:rPr>
                <a:t>支持公司监管备案取数需求</a:t>
              </a:r>
              <a:endParaRPr sz="1200" dirty="0">
                <a:solidFill>
                  <a:srgbClr val="454545"/>
                </a:solidFill>
                <a:latin typeface="Arial"/>
              </a:endParaRPr>
            </a:p>
          </p:txBody>
        </p:sp>
        <p:sp>
          <p:nvSpPr>
            <p:cNvPr id="55" name="Text 474"/>
            <p:cNvSpPr txBox="1"/>
            <p:nvPr/>
          </p:nvSpPr>
          <p:spPr>
            <a:xfrm>
              <a:off x="5820366" y="3712901"/>
              <a:ext cx="839872" cy="69897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algn="just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454545"/>
                  </a:solidFill>
                  <a:latin typeface="Arial"/>
                </a:rPr>
                <a:t>1</a:t>
              </a:r>
              <a:r>
                <a:rPr lang="en-US" altLang="zh-CN" sz="1200" dirty="0" smtClean="0">
                  <a:solidFill>
                    <a:srgbClr val="454545"/>
                  </a:solidFill>
                  <a:latin typeface="Arial"/>
                </a:rPr>
                <a:t>.</a:t>
              </a:r>
              <a:r>
                <a:rPr lang="zh-CN" altLang="en-US" sz="1200" dirty="0" smtClean="0">
                  <a:solidFill>
                    <a:srgbClr val="454545"/>
                  </a:solidFill>
                  <a:latin typeface="Arial"/>
                </a:rPr>
                <a:t>风控指标体系化项目</a:t>
              </a:r>
              <a:endParaRPr lang="en-US" altLang="zh-CN" sz="1200" dirty="0" smtClean="0">
                <a:solidFill>
                  <a:srgbClr val="454545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endParaRPr lang="en-US" sz="1200" dirty="0">
                <a:solidFill>
                  <a:srgbClr val="454545"/>
                </a:solidFill>
                <a:latin typeface="Arial"/>
              </a:endParaRPr>
            </a:p>
            <a:p>
              <a:pPr algn="just">
                <a:lnSpc>
                  <a:spcPct val="100000"/>
                </a:lnSpc>
              </a:pPr>
              <a:r>
                <a:rPr lang="en-US" sz="1200" dirty="0" smtClean="0">
                  <a:solidFill>
                    <a:srgbClr val="454545"/>
                  </a:solidFill>
                  <a:latin typeface="Arial"/>
                </a:rPr>
                <a:t>2</a:t>
              </a:r>
              <a:r>
                <a:rPr lang="en-US" altLang="zh-CN" sz="1200" dirty="0" smtClean="0">
                  <a:solidFill>
                    <a:srgbClr val="454545"/>
                  </a:solidFill>
                  <a:latin typeface="Arial"/>
                </a:rPr>
                <a:t>.</a:t>
              </a:r>
              <a:r>
                <a:rPr lang="zh-CN" altLang="en-US" sz="1200" dirty="0" smtClean="0">
                  <a:solidFill>
                    <a:srgbClr val="454545"/>
                  </a:solidFill>
                  <a:latin typeface="Arial"/>
                </a:rPr>
                <a:t>麦子多维分析平台上线</a:t>
              </a:r>
              <a:endParaRPr sz="1200" dirty="0">
                <a:solidFill>
                  <a:srgbClr val="454545"/>
                </a:solidFill>
                <a:latin typeface="Arial"/>
              </a:endParaRPr>
            </a:p>
          </p:txBody>
        </p:sp>
        <p:sp>
          <p:nvSpPr>
            <p:cNvPr id="57" name="Text 476"/>
            <p:cNvSpPr txBox="1"/>
            <p:nvPr/>
          </p:nvSpPr>
          <p:spPr>
            <a:xfrm>
              <a:off x="7105858" y="3782927"/>
              <a:ext cx="668389" cy="2888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608">
                  <a:solidFill>
                    <a:srgbClr val="454545"/>
                  </a:solidFill>
                  <a:latin typeface="Arial"/>
                </a:rPr>
                <a:t> </a:t>
              </a:r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1514797" y="2558613"/>
              <a:ext cx="948175" cy="248900"/>
            </a:xfrm>
            <a:custGeom>
              <a:avLst/>
              <a:gdLst/>
              <a:ahLst/>
              <a:cxnLst/>
              <a:rect l="0" t="0" r="0" b="0"/>
              <a:pathLst>
                <a:path w="948175" h="248900" fill="none">
                  <a:moveTo>
                    <a:pt x="948175" y="248900"/>
                  </a:moveTo>
                  <a:lnTo>
                    <a:pt x="695475" y="248900"/>
                  </a:lnTo>
                  <a:lnTo>
                    <a:pt x="549175" y="0"/>
                  </a:lnTo>
                  <a:lnTo>
                    <a:pt x="0" y="0"/>
                  </a:lnTo>
                </a:path>
              </a:pathLst>
            </a:custGeom>
            <a:solidFill>
              <a:srgbClr val="FFC332"/>
            </a:solidFill>
            <a:ln w="7600" cap="flat">
              <a:solidFill>
                <a:srgbClr val="FFC332"/>
              </a:solidFill>
              <a:bevel/>
            </a:ln>
          </p:spPr>
        </p:sp>
      </p:grpSp>
      <p:sp>
        <p:nvSpPr>
          <p:cNvPr id="67" name="右箭头标注 66"/>
          <p:cNvSpPr/>
          <p:nvPr/>
        </p:nvSpPr>
        <p:spPr bwMode="auto">
          <a:xfrm>
            <a:off x="792368" y="3212598"/>
            <a:ext cx="917946" cy="697187"/>
          </a:xfrm>
          <a:prstGeom prst="rightArrowCallou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</a:p>
        </p:txBody>
      </p:sp>
      <p:sp>
        <p:nvSpPr>
          <p:cNvPr id="69" name="任意多边形 68"/>
          <p:cNvSpPr/>
          <p:nvPr/>
        </p:nvSpPr>
        <p:spPr>
          <a:xfrm>
            <a:off x="2021483" y="4724652"/>
            <a:ext cx="1290321" cy="1185238"/>
          </a:xfrm>
          <a:custGeom>
            <a:avLst/>
            <a:gdLst/>
            <a:ahLst/>
            <a:cxnLst/>
            <a:rect l="0" t="0" r="0" b="0"/>
            <a:pathLst>
              <a:path w="894950" h="947045">
                <a:moveTo>
                  <a:pt x="0" y="0"/>
                </a:moveTo>
                <a:lnTo>
                  <a:pt x="894950" y="0"/>
                </a:lnTo>
                <a:lnTo>
                  <a:pt x="894950" y="947045"/>
                </a:lnTo>
                <a:lnTo>
                  <a:pt x="0" y="947045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rgbClr val="FFC332"/>
            </a:solidFill>
            <a:bevel/>
          </a:ln>
        </p:spPr>
      </p:sp>
      <p:sp>
        <p:nvSpPr>
          <p:cNvPr id="70" name="任意多边形 69"/>
          <p:cNvSpPr/>
          <p:nvPr/>
        </p:nvSpPr>
        <p:spPr>
          <a:xfrm>
            <a:off x="2626402" y="4080600"/>
            <a:ext cx="45719" cy="640354"/>
          </a:xfrm>
          <a:custGeom>
            <a:avLst/>
            <a:gdLst/>
            <a:ahLst/>
            <a:cxnLst/>
            <a:rect l="0" t="0" r="0" b="0"/>
            <a:pathLst>
              <a:path w="7600" h="1033282" fill="none">
                <a:moveTo>
                  <a:pt x="0" y="0"/>
                </a:moveTo>
                <a:lnTo>
                  <a:pt x="0" y="1033282"/>
                </a:lnTo>
              </a:path>
            </a:pathLst>
          </a:custGeom>
          <a:solidFill>
            <a:srgbClr val="FFC332"/>
          </a:solidFill>
          <a:ln w="7600" cap="flat">
            <a:solidFill>
              <a:srgbClr val="FFC332"/>
            </a:solidFill>
            <a:bevel/>
          </a:ln>
        </p:spPr>
      </p:sp>
      <p:sp>
        <p:nvSpPr>
          <p:cNvPr id="71" name="任意多边形 70"/>
          <p:cNvSpPr/>
          <p:nvPr/>
        </p:nvSpPr>
        <p:spPr>
          <a:xfrm>
            <a:off x="3629613" y="4715118"/>
            <a:ext cx="1290321" cy="1185238"/>
          </a:xfrm>
          <a:custGeom>
            <a:avLst/>
            <a:gdLst/>
            <a:ahLst/>
            <a:cxnLst/>
            <a:rect l="0" t="0" r="0" b="0"/>
            <a:pathLst>
              <a:path w="894950" h="947045">
                <a:moveTo>
                  <a:pt x="0" y="0"/>
                </a:moveTo>
                <a:lnTo>
                  <a:pt x="894950" y="0"/>
                </a:lnTo>
                <a:lnTo>
                  <a:pt x="894950" y="947045"/>
                </a:lnTo>
                <a:lnTo>
                  <a:pt x="0" y="947045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rgbClr val="FFC332"/>
            </a:solidFill>
            <a:bevel/>
          </a:ln>
        </p:spPr>
      </p:sp>
      <p:sp>
        <p:nvSpPr>
          <p:cNvPr id="72" name="任意多边形 71"/>
          <p:cNvSpPr/>
          <p:nvPr/>
        </p:nvSpPr>
        <p:spPr>
          <a:xfrm>
            <a:off x="4234532" y="4071066"/>
            <a:ext cx="45719" cy="640354"/>
          </a:xfrm>
          <a:custGeom>
            <a:avLst/>
            <a:gdLst/>
            <a:ahLst/>
            <a:cxnLst/>
            <a:rect l="0" t="0" r="0" b="0"/>
            <a:pathLst>
              <a:path w="7600" h="1033282" fill="none">
                <a:moveTo>
                  <a:pt x="0" y="0"/>
                </a:moveTo>
                <a:lnTo>
                  <a:pt x="0" y="1033282"/>
                </a:lnTo>
              </a:path>
            </a:pathLst>
          </a:custGeom>
          <a:solidFill>
            <a:srgbClr val="FFC332"/>
          </a:solidFill>
          <a:ln w="7600" cap="flat">
            <a:solidFill>
              <a:srgbClr val="FFC332"/>
            </a:solidFill>
            <a:bevel/>
          </a:ln>
        </p:spPr>
      </p:sp>
      <p:sp>
        <p:nvSpPr>
          <p:cNvPr id="73" name="任意多边形 72"/>
          <p:cNvSpPr/>
          <p:nvPr/>
        </p:nvSpPr>
        <p:spPr>
          <a:xfrm>
            <a:off x="5232262" y="4724652"/>
            <a:ext cx="1290321" cy="1185238"/>
          </a:xfrm>
          <a:custGeom>
            <a:avLst/>
            <a:gdLst/>
            <a:ahLst/>
            <a:cxnLst/>
            <a:rect l="0" t="0" r="0" b="0"/>
            <a:pathLst>
              <a:path w="894950" h="947045">
                <a:moveTo>
                  <a:pt x="0" y="0"/>
                </a:moveTo>
                <a:lnTo>
                  <a:pt x="894950" y="0"/>
                </a:lnTo>
                <a:lnTo>
                  <a:pt x="894950" y="947045"/>
                </a:lnTo>
                <a:lnTo>
                  <a:pt x="0" y="947045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rgbClr val="FFC332"/>
            </a:solidFill>
            <a:bevel/>
          </a:ln>
        </p:spPr>
      </p:sp>
      <p:sp>
        <p:nvSpPr>
          <p:cNvPr id="74" name="任意多边形 73"/>
          <p:cNvSpPr/>
          <p:nvPr/>
        </p:nvSpPr>
        <p:spPr>
          <a:xfrm>
            <a:off x="5837181" y="4080600"/>
            <a:ext cx="45719" cy="640354"/>
          </a:xfrm>
          <a:custGeom>
            <a:avLst/>
            <a:gdLst/>
            <a:ahLst/>
            <a:cxnLst/>
            <a:rect l="0" t="0" r="0" b="0"/>
            <a:pathLst>
              <a:path w="7600" h="1033282" fill="none">
                <a:moveTo>
                  <a:pt x="0" y="0"/>
                </a:moveTo>
                <a:lnTo>
                  <a:pt x="0" y="1033282"/>
                </a:lnTo>
              </a:path>
            </a:pathLst>
          </a:custGeom>
          <a:solidFill>
            <a:srgbClr val="FFC332"/>
          </a:solidFill>
          <a:ln w="7600" cap="flat">
            <a:solidFill>
              <a:srgbClr val="FFC332"/>
            </a:solidFill>
            <a:bevel/>
          </a:ln>
        </p:spPr>
      </p:sp>
      <p:sp>
        <p:nvSpPr>
          <p:cNvPr id="75" name="任意多边形 74"/>
          <p:cNvSpPr/>
          <p:nvPr/>
        </p:nvSpPr>
        <p:spPr>
          <a:xfrm>
            <a:off x="6812179" y="4724652"/>
            <a:ext cx="1290321" cy="1185238"/>
          </a:xfrm>
          <a:custGeom>
            <a:avLst/>
            <a:gdLst/>
            <a:ahLst/>
            <a:cxnLst/>
            <a:rect l="0" t="0" r="0" b="0"/>
            <a:pathLst>
              <a:path w="894950" h="947045">
                <a:moveTo>
                  <a:pt x="0" y="0"/>
                </a:moveTo>
                <a:lnTo>
                  <a:pt x="894950" y="0"/>
                </a:lnTo>
                <a:lnTo>
                  <a:pt x="894950" y="947045"/>
                </a:lnTo>
                <a:lnTo>
                  <a:pt x="0" y="947045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rgbClr val="FFC332"/>
            </a:solidFill>
            <a:bevel/>
          </a:ln>
        </p:spPr>
      </p:sp>
      <p:sp>
        <p:nvSpPr>
          <p:cNvPr id="76" name="任意多边形 75"/>
          <p:cNvSpPr/>
          <p:nvPr/>
        </p:nvSpPr>
        <p:spPr>
          <a:xfrm>
            <a:off x="7417098" y="4080600"/>
            <a:ext cx="45719" cy="640354"/>
          </a:xfrm>
          <a:custGeom>
            <a:avLst/>
            <a:gdLst/>
            <a:ahLst/>
            <a:cxnLst/>
            <a:rect l="0" t="0" r="0" b="0"/>
            <a:pathLst>
              <a:path w="7600" h="1033282" fill="none">
                <a:moveTo>
                  <a:pt x="0" y="0"/>
                </a:moveTo>
                <a:lnTo>
                  <a:pt x="0" y="1033282"/>
                </a:lnTo>
              </a:path>
            </a:pathLst>
          </a:custGeom>
          <a:solidFill>
            <a:srgbClr val="FFC332"/>
          </a:solidFill>
          <a:ln w="7600" cap="flat">
            <a:solidFill>
              <a:srgbClr val="FFC332"/>
            </a:solidFill>
            <a:bevel/>
          </a:ln>
        </p:spPr>
      </p:sp>
      <p:sp>
        <p:nvSpPr>
          <p:cNvPr id="77" name="任意多边形 76"/>
          <p:cNvSpPr/>
          <p:nvPr/>
        </p:nvSpPr>
        <p:spPr>
          <a:xfrm>
            <a:off x="8417457" y="4724652"/>
            <a:ext cx="1290321" cy="1185238"/>
          </a:xfrm>
          <a:custGeom>
            <a:avLst/>
            <a:gdLst/>
            <a:ahLst/>
            <a:cxnLst/>
            <a:rect l="0" t="0" r="0" b="0"/>
            <a:pathLst>
              <a:path w="894950" h="947045">
                <a:moveTo>
                  <a:pt x="0" y="0"/>
                </a:moveTo>
                <a:lnTo>
                  <a:pt x="894950" y="0"/>
                </a:lnTo>
                <a:lnTo>
                  <a:pt x="894950" y="947045"/>
                </a:lnTo>
                <a:lnTo>
                  <a:pt x="0" y="947045"/>
                </a:lnTo>
                <a:lnTo>
                  <a:pt x="0" y="0"/>
                </a:lnTo>
                <a:close/>
              </a:path>
            </a:pathLst>
          </a:custGeom>
          <a:noFill/>
          <a:ln w="7600" cap="flat">
            <a:solidFill>
              <a:srgbClr val="FFC332"/>
            </a:solidFill>
            <a:bevel/>
          </a:ln>
        </p:spPr>
      </p:sp>
      <p:sp>
        <p:nvSpPr>
          <p:cNvPr id="78" name="任意多边形 77"/>
          <p:cNvSpPr/>
          <p:nvPr/>
        </p:nvSpPr>
        <p:spPr>
          <a:xfrm>
            <a:off x="9022376" y="4080600"/>
            <a:ext cx="45719" cy="640354"/>
          </a:xfrm>
          <a:custGeom>
            <a:avLst/>
            <a:gdLst/>
            <a:ahLst/>
            <a:cxnLst/>
            <a:rect l="0" t="0" r="0" b="0"/>
            <a:pathLst>
              <a:path w="7600" h="1033282" fill="none">
                <a:moveTo>
                  <a:pt x="0" y="0"/>
                </a:moveTo>
                <a:lnTo>
                  <a:pt x="0" y="1033282"/>
                </a:lnTo>
              </a:path>
            </a:pathLst>
          </a:custGeom>
          <a:solidFill>
            <a:srgbClr val="FFC332"/>
          </a:solidFill>
          <a:ln w="7600" cap="flat">
            <a:solidFill>
              <a:srgbClr val="FFC332"/>
            </a:solidFill>
            <a:bevel/>
          </a:ln>
        </p:spPr>
      </p:sp>
      <p:sp>
        <p:nvSpPr>
          <p:cNvPr id="79" name="右箭头标注 78"/>
          <p:cNvSpPr/>
          <p:nvPr/>
        </p:nvSpPr>
        <p:spPr bwMode="auto">
          <a:xfrm>
            <a:off x="785728" y="4968677"/>
            <a:ext cx="917946" cy="697187"/>
          </a:xfrm>
          <a:prstGeom prst="rightArrowCallou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 466"/>
          <p:cNvSpPr txBox="1"/>
          <p:nvPr/>
        </p:nvSpPr>
        <p:spPr>
          <a:xfrm>
            <a:off x="2100893" y="4879880"/>
            <a:ext cx="1210911" cy="874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1200" dirty="0" smtClean="0">
                <a:solidFill>
                  <a:srgbClr val="454545"/>
                </a:solidFill>
                <a:latin typeface="Arial"/>
              </a:rPr>
              <a:t>提高对新环境的熟悉度，在最快的时间内能独立开展工作</a:t>
            </a:r>
            <a:endParaRPr sz="1200" dirty="0">
              <a:solidFill>
                <a:srgbClr val="454545"/>
              </a:solidFill>
              <a:latin typeface="Arial"/>
            </a:endParaRPr>
          </a:p>
        </p:txBody>
      </p:sp>
      <p:sp>
        <p:nvSpPr>
          <p:cNvPr id="81" name="Text 466"/>
          <p:cNvSpPr txBox="1"/>
          <p:nvPr/>
        </p:nvSpPr>
        <p:spPr>
          <a:xfrm>
            <a:off x="3685677" y="4888481"/>
            <a:ext cx="1210911" cy="874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1200" dirty="0" smtClean="0">
                <a:solidFill>
                  <a:srgbClr val="454545"/>
                </a:solidFill>
                <a:latin typeface="Arial"/>
              </a:rPr>
              <a:t>提升自我对公司业务系统、业务流程的熟悉度</a:t>
            </a:r>
            <a:endParaRPr sz="1200" dirty="0">
              <a:solidFill>
                <a:srgbClr val="454545"/>
              </a:solidFill>
              <a:latin typeface="Arial"/>
            </a:endParaRPr>
          </a:p>
        </p:txBody>
      </p:sp>
      <p:sp>
        <p:nvSpPr>
          <p:cNvPr id="82" name="Text 466"/>
          <p:cNvSpPr txBox="1"/>
          <p:nvPr/>
        </p:nvSpPr>
        <p:spPr>
          <a:xfrm>
            <a:off x="5303234" y="4879880"/>
            <a:ext cx="1210911" cy="874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1200" dirty="0">
                <a:solidFill>
                  <a:srgbClr val="454545"/>
                </a:solidFill>
              </a:rPr>
              <a:t>保护用户个人隐私，提升</a:t>
            </a:r>
            <a:r>
              <a:rPr lang="zh-CN" altLang="en-US" sz="1200" dirty="0" smtClean="0">
                <a:solidFill>
                  <a:srgbClr val="454545"/>
                </a:solidFill>
                <a:latin typeface="Arial"/>
              </a:rPr>
              <a:t>公司数据的安全性、合规性</a:t>
            </a:r>
            <a:endParaRPr sz="1200" dirty="0">
              <a:solidFill>
                <a:srgbClr val="454545"/>
              </a:solidFill>
              <a:latin typeface="Arial"/>
            </a:endParaRPr>
          </a:p>
        </p:txBody>
      </p:sp>
      <p:sp>
        <p:nvSpPr>
          <p:cNvPr id="83" name="Text 466"/>
          <p:cNvSpPr txBox="1"/>
          <p:nvPr/>
        </p:nvSpPr>
        <p:spPr>
          <a:xfrm>
            <a:off x="6885430" y="4879880"/>
            <a:ext cx="1210911" cy="874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zh-CN" altLang="en-US" sz="1200" dirty="0" smtClean="0">
                <a:solidFill>
                  <a:srgbClr val="454545"/>
                </a:solidFill>
                <a:latin typeface="Arial"/>
              </a:rPr>
              <a:t>紧跟公司的整体战略，支持公司完成监管检查</a:t>
            </a:r>
            <a:endParaRPr sz="1200" dirty="0">
              <a:solidFill>
                <a:srgbClr val="454545"/>
              </a:solidFill>
              <a:latin typeface="Arial"/>
            </a:endParaRPr>
          </a:p>
        </p:txBody>
      </p:sp>
      <p:sp>
        <p:nvSpPr>
          <p:cNvPr id="84" name="Text 466"/>
          <p:cNvSpPr txBox="1"/>
          <p:nvPr/>
        </p:nvSpPr>
        <p:spPr>
          <a:xfrm>
            <a:off x="8477553" y="4879880"/>
            <a:ext cx="1210911" cy="874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zh-CN" altLang="en-US" sz="1200" dirty="0">
                <a:solidFill>
                  <a:srgbClr val="454545"/>
                </a:solidFill>
              </a:rPr>
              <a:t>统一业务口径，提升数据分析工作的</a:t>
            </a:r>
            <a:r>
              <a:rPr lang="zh-CN" altLang="en-US" sz="1200" dirty="0" smtClean="0">
                <a:solidFill>
                  <a:srgbClr val="454545"/>
                </a:solidFill>
              </a:rPr>
              <a:t>效率；</a:t>
            </a:r>
            <a:r>
              <a:rPr lang="zh-CN" altLang="en-US" sz="1200" dirty="0" smtClean="0">
                <a:solidFill>
                  <a:srgbClr val="454545"/>
                </a:solidFill>
                <a:latin typeface="Arial"/>
              </a:rPr>
              <a:t>数据统计进入数据分析阶段。</a:t>
            </a:r>
            <a:endParaRPr sz="1200" dirty="0">
              <a:solidFill>
                <a:srgbClr val="454545"/>
              </a:solidFill>
              <a:latin typeface="Arial"/>
            </a:endParaRPr>
          </a:p>
        </p:txBody>
      </p:sp>
      <p:sp>
        <p:nvSpPr>
          <p:cNvPr id="85" name="右箭头 84"/>
          <p:cNvSpPr/>
          <p:nvPr/>
        </p:nvSpPr>
        <p:spPr bwMode="auto">
          <a:xfrm>
            <a:off x="2649261" y="6055584"/>
            <a:ext cx="6167080" cy="546100"/>
          </a:xfrm>
          <a:prstGeom prst="rightArrow">
            <a:avLst>
              <a:gd name="adj1" fmla="val 50000"/>
              <a:gd name="adj2" fmla="val 310465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763832" y="617474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 smtClean="0">
                <a:latin typeface="+mj-ea"/>
                <a:ea typeface="+mj-ea"/>
              </a:rPr>
              <a:t>个人目标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8816935" y="617474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 smtClean="0">
                <a:latin typeface="+mj-ea"/>
                <a:ea typeface="+mj-ea"/>
              </a:rPr>
              <a:t>团队目标</a:t>
            </a:r>
          </a:p>
        </p:txBody>
      </p:sp>
    </p:spTree>
    <p:extLst>
      <p:ext uri="{BB962C8B-B14F-4D97-AF65-F5344CB8AC3E}">
        <p14:creationId xmlns:p14="http://schemas.microsoft.com/office/powerpoint/2010/main" val="370428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79" grpId="0" animBg="1"/>
      <p:bldP spid="80" grpId="0"/>
      <p:bldP spid="81" grpId="0"/>
      <p:bldP spid="82" grpId="0"/>
      <p:bldP spid="83" grpId="0"/>
      <p:bldP spid="84" grpId="0"/>
      <p:bldP spid="85" grpId="0" animBg="1"/>
      <p:bldP spid="86" grpId="0"/>
      <p:bldP spid="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</p:spPr>
        <p:txBody>
          <a:bodyPr/>
          <a:lstStyle/>
          <a:p>
            <a:r>
              <a:rPr lang="en-US" altLang="zh-CN" dirty="0" smtClean="0"/>
              <a:t>2019</a:t>
            </a:r>
            <a:r>
              <a:rPr lang="zh-CN" altLang="en-US" dirty="0" smtClean="0"/>
              <a:t>年工作规划</a:t>
            </a:r>
            <a:endParaRPr lang="zh-CN" altLang="en-US" dirty="0"/>
          </a:p>
        </p:txBody>
      </p:sp>
      <p:grpSp>
        <p:nvGrpSpPr>
          <p:cNvPr id="5" name="Group483"/>
          <p:cNvGrpSpPr/>
          <p:nvPr/>
        </p:nvGrpSpPr>
        <p:grpSpPr>
          <a:xfrm>
            <a:off x="2189268" y="1099661"/>
            <a:ext cx="6675332" cy="5256638"/>
            <a:chOff x="3025213" y="1772200"/>
            <a:chExt cx="3671479" cy="3488400"/>
          </a:xfrm>
        </p:grpSpPr>
        <p:sp>
          <p:nvSpPr>
            <p:cNvPr id="6" name="MMConnector"/>
            <p:cNvSpPr/>
            <p:nvPr/>
          </p:nvSpPr>
          <p:spPr>
            <a:xfrm>
              <a:off x="3778038" y="2866600"/>
              <a:ext cx="691296" cy="801800"/>
            </a:xfrm>
            <a:custGeom>
              <a:avLst/>
              <a:gdLst/>
              <a:ahLst/>
              <a:cxnLst/>
              <a:rect l="0" t="0" r="0" b="0"/>
              <a:pathLst>
                <a:path w="691296" h="801800">
                  <a:moveTo>
                    <a:pt x="-146319" y="234037"/>
                  </a:moveTo>
                  <a:cubicBezTo>
                    <a:pt x="-150187" y="241277"/>
                    <a:pt x="-148227" y="248523"/>
                    <a:pt x="-142694" y="251472"/>
                  </a:cubicBezTo>
                  <a:cubicBezTo>
                    <a:pt x="-137161" y="254421"/>
                    <a:pt x="-129919" y="252079"/>
                    <a:pt x="-126199" y="244763"/>
                  </a:cubicBezTo>
                  <a:cubicBezTo>
                    <a:pt x="-118110" y="228856"/>
                    <a:pt x="-110022" y="212949"/>
                    <a:pt x="-102199" y="196936"/>
                  </a:cubicBezTo>
                  <a:cubicBezTo>
                    <a:pt x="-94377" y="180923"/>
                    <a:pt x="-86820" y="164804"/>
                    <a:pt x="-79380" y="148646"/>
                  </a:cubicBezTo>
                  <a:cubicBezTo>
                    <a:pt x="-71939" y="132488"/>
                    <a:pt x="-64614" y="116290"/>
                    <a:pt x="-57375" y="100067"/>
                  </a:cubicBezTo>
                  <a:cubicBezTo>
                    <a:pt x="-50136" y="83844"/>
                    <a:pt x="-42982" y="67596"/>
                    <a:pt x="-35857" y="51345"/>
                  </a:cubicBezTo>
                  <a:cubicBezTo>
                    <a:pt x="-28732" y="35094"/>
                    <a:pt x="-21635" y="18841"/>
                    <a:pt x="-14520" y="2605"/>
                  </a:cubicBezTo>
                  <a:cubicBezTo>
                    <a:pt x="-7405" y="-13630"/>
                    <a:pt x="-272" y="-29849"/>
                    <a:pt x="6928" y="-46030"/>
                  </a:cubicBezTo>
                  <a:cubicBezTo>
                    <a:pt x="14128" y="-62211"/>
                    <a:pt x="21395" y="-78355"/>
                    <a:pt x="28778" y="-94438"/>
                  </a:cubicBezTo>
                  <a:cubicBezTo>
                    <a:pt x="36161" y="-110521"/>
                    <a:pt x="43660" y="-126543"/>
                    <a:pt x="51327" y="-142478"/>
                  </a:cubicBezTo>
                  <a:cubicBezTo>
                    <a:pt x="58994" y="-158414"/>
                    <a:pt x="66828" y="-174261"/>
                    <a:pt x="74887" y="-189988"/>
                  </a:cubicBezTo>
                  <a:cubicBezTo>
                    <a:pt x="82945" y="-205715"/>
                    <a:pt x="91227" y="-221322"/>
                    <a:pt x="99793" y="-236765"/>
                  </a:cubicBezTo>
                  <a:cubicBezTo>
                    <a:pt x="108359" y="-252208"/>
                    <a:pt x="117210" y="-267487"/>
                    <a:pt x="126410" y="-282548"/>
                  </a:cubicBezTo>
                  <a:cubicBezTo>
                    <a:pt x="135611" y="-297609"/>
                    <a:pt x="145162" y="-312450"/>
                    <a:pt x="155134" y="-327000"/>
                  </a:cubicBezTo>
                  <a:cubicBezTo>
                    <a:pt x="165106" y="-341549"/>
                    <a:pt x="175499" y="-355806"/>
                    <a:pt x="186383" y="-369674"/>
                  </a:cubicBezTo>
                  <a:cubicBezTo>
                    <a:pt x="197268" y="-383543"/>
                    <a:pt x="208644" y="-397023"/>
                    <a:pt x="220578" y="-409993"/>
                  </a:cubicBezTo>
                  <a:cubicBezTo>
                    <a:pt x="232512" y="-422962"/>
                    <a:pt x="245004" y="-435421"/>
                    <a:pt x="258090" y="-447222"/>
                  </a:cubicBezTo>
                  <a:cubicBezTo>
                    <a:pt x="271175" y="-459023"/>
                    <a:pt x="284855" y="-470166"/>
                    <a:pt x="299152" y="-480492"/>
                  </a:cubicBezTo>
                  <a:cubicBezTo>
                    <a:pt x="313449" y="-490817"/>
                    <a:pt x="328364" y="-500325"/>
                    <a:pt x="343759" y="-508873"/>
                  </a:cubicBezTo>
                  <a:cubicBezTo>
                    <a:pt x="359155" y="-517422"/>
                    <a:pt x="375033" y="-525010"/>
                    <a:pt x="391575" y="-531544"/>
                  </a:cubicBezTo>
                  <a:cubicBezTo>
                    <a:pt x="408118" y="-538078"/>
                    <a:pt x="425324" y="-543558"/>
                    <a:pt x="441947" y="-547985"/>
                  </a:cubicBezTo>
                  <a:cubicBezTo>
                    <a:pt x="458569" y="-552411"/>
                    <a:pt x="474608" y="-555785"/>
                    <a:pt x="494036" y="-558112"/>
                  </a:cubicBezTo>
                  <a:cubicBezTo>
                    <a:pt x="513463" y="-560439"/>
                    <a:pt x="536280" y="-561718"/>
                    <a:pt x="547012" y="-562258"/>
                  </a:cubicBezTo>
                  <a:cubicBezTo>
                    <a:pt x="547012" y="-562258"/>
                    <a:pt x="547012" y="-562258"/>
                    <a:pt x="547012" y="-562258"/>
                  </a:cubicBezTo>
                  <a:cubicBezTo>
                    <a:pt x="547012" y="-562258"/>
                    <a:pt x="555038" y="-562400"/>
                    <a:pt x="555038" y="-562400"/>
                  </a:cubicBezTo>
                  <a:cubicBezTo>
                    <a:pt x="556398" y="-562572"/>
                    <a:pt x="557759" y="-562743"/>
                    <a:pt x="547010" y="-562421"/>
                  </a:cubicBezTo>
                  <a:cubicBezTo>
                    <a:pt x="536260" y="-562098"/>
                    <a:pt x="513400" y="-561281"/>
                    <a:pt x="493883" y="-559343"/>
                  </a:cubicBezTo>
                  <a:cubicBezTo>
                    <a:pt x="474367" y="-557405"/>
                    <a:pt x="458192" y="-554347"/>
                    <a:pt x="441390" y="-550235"/>
                  </a:cubicBezTo>
                  <a:cubicBezTo>
                    <a:pt x="424588" y="-546124"/>
                    <a:pt x="407157" y="-540960"/>
                    <a:pt x="390351" y="-534712"/>
                  </a:cubicBezTo>
                  <a:cubicBezTo>
                    <a:pt x="373544" y="-528464"/>
                    <a:pt x="357361" y="-521131"/>
                    <a:pt x="341631" y="-512810"/>
                  </a:cubicBezTo>
                  <a:cubicBezTo>
                    <a:pt x="325901" y="-504488"/>
                    <a:pt x="310624" y="-495179"/>
                    <a:pt x="295946" y="-485025"/>
                  </a:cubicBezTo>
                  <a:cubicBezTo>
                    <a:pt x="281268" y="-474870"/>
                    <a:pt x="267191" y="-463871"/>
                    <a:pt x="253700" y="-452192"/>
                  </a:cubicBezTo>
                  <a:cubicBezTo>
                    <a:pt x="240209" y="-440512"/>
                    <a:pt x="227306" y="-428154"/>
                    <a:pt x="214959" y="-415270"/>
                  </a:cubicBezTo>
                  <a:cubicBezTo>
                    <a:pt x="202613" y="-402386"/>
                    <a:pt x="190823" y="-388976"/>
                    <a:pt x="179527" y="-375169"/>
                  </a:cubicBezTo>
                  <a:cubicBezTo>
                    <a:pt x="168232" y="-361363"/>
                    <a:pt x="157430" y="-347159"/>
                    <a:pt x="147054" y="-332659"/>
                  </a:cubicBezTo>
                  <a:cubicBezTo>
                    <a:pt x="136678" y="-318159"/>
                    <a:pt x="126727" y="-303363"/>
                    <a:pt x="117131" y="-288347"/>
                  </a:cubicBezTo>
                  <a:cubicBezTo>
                    <a:pt x="107535" y="-273332"/>
                    <a:pt x="98294" y="-258097"/>
                    <a:pt x="89341" y="-242702"/>
                  </a:cubicBezTo>
                  <a:cubicBezTo>
                    <a:pt x="80389" y="-227307"/>
                    <a:pt x="71726" y="-211751"/>
                    <a:pt x="63291" y="-196079"/>
                  </a:cubicBezTo>
                  <a:cubicBezTo>
                    <a:pt x="54856" y="-180408"/>
                    <a:pt x="46649" y="-164621"/>
                    <a:pt x="38615" y="-148754"/>
                  </a:cubicBezTo>
                  <a:cubicBezTo>
                    <a:pt x="30582" y="-132887"/>
                    <a:pt x="22720" y="-116940"/>
                    <a:pt x="14980" y="-100942"/>
                  </a:cubicBezTo>
                  <a:cubicBezTo>
                    <a:pt x="7240" y="-84944"/>
                    <a:pt x="-379" y="-68896"/>
                    <a:pt x="-7925" y="-52821"/>
                  </a:cubicBezTo>
                  <a:cubicBezTo>
                    <a:pt x="-15472" y="-36747"/>
                    <a:pt x="-22946" y="-20646"/>
                    <a:pt x="-30395" y="-4544"/>
                  </a:cubicBezTo>
                  <a:cubicBezTo>
                    <a:pt x="-37844" y="11559"/>
                    <a:pt x="-45268" y="27664"/>
                    <a:pt x="-52712" y="43749"/>
                  </a:cubicBezTo>
                  <a:cubicBezTo>
                    <a:pt x="-60157" y="59834"/>
                    <a:pt x="-67622" y="75900"/>
                    <a:pt x="-75163" y="91917"/>
                  </a:cubicBezTo>
                  <a:cubicBezTo>
                    <a:pt x="-82703" y="107934"/>
                    <a:pt x="-90318" y="123903"/>
                    <a:pt x="-98037" y="139810"/>
                  </a:cubicBezTo>
                  <a:cubicBezTo>
                    <a:pt x="-105756" y="155716"/>
                    <a:pt x="-113580" y="171559"/>
                    <a:pt x="-121644" y="187254"/>
                  </a:cubicBezTo>
                  <a:cubicBezTo>
                    <a:pt x="-129708" y="202948"/>
                    <a:pt x="-138014" y="218493"/>
                    <a:pt x="-146319" y="234037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7" name="MMConnector"/>
            <p:cNvSpPr/>
            <p:nvPr/>
          </p:nvSpPr>
          <p:spPr>
            <a:xfrm>
              <a:off x="3778038" y="3508800"/>
              <a:ext cx="319200" cy="34611"/>
            </a:xfrm>
            <a:custGeom>
              <a:avLst/>
              <a:gdLst/>
              <a:ahLst/>
              <a:cxnLst/>
              <a:rect l="0" t="0" r="0" b="0"/>
              <a:pathLst>
                <a:path w="319200" h="34611">
                  <a:moveTo>
                    <a:pt x="238046" y="34005"/>
                  </a:moveTo>
                  <a:cubicBezTo>
                    <a:pt x="230045" y="32174"/>
                    <a:pt x="223632" y="36387"/>
                    <a:pt x="222417" y="42538"/>
                  </a:cubicBezTo>
                  <a:cubicBezTo>
                    <a:pt x="221202" y="48690"/>
                    <a:pt x="225518" y="55113"/>
                    <a:pt x="233629" y="56373"/>
                  </a:cubicBezTo>
                  <a:cubicBezTo>
                    <a:pt x="251238" y="59108"/>
                    <a:pt x="268847" y="61844"/>
                    <a:pt x="286498" y="64314"/>
                  </a:cubicBezTo>
                  <a:cubicBezTo>
                    <a:pt x="304150" y="66785"/>
                    <a:pt x="321844" y="68991"/>
                    <a:pt x="339549" y="70948"/>
                  </a:cubicBezTo>
                  <a:cubicBezTo>
                    <a:pt x="357254" y="72906"/>
                    <a:pt x="374970" y="74615"/>
                    <a:pt x="392750" y="76014"/>
                  </a:cubicBezTo>
                  <a:cubicBezTo>
                    <a:pt x="410529" y="77414"/>
                    <a:pt x="428372" y="78504"/>
                    <a:pt x="446048" y="79294"/>
                  </a:cubicBezTo>
                  <a:cubicBezTo>
                    <a:pt x="463724" y="80083"/>
                    <a:pt x="481234" y="80571"/>
                    <a:pt x="499371" y="80620"/>
                  </a:cubicBezTo>
                  <a:cubicBezTo>
                    <a:pt x="510150" y="80649"/>
                    <a:pt x="521151" y="80522"/>
                    <a:pt x="532242" y="80332"/>
                  </a:cubicBezTo>
                  <a:cubicBezTo>
                    <a:pt x="547561" y="80070"/>
                    <a:pt x="547570" y="79487"/>
                    <a:pt x="532270" y="78667"/>
                  </a:cubicBezTo>
                  <a:cubicBezTo>
                    <a:pt x="521211" y="78074"/>
                    <a:pt x="510251" y="77455"/>
                    <a:pt x="499533" y="76681"/>
                  </a:cubicBezTo>
                  <a:cubicBezTo>
                    <a:pt x="481491" y="75379"/>
                    <a:pt x="464137" y="73639"/>
                    <a:pt x="446656" y="71604"/>
                  </a:cubicBezTo>
                  <a:cubicBezTo>
                    <a:pt x="429175" y="69569"/>
                    <a:pt x="411567" y="67238"/>
                    <a:pt x="394057" y="64604"/>
                  </a:cubicBezTo>
                  <a:cubicBezTo>
                    <a:pt x="376548" y="61970"/>
                    <a:pt x="359138" y="59033"/>
                    <a:pt x="341764" y="55853"/>
                  </a:cubicBezTo>
                  <a:cubicBezTo>
                    <a:pt x="324390" y="52674"/>
                    <a:pt x="307052" y="49251"/>
                    <a:pt x="289771" y="45570"/>
                  </a:cubicBezTo>
                  <a:cubicBezTo>
                    <a:pt x="272491" y="41888"/>
                    <a:pt x="255269" y="37946"/>
                    <a:pt x="238046" y="34005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8" name="MMConnector"/>
            <p:cNvSpPr/>
            <p:nvPr/>
          </p:nvSpPr>
          <p:spPr>
            <a:xfrm>
              <a:off x="3778038" y="4147200"/>
              <a:ext cx="731718" cy="1113400"/>
            </a:xfrm>
            <a:custGeom>
              <a:avLst/>
              <a:gdLst/>
              <a:ahLst/>
              <a:cxnLst/>
              <a:rect l="0" t="0" r="0" b="0"/>
              <a:pathLst>
                <a:path w="731718" h="1113400">
                  <a:moveTo>
                    <a:pt x="-166253" y="-399806"/>
                  </a:moveTo>
                  <a:cubicBezTo>
                    <a:pt x="-169426" y="-407376"/>
                    <a:pt x="-176473" y="-410247"/>
                    <a:pt x="-182208" y="-407714"/>
                  </a:cubicBezTo>
                  <a:cubicBezTo>
                    <a:pt x="-187944" y="-405180"/>
                    <a:pt x="-190403" y="-398112"/>
                    <a:pt x="-187109" y="-390594"/>
                  </a:cubicBezTo>
                  <a:cubicBezTo>
                    <a:pt x="-180044" y="-374473"/>
                    <a:pt x="-172980" y="-358352"/>
                    <a:pt x="-166231" y="-342075"/>
                  </a:cubicBezTo>
                  <a:cubicBezTo>
                    <a:pt x="-159483" y="-325799"/>
                    <a:pt x="-153051" y="-309366"/>
                    <a:pt x="-146782" y="-292862"/>
                  </a:cubicBezTo>
                  <a:cubicBezTo>
                    <a:pt x="-140513" y="-276358"/>
                    <a:pt x="-134407" y="-259781"/>
                    <a:pt x="-128447" y="-243141"/>
                  </a:cubicBezTo>
                  <a:cubicBezTo>
                    <a:pt x="-122486" y="-226501"/>
                    <a:pt x="-116671" y="-209798"/>
                    <a:pt x="-110953" y="-193053"/>
                  </a:cubicBezTo>
                  <a:cubicBezTo>
                    <a:pt x="-105236" y="-176307"/>
                    <a:pt x="-99617" y="-159520"/>
                    <a:pt x="-94062" y="-142704"/>
                  </a:cubicBezTo>
                  <a:cubicBezTo>
                    <a:pt x="-88507" y="-125889"/>
                    <a:pt x="-83016" y="-109044"/>
                    <a:pt x="-77556" y="-92184"/>
                  </a:cubicBezTo>
                  <a:cubicBezTo>
                    <a:pt x="-72096" y="-75323"/>
                    <a:pt x="-66667" y="-58447"/>
                    <a:pt x="-61236" y="-41565"/>
                  </a:cubicBezTo>
                  <a:cubicBezTo>
                    <a:pt x="-55806" y="-24683"/>
                    <a:pt x="-50375" y="-7796"/>
                    <a:pt x="-44911" y="9085"/>
                  </a:cubicBezTo>
                  <a:cubicBezTo>
                    <a:pt x="-39448" y="25967"/>
                    <a:pt x="-33953" y="42843"/>
                    <a:pt x="-28394" y="59703"/>
                  </a:cubicBezTo>
                  <a:cubicBezTo>
                    <a:pt x="-22836" y="76563"/>
                    <a:pt x="-17214" y="93406"/>
                    <a:pt x="-11497" y="110221"/>
                  </a:cubicBezTo>
                  <a:cubicBezTo>
                    <a:pt x="-5779" y="127037"/>
                    <a:pt x="34" y="143824"/>
                    <a:pt x="5977" y="160569"/>
                  </a:cubicBezTo>
                  <a:cubicBezTo>
                    <a:pt x="11920" y="177314"/>
                    <a:pt x="17993" y="194017"/>
                    <a:pt x="24234" y="210661"/>
                  </a:cubicBezTo>
                  <a:cubicBezTo>
                    <a:pt x="30475" y="227306"/>
                    <a:pt x="36884" y="243891"/>
                    <a:pt x="43502" y="260397"/>
                  </a:cubicBezTo>
                  <a:cubicBezTo>
                    <a:pt x="50120" y="276903"/>
                    <a:pt x="56947" y="293330"/>
                    <a:pt x="64030" y="309649"/>
                  </a:cubicBezTo>
                  <a:cubicBezTo>
                    <a:pt x="71113" y="325969"/>
                    <a:pt x="78451" y="342183"/>
                    <a:pt x="86098" y="358254"/>
                  </a:cubicBezTo>
                  <a:cubicBezTo>
                    <a:pt x="93746" y="374325"/>
                    <a:pt x="101701" y="390254"/>
                    <a:pt x="110025" y="405994"/>
                  </a:cubicBezTo>
                  <a:cubicBezTo>
                    <a:pt x="118348" y="421734"/>
                    <a:pt x="127040" y="437285"/>
                    <a:pt x="136166" y="452582"/>
                  </a:cubicBezTo>
                  <a:cubicBezTo>
                    <a:pt x="145291" y="467879"/>
                    <a:pt x="154850" y="482924"/>
                    <a:pt x="164914" y="497629"/>
                  </a:cubicBezTo>
                  <a:cubicBezTo>
                    <a:pt x="174977" y="512334"/>
                    <a:pt x="185545" y="526701"/>
                    <a:pt x="196685" y="540615"/>
                  </a:cubicBezTo>
                  <a:cubicBezTo>
                    <a:pt x="207825" y="554529"/>
                    <a:pt x="219539" y="567992"/>
                    <a:pt x="231877" y="580858"/>
                  </a:cubicBezTo>
                  <a:cubicBezTo>
                    <a:pt x="244216" y="593725"/>
                    <a:pt x="257180" y="605996"/>
                    <a:pt x="270796" y="617503"/>
                  </a:cubicBezTo>
                  <a:cubicBezTo>
                    <a:pt x="284413" y="629011"/>
                    <a:pt x="298681" y="639755"/>
                    <a:pt x="313545" y="649566"/>
                  </a:cubicBezTo>
                  <a:cubicBezTo>
                    <a:pt x="328410" y="659376"/>
                    <a:pt x="343871" y="668252"/>
                    <a:pt x="359905" y="676065"/>
                  </a:cubicBezTo>
                  <a:cubicBezTo>
                    <a:pt x="375939" y="683879"/>
                    <a:pt x="392546" y="690630"/>
                    <a:pt x="409288" y="696247"/>
                  </a:cubicBezTo>
                  <a:cubicBezTo>
                    <a:pt x="426030" y="701863"/>
                    <a:pt x="442908" y="706346"/>
                    <a:pt x="460830" y="709784"/>
                  </a:cubicBezTo>
                  <a:cubicBezTo>
                    <a:pt x="478752" y="713221"/>
                    <a:pt x="497720" y="715615"/>
                    <a:pt x="513595" y="716844"/>
                  </a:cubicBezTo>
                  <a:cubicBezTo>
                    <a:pt x="523256" y="717591"/>
                    <a:pt x="531771" y="717908"/>
                    <a:pt x="539838" y="718055"/>
                  </a:cubicBezTo>
                  <a:cubicBezTo>
                    <a:pt x="550051" y="718242"/>
                    <a:pt x="550051" y="718162"/>
                    <a:pt x="539843" y="717812"/>
                  </a:cubicBezTo>
                  <a:cubicBezTo>
                    <a:pt x="531783" y="717535"/>
                    <a:pt x="523282" y="717083"/>
                    <a:pt x="513650" y="716182"/>
                  </a:cubicBezTo>
                  <a:cubicBezTo>
                    <a:pt x="497819" y="714702"/>
                    <a:pt x="478936" y="712010"/>
                    <a:pt x="461133" y="708299"/>
                  </a:cubicBezTo>
                  <a:cubicBezTo>
                    <a:pt x="443330" y="704588"/>
                    <a:pt x="426606" y="699857"/>
                    <a:pt x="410054" y="694008"/>
                  </a:cubicBezTo>
                  <a:cubicBezTo>
                    <a:pt x="393502" y="688158"/>
                    <a:pt x="377121" y="681190"/>
                    <a:pt x="361340" y="673185"/>
                  </a:cubicBezTo>
                  <a:cubicBezTo>
                    <a:pt x="345559" y="665180"/>
                    <a:pt x="330379" y="656138"/>
                    <a:pt x="315813" y="646187"/>
                  </a:cubicBezTo>
                  <a:cubicBezTo>
                    <a:pt x="301247" y="636235"/>
                    <a:pt x="287295" y="625374"/>
                    <a:pt x="274003" y="613771"/>
                  </a:cubicBezTo>
                  <a:cubicBezTo>
                    <a:pt x="260711" y="602168"/>
                    <a:pt x="248079" y="589822"/>
                    <a:pt x="236075" y="576896"/>
                  </a:cubicBezTo>
                  <a:cubicBezTo>
                    <a:pt x="224071" y="563971"/>
                    <a:pt x="212694" y="550465"/>
                    <a:pt x="201888" y="536517"/>
                  </a:cubicBezTo>
                  <a:cubicBezTo>
                    <a:pt x="191083" y="522569"/>
                    <a:pt x="180849" y="508179"/>
                    <a:pt x="171116" y="493457"/>
                  </a:cubicBezTo>
                  <a:cubicBezTo>
                    <a:pt x="161383" y="478734"/>
                    <a:pt x="152151" y="463679"/>
                    <a:pt x="143350" y="448374"/>
                  </a:cubicBezTo>
                  <a:cubicBezTo>
                    <a:pt x="134548" y="433068"/>
                    <a:pt x="126178" y="417513"/>
                    <a:pt x="118172" y="401769"/>
                  </a:cubicBezTo>
                  <a:cubicBezTo>
                    <a:pt x="110166" y="386025"/>
                    <a:pt x="102524" y="370092"/>
                    <a:pt x="95188" y="354017"/>
                  </a:cubicBezTo>
                  <a:cubicBezTo>
                    <a:pt x="87853" y="337942"/>
                    <a:pt x="80822" y="321724"/>
                    <a:pt x="74045" y="305397"/>
                  </a:cubicBezTo>
                  <a:cubicBezTo>
                    <a:pt x="67267" y="289071"/>
                    <a:pt x="60743" y="272636"/>
                    <a:pt x="54426" y="256118"/>
                  </a:cubicBezTo>
                  <a:cubicBezTo>
                    <a:pt x="48108" y="239601"/>
                    <a:pt x="41997" y="223000"/>
                    <a:pt x="36051" y="206338"/>
                  </a:cubicBezTo>
                  <a:cubicBezTo>
                    <a:pt x="30106" y="189675"/>
                    <a:pt x="24325" y="172949"/>
                    <a:pt x="18673" y="156176"/>
                  </a:cubicBezTo>
                  <a:cubicBezTo>
                    <a:pt x="13021" y="139404"/>
                    <a:pt x="7496" y="122584"/>
                    <a:pt x="2065" y="105731"/>
                  </a:cubicBezTo>
                  <a:cubicBezTo>
                    <a:pt x="-3366" y="88877"/>
                    <a:pt x="-8704" y="71989"/>
                    <a:pt x="-13981" y="55078"/>
                  </a:cubicBezTo>
                  <a:cubicBezTo>
                    <a:pt x="-19258" y="38167"/>
                    <a:pt x="-24474" y="21232"/>
                    <a:pt x="-29660" y="4284"/>
                  </a:cubicBezTo>
                  <a:cubicBezTo>
                    <a:pt x="-34847" y="-12664"/>
                    <a:pt x="-40005" y="-29626"/>
                    <a:pt x="-45164" y="-46593"/>
                  </a:cubicBezTo>
                  <a:cubicBezTo>
                    <a:pt x="-50324" y="-63560"/>
                    <a:pt x="-55486" y="-80532"/>
                    <a:pt x="-60682" y="-97499"/>
                  </a:cubicBezTo>
                  <a:cubicBezTo>
                    <a:pt x="-65878" y="-114467"/>
                    <a:pt x="-71109" y="-131430"/>
                    <a:pt x="-76408" y="-148379"/>
                  </a:cubicBezTo>
                  <a:cubicBezTo>
                    <a:pt x="-81708" y="-165328"/>
                    <a:pt x="-87077" y="-182263"/>
                    <a:pt x="-92550" y="-199173"/>
                  </a:cubicBezTo>
                  <a:cubicBezTo>
                    <a:pt x="-98023" y="-216083"/>
                    <a:pt x="-103600" y="-232968"/>
                    <a:pt x="-109331" y="-249812"/>
                  </a:cubicBezTo>
                  <a:cubicBezTo>
                    <a:pt x="-115063" y="-266655"/>
                    <a:pt x="-120948" y="-283457"/>
                    <a:pt x="-127006" y="-300210"/>
                  </a:cubicBezTo>
                  <a:cubicBezTo>
                    <a:pt x="-133064" y="-316963"/>
                    <a:pt x="-139295" y="-333667"/>
                    <a:pt x="-145865" y="-350258"/>
                  </a:cubicBezTo>
                  <a:cubicBezTo>
                    <a:pt x="-152435" y="-366849"/>
                    <a:pt x="-159344" y="-383328"/>
                    <a:pt x="-166253" y="-399806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9" name="MMConnector"/>
            <p:cNvSpPr/>
            <p:nvPr/>
          </p:nvSpPr>
          <p:spPr>
            <a:xfrm>
              <a:off x="5465475" y="2116100"/>
              <a:ext cx="197600" cy="376200"/>
            </a:xfrm>
            <a:custGeom>
              <a:avLst/>
              <a:gdLst/>
              <a:ahLst/>
              <a:cxnLst/>
              <a:rect l="0" t="0" r="0" b="0"/>
              <a:pathLst>
                <a:path w="197600" h="376200" fill="none">
                  <a:moveTo>
                    <a:pt x="-98800" y="188100"/>
                  </a:moveTo>
                  <a:cubicBezTo>
                    <a:pt x="20545" y="188100"/>
                    <a:pt x="-54525" y="-188100"/>
                    <a:pt x="98800" y="-18810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10" name="MMConnector"/>
            <p:cNvSpPr/>
            <p:nvPr/>
          </p:nvSpPr>
          <p:spPr>
            <a:xfrm>
              <a:off x="5465475" y="2216800"/>
              <a:ext cx="197600" cy="174800"/>
            </a:xfrm>
            <a:custGeom>
              <a:avLst/>
              <a:gdLst/>
              <a:ahLst/>
              <a:cxnLst/>
              <a:rect l="0" t="0" r="0" b="0"/>
              <a:pathLst>
                <a:path w="197600" h="174800" fill="none">
                  <a:moveTo>
                    <a:pt x="-98800" y="87400"/>
                  </a:moveTo>
                  <a:cubicBezTo>
                    <a:pt x="421" y="87400"/>
                    <a:pt x="-7570" y="-87400"/>
                    <a:pt x="98800" y="-8740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11" name="MMConnector"/>
            <p:cNvSpPr/>
            <p:nvPr/>
          </p:nvSpPr>
          <p:spPr>
            <a:xfrm>
              <a:off x="5465475" y="2317500"/>
              <a:ext cx="197600" cy="26600"/>
            </a:xfrm>
            <a:custGeom>
              <a:avLst/>
              <a:gdLst/>
              <a:ahLst/>
              <a:cxnLst/>
              <a:rect l="0" t="0" r="0" b="0"/>
              <a:pathLst>
                <a:path w="197600" h="26600" fill="none">
                  <a:moveTo>
                    <a:pt x="-98800" y="-13300"/>
                  </a:moveTo>
                  <a:cubicBezTo>
                    <a:pt x="-16628" y="-13300"/>
                    <a:pt x="32211" y="13300"/>
                    <a:pt x="98800" y="1330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13" name="MMConnector"/>
            <p:cNvSpPr/>
            <p:nvPr/>
          </p:nvSpPr>
          <p:spPr>
            <a:xfrm>
              <a:off x="5404675" y="4778000"/>
              <a:ext cx="197600" cy="174800"/>
            </a:xfrm>
            <a:custGeom>
              <a:avLst/>
              <a:gdLst/>
              <a:ahLst/>
              <a:cxnLst/>
              <a:rect l="0" t="0" r="0" b="0"/>
              <a:pathLst>
                <a:path w="197600" h="174800" fill="none">
                  <a:moveTo>
                    <a:pt x="-98800" y="87400"/>
                  </a:moveTo>
                  <a:cubicBezTo>
                    <a:pt x="421" y="87400"/>
                    <a:pt x="-7570" y="-87400"/>
                    <a:pt x="98800" y="-8740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14" name="MMConnector"/>
            <p:cNvSpPr/>
            <p:nvPr/>
          </p:nvSpPr>
          <p:spPr>
            <a:xfrm>
              <a:off x="5404675" y="4876800"/>
              <a:ext cx="197600" cy="22800"/>
            </a:xfrm>
            <a:custGeom>
              <a:avLst/>
              <a:gdLst/>
              <a:ahLst/>
              <a:cxnLst/>
              <a:rect l="0" t="0" r="0" b="0"/>
              <a:pathLst>
                <a:path w="197600" h="22800" fill="none">
                  <a:moveTo>
                    <a:pt x="-98800" y="-11400"/>
                  </a:moveTo>
                  <a:cubicBezTo>
                    <a:pt x="-17075" y="-11400"/>
                    <a:pt x="33255" y="11400"/>
                    <a:pt x="98800" y="1140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16" name="MMConnector"/>
            <p:cNvSpPr/>
            <p:nvPr/>
          </p:nvSpPr>
          <p:spPr>
            <a:xfrm>
              <a:off x="5222275" y="3353950"/>
              <a:ext cx="197600" cy="469300"/>
            </a:xfrm>
            <a:custGeom>
              <a:avLst/>
              <a:gdLst/>
              <a:ahLst/>
              <a:cxnLst/>
              <a:rect l="0" t="0" r="0" b="0"/>
              <a:pathLst>
                <a:path w="197600" h="469300" fill="none">
                  <a:moveTo>
                    <a:pt x="-98800" y="234650"/>
                  </a:moveTo>
                  <a:cubicBezTo>
                    <a:pt x="27854" y="234650"/>
                    <a:pt x="-71580" y="-234650"/>
                    <a:pt x="98800" y="-23465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17" name="MMConnector"/>
            <p:cNvSpPr/>
            <p:nvPr/>
          </p:nvSpPr>
          <p:spPr>
            <a:xfrm>
              <a:off x="5222275" y="3749150"/>
              <a:ext cx="197600" cy="321100"/>
            </a:xfrm>
            <a:custGeom>
              <a:avLst/>
              <a:gdLst/>
              <a:ahLst/>
              <a:cxnLst/>
              <a:rect l="0" t="0" r="0" b="0"/>
              <a:pathLst>
                <a:path w="197600" h="321100" fill="none">
                  <a:moveTo>
                    <a:pt x="-98800" y="-160550"/>
                  </a:moveTo>
                  <a:cubicBezTo>
                    <a:pt x="15553" y="-160550"/>
                    <a:pt x="-42877" y="160550"/>
                    <a:pt x="98800" y="16055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19" name="MMConnector"/>
            <p:cNvSpPr/>
            <p:nvPr/>
          </p:nvSpPr>
          <p:spPr>
            <a:xfrm>
              <a:off x="6073475" y="3068950"/>
              <a:ext cx="197600" cy="100700"/>
            </a:xfrm>
            <a:custGeom>
              <a:avLst/>
              <a:gdLst/>
              <a:ahLst/>
              <a:cxnLst/>
              <a:rect l="0" t="0" r="0" b="0"/>
              <a:pathLst>
                <a:path w="197600" h="100700" fill="none">
                  <a:moveTo>
                    <a:pt x="-98800" y="50350"/>
                  </a:moveTo>
                  <a:cubicBezTo>
                    <a:pt x="-7976" y="50350"/>
                    <a:pt x="12023" y="-50350"/>
                    <a:pt x="98800" y="-5035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20" name="MMConnector"/>
            <p:cNvSpPr/>
            <p:nvPr/>
          </p:nvSpPr>
          <p:spPr>
            <a:xfrm>
              <a:off x="6073475" y="3167750"/>
              <a:ext cx="197600" cy="96900"/>
            </a:xfrm>
            <a:custGeom>
              <a:avLst/>
              <a:gdLst/>
              <a:ahLst/>
              <a:cxnLst/>
              <a:rect l="0" t="0" r="0" b="0"/>
              <a:pathLst>
                <a:path w="197600" h="96900" fill="none">
                  <a:moveTo>
                    <a:pt x="-98800" y="-48450"/>
                  </a:moveTo>
                  <a:cubicBezTo>
                    <a:pt x="-8415" y="-48450"/>
                    <a:pt x="13048" y="48450"/>
                    <a:pt x="98800" y="4845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23" name="MMConnector"/>
            <p:cNvSpPr/>
            <p:nvPr/>
          </p:nvSpPr>
          <p:spPr>
            <a:xfrm>
              <a:off x="6073475" y="3859350"/>
              <a:ext cx="197600" cy="100700"/>
            </a:xfrm>
            <a:custGeom>
              <a:avLst/>
              <a:gdLst/>
              <a:ahLst/>
              <a:cxnLst/>
              <a:rect l="0" t="0" r="0" b="0"/>
              <a:pathLst>
                <a:path w="197600" h="100700" fill="none">
                  <a:moveTo>
                    <a:pt x="-98800" y="50350"/>
                  </a:moveTo>
                  <a:cubicBezTo>
                    <a:pt x="-7976" y="50350"/>
                    <a:pt x="12023" y="-50350"/>
                    <a:pt x="98800" y="-5035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24" name="MMConnector"/>
            <p:cNvSpPr/>
            <p:nvPr/>
          </p:nvSpPr>
          <p:spPr>
            <a:xfrm>
              <a:off x="6073475" y="3958150"/>
              <a:ext cx="197600" cy="96900"/>
            </a:xfrm>
            <a:custGeom>
              <a:avLst/>
              <a:gdLst/>
              <a:ahLst/>
              <a:cxnLst/>
              <a:rect l="0" t="0" r="0" b="0"/>
              <a:pathLst>
                <a:path w="197600" h="96900" fill="none">
                  <a:moveTo>
                    <a:pt x="-98800" y="-48450"/>
                  </a:moveTo>
                  <a:cubicBezTo>
                    <a:pt x="-8415" y="-48450"/>
                    <a:pt x="13048" y="48450"/>
                    <a:pt x="98800" y="4845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sp>
          <p:nvSpPr>
            <p:cNvPr id="26" name="MMConnector"/>
            <p:cNvSpPr/>
            <p:nvPr/>
          </p:nvSpPr>
          <p:spPr>
            <a:xfrm>
              <a:off x="5465475" y="2418200"/>
              <a:ext cx="197600" cy="228000"/>
            </a:xfrm>
            <a:custGeom>
              <a:avLst/>
              <a:gdLst/>
              <a:ahLst/>
              <a:cxnLst/>
              <a:rect l="0" t="0" r="0" b="0"/>
              <a:pathLst>
                <a:path w="197600" h="228000" fill="none">
                  <a:moveTo>
                    <a:pt x="-98800" y="-114000"/>
                  </a:moveTo>
                  <a:cubicBezTo>
                    <a:pt x="6191" y="-114000"/>
                    <a:pt x="-21032" y="114000"/>
                    <a:pt x="98800" y="114000"/>
                  </a:cubicBezTo>
                </a:path>
              </a:pathLst>
            </a:cu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sp>
        <p:grpSp>
          <p:nvGrpSpPr>
            <p:cNvPr id="27" name="Group 484"/>
            <p:cNvGrpSpPr/>
            <p:nvPr/>
          </p:nvGrpSpPr>
          <p:grpSpPr>
            <a:xfrm>
              <a:off x="3025213" y="3106000"/>
              <a:ext cx="974674" cy="646000"/>
              <a:chOff x="3025213" y="3106000"/>
              <a:chExt cx="974674" cy="646000"/>
            </a:xfrm>
          </p:grpSpPr>
          <p:sp>
            <p:nvSpPr>
              <p:cNvPr id="49" name="MainIdea"/>
              <p:cNvSpPr/>
              <p:nvPr/>
            </p:nvSpPr>
            <p:spPr>
              <a:xfrm>
                <a:off x="3025213" y="3106000"/>
                <a:ext cx="974674" cy="646000"/>
              </a:xfrm>
              <a:custGeom>
                <a:avLst/>
                <a:gdLst/>
                <a:ahLst/>
                <a:cxnLst/>
                <a:rect l="0" t="0" r="0" b="0"/>
                <a:pathLst>
                  <a:path w="1581750" h="646000">
                    <a:moveTo>
                      <a:pt x="161500" y="0"/>
                    </a:moveTo>
                    <a:lnTo>
                      <a:pt x="1420250" y="0"/>
                    </a:lnTo>
                    <a:lnTo>
                      <a:pt x="1581750" y="161500"/>
                    </a:lnTo>
                    <a:lnTo>
                      <a:pt x="1581750" y="484500"/>
                    </a:lnTo>
                    <a:lnTo>
                      <a:pt x="1420250" y="646000"/>
                    </a:lnTo>
                    <a:lnTo>
                      <a:pt x="161500" y="646000"/>
                    </a:lnTo>
                    <a:lnTo>
                      <a:pt x="0" y="484500"/>
                    </a:lnTo>
                    <a:lnTo>
                      <a:pt x="0" y="161500"/>
                    </a:lnTo>
                    <a:lnTo>
                      <a:pt x="161500" y="0"/>
                    </a:lnTo>
                    <a:close/>
                  </a:path>
                </a:pathLst>
              </a:cu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</p:sp>
          <p:sp>
            <p:nvSpPr>
              <p:cNvPr id="51" name="Text 485"/>
              <p:cNvSpPr txBox="1"/>
              <p:nvPr/>
            </p:nvSpPr>
            <p:spPr>
              <a:xfrm>
                <a:off x="3166723" y="3349200"/>
                <a:ext cx="638400" cy="1672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dirty="0" err="1" smtClean="0">
                    <a:solidFill>
                      <a:srgbClr val="30303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工作规划</a:t>
                </a:r>
                <a:endParaRPr dirty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MainTopic"/>
            <p:cNvSpPr/>
            <p:nvPr/>
          </p:nvSpPr>
          <p:spPr>
            <a:xfrm>
              <a:off x="4333075" y="2000200"/>
              <a:ext cx="1033600" cy="304000"/>
            </a:xfrm>
            <a:custGeom>
              <a:avLst/>
              <a:gdLst>
                <a:gd name="rtl" fmla="*/ 123500 w 1033600"/>
                <a:gd name="rtt" fmla="*/ 87400 h 304000"/>
                <a:gd name="rtr" fmla="*/ 913900 w 1033600"/>
                <a:gd name="rtb" fmla="*/ 224200 h 304000"/>
              </a:gdLst>
              <a:ahLst/>
              <a:cxnLst/>
              <a:rect l="rtl" t="rtt" r="rtr" b="rtb"/>
              <a:pathLst>
                <a:path w="1033600" h="304000" stroke="0">
                  <a:moveTo>
                    <a:pt x="0" y="0"/>
                  </a:moveTo>
                  <a:lnTo>
                    <a:pt x="1033600" y="0"/>
                  </a:lnTo>
                  <a:lnTo>
                    <a:pt x="1033600" y="304000"/>
                  </a:lnTo>
                  <a:lnTo>
                    <a:pt x="0" y="304000"/>
                  </a:lnTo>
                  <a:lnTo>
                    <a:pt x="0" y="0"/>
                  </a:lnTo>
                  <a:close/>
                </a:path>
                <a:path w="1033600" h="304000" fill="none">
                  <a:moveTo>
                    <a:pt x="0" y="304000"/>
                  </a:moveTo>
                  <a:lnTo>
                    <a:pt x="1033600" y="30400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400" dirty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多维分析平台</a:t>
              </a:r>
            </a:p>
          </p:txBody>
        </p:sp>
        <p:sp>
          <p:nvSpPr>
            <p:cNvPr id="29" name="MainTopic"/>
            <p:cNvSpPr/>
            <p:nvPr/>
          </p:nvSpPr>
          <p:spPr>
            <a:xfrm>
              <a:off x="4333075" y="3284600"/>
              <a:ext cx="790400" cy="304000"/>
            </a:xfrm>
            <a:custGeom>
              <a:avLst/>
              <a:gdLst>
                <a:gd name="rtl" fmla="*/ 123500 w 790400"/>
                <a:gd name="rtt" fmla="*/ 87400 h 304000"/>
                <a:gd name="rtr" fmla="*/ 670700 w 790400"/>
                <a:gd name="rtb" fmla="*/ 224200 h 304000"/>
              </a:gdLst>
              <a:ahLst/>
              <a:cxnLst/>
              <a:rect l="rtl" t="rtt" r="rtr" b="rtb"/>
              <a:pathLst>
                <a:path w="790400" h="304000" stroke="0">
                  <a:moveTo>
                    <a:pt x="0" y="0"/>
                  </a:moveTo>
                  <a:lnTo>
                    <a:pt x="790400" y="0"/>
                  </a:lnTo>
                  <a:lnTo>
                    <a:pt x="790400" y="304000"/>
                  </a:lnTo>
                  <a:lnTo>
                    <a:pt x="0" y="304000"/>
                  </a:lnTo>
                  <a:lnTo>
                    <a:pt x="0" y="0"/>
                  </a:lnTo>
                  <a:close/>
                </a:path>
                <a:path w="790400" h="304000" fill="none">
                  <a:moveTo>
                    <a:pt x="0" y="304000"/>
                  </a:moveTo>
                  <a:lnTo>
                    <a:pt x="790400" y="30400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4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数据仓库</a:t>
              </a:r>
              <a:endParaRPr sz="14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MainTopic"/>
            <p:cNvSpPr/>
            <p:nvPr/>
          </p:nvSpPr>
          <p:spPr>
            <a:xfrm>
              <a:off x="4234242" y="4561400"/>
              <a:ext cx="1071634" cy="304000"/>
            </a:xfrm>
            <a:custGeom>
              <a:avLst/>
              <a:gdLst>
                <a:gd name="rtl" fmla="*/ 123500 w 972800"/>
                <a:gd name="rtt" fmla="*/ 87400 h 304000"/>
                <a:gd name="rtr" fmla="*/ 853100 w 972800"/>
                <a:gd name="rtb" fmla="*/ 224200 h 304000"/>
              </a:gdLst>
              <a:ahLst/>
              <a:cxnLst/>
              <a:rect l="rtl" t="rtt" r="rtr" b="rtb"/>
              <a:pathLst>
                <a:path w="972800" h="304000" stroke="0">
                  <a:moveTo>
                    <a:pt x="0" y="0"/>
                  </a:moveTo>
                  <a:lnTo>
                    <a:pt x="972800" y="0"/>
                  </a:lnTo>
                  <a:lnTo>
                    <a:pt x="972800" y="304000"/>
                  </a:lnTo>
                  <a:lnTo>
                    <a:pt x="0" y="304000"/>
                  </a:lnTo>
                  <a:lnTo>
                    <a:pt x="0" y="0"/>
                  </a:lnTo>
                  <a:close/>
                </a:path>
                <a:path w="972800" h="304000" fill="none">
                  <a:moveTo>
                    <a:pt x="0" y="304000"/>
                  </a:moveTo>
                  <a:lnTo>
                    <a:pt x="972800" y="30400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4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大数据</a:t>
              </a:r>
              <a:r>
                <a:rPr sz="1400" dirty="0" err="1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</a:t>
              </a:r>
              <a:r>
                <a:rPr lang="zh-CN" altLang="en-US" sz="14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</a:t>
              </a:r>
              <a:endParaRPr sz="14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SubTopic"/>
            <p:cNvSpPr/>
            <p:nvPr/>
          </p:nvSpPr>
          <p:spPr>
            <a:xfrm>
              <a:off x="5564275" y="1772200"/>
              <a:ext cx="1064000" cy="155800"/>
            </a:xfrm>
            <a:custGeom>
              <a:avLst/>
              <a:gdLst>
                <a:gd name="rtt" fmla="*/ 28500 h 155800"/>
                <a:gd name="rtb" fmla="*/ 142500 h 155800"/>
              </a:gdLst>
              <a:ahLst/>
              <a:cxnLst/>
              <a:rect l="l" t="rtt" r="r" b="rtb"/>
              <a:pathLst>
                <a:path w="1064000" h="155800" stroke="0">
                  <a:moveTo>
                    <a:pt x="0" y="0"/>
                  </a:moveTo>
                  <a:lnTo>
                    <a:pt x="1064000" y="0"/>
                  </a:lnTo>
                  <a:lnTo>
                    <a:pt x="1064000" y="155800"/>
                  </a:lnTo>
                  <a:lnTo>
                    <a:pt x="0" y="155800"/>
                  </a:lnTo>
                  <a:lnTo>
                    <a:pt x="0" y="0"/>
                  </a:lnTo>
                  <a:close/>
                </a:path>
                <a:path w="1064000" h="155800" fill="none">
                  <a:moveTo>
                    <a:pt x="0" y="155800"/>
                  </a:moveTo>
                  <a:lnTo>
                    <a:pt x="1064000" y="155800"/>
                  </a:lnTo>
                </a:path>
              </a:pathLst>
            </a:custGeom>
            <a:noFill/>
            <a:ln w="7600" cap="flat">
              <a:solidFill>
                <a:srgbClr val="02AE3D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2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风控中心cube模型检验</a:t>
              </a:r>
              <a:endParaRPr sz="12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SubTopic"/>
            <p:cNvSpPr/>
            <p:nvPr/>
          </p:nvSpPr>
          <p:spPr>
            <a:xfrm>
              <a:off x="5564275" y="1973600"/>
              <a:ext cx="1064000" cy="155800"/>
            </a:xfrm>
            <a:custGeom>
              <a:avLst/>
              <a:gdLst>
                <a:gd name="rtt" fmla="*/ 28500 h 155800"/>
                <a:gd name="rtb" fmla="*/ 142500 h 155800"/>
              </a:gdLst>
              <a:ahLst/>
              <a:cxnLst/>
              <a:rect l="l" t="rtt" r="r" b="rtb"/>
              <a:pathLst>
                <a:path w="1064000" h="155800" stroke="0">
                  <a:moveTo>
                    <a:pt x="0" y="0"/>
                  </a:moveTo>
                  <a:lnTo>
                    <a:pt x="1064000" y="0"/>
                  </a:lnTo>
                  <a:lnTo>
                    <a:pt x="1064000" y="155800"/>
                  </a:lnTo>
                  <a:lnTo>
                    <a:pt x="0" y="155800"/>
                  </a:lnTo>
                  <a:lnTo>
                    <a:pt x="0" y="0"/>
                  </a:lnTo>
                  <a:close/>
                </a:path>
                <a:path w="1064000" h="155800" fill="none">
                  <a:moveTo>
                    <a:pt x="0" y="155800"/>
                  </a:moveTo>
                  <a:lnTo>
                    <a:pt x="1064000" y="155800"/>
                  </a:lnTo>
                </a:path>
              </a:pathLst>
            </a:custGeom>
            <a:noFill/>
            <a:ln w="7600" cap="flat">
              <a:solidFill>
                <a:srgbClr val="02AE3D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2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资金中心cube模型建设</a:t>
              </a:r>
              <a:endParaRPr sz="12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SubTopic"/>
            <p:cNvSpPr/>
            <p:nvPr/>
          </p:nvSpPr>
          <p:spPr>
            <a:xfrm>
              <a:off x="5564275" y="2175000"/>
              <a:ext cx="1064000" cy="155800"/>
            </a:xfrm>
            <a:custGeom>
              <a:avLst/>
              <a:gdLst>
                <a:gd name="rtt" fmla="*/ 28500 h 155800"/>
                <a:gd name="rtb" fmla="*/ 142500 h 155800"/>
              </a:gdLst>
              <a:ahLst/>
              <a:cxnLst/>
              <a:rect l="l" t="rtt" r="r" b="rtb"/>
              <a:pathLst>
                <a:path w="1064000" h="155800" stroke="0">
                  <a:moveTo>
                    <a:pt x="0" y="0"/>
                  </a:moveTo>
                  <a:lnTo>
                    <a:pt x="1064000" y="0"/>
                  </a:lnTo>
                  <a:lnTo>
                    <a:pt x="1064000" y="155800"/>
                  </a:lnTo>
                  <a:lnTo>
                    <a:pt x="0" y="155800"/>
                  </a:lnTo>
                  <a:lnTo>
                    <a:pt x="0" y="0"/>
                  </a:lnTo>
                  <a:close/>
                </a:path>
                <a:path w="1064000" h="155800" fill="none">
                  <a:moveTo>
                    <a:pt x="0" y="155800"/>
                  </a:moveTo>
                  <a:lnTo>
                    <a:pt x="1064000" y="155800"/>
                  </a:lnTo>
                </a:path>
              </a:pathLst>
            </a:custGeom>
            <a:noFill/>
            <a:ln w="7600" cap="flat">
              <a:solidFill>
                <a:srgbClr val="02AE3D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2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资产中心cube模型建设</a:t>
              </a:r>
              <a:endParaRPr sz="12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SubTopic"/>
            <p:cNvSpPr/>
            <p:nvPr/>
          </p:nvSpPr>
          <p:spPr>
            <a:xfrm>
              <a:off x="5503474" y="4538600"/>
              <a:ext cx="638417" cy="152000"/>
            </a:xfrm>
            <a:custGeom>
              <a:avLst/>
              <a:gdLst>
                <a:gd name="rtt" fmla="*/ 15200 h 152000"/>
                <a:gd name="rtb" fmla="*/ 129200 h 152000"/>
              </a:gdLst>
              <a:ahLst/>
              <a:cxnLst/>
              <a:rect l="l" t="rtt" r="r" b="rtb"/>
              <a:pathLst>
                <a:path w="456000" h="152000" stroke="0">
                  <a:moveTo>
                    <a:pt x="0" y="0"/>
                  </a:moveTo>
                  <a:lnTo>
                    <a:pt x="456000" y="0"/>
                  </a:lnTo>
                  <a:lnTo>
                    <a:pt x="456000" y="152000"/>
                  </a:lnTo>
                  <a:lnTo>
                    <a:pt x="0" y="152000"/>
                  </a:lnTo>
                  <a:lnTo>
                    <a:pt x="0" y="0"/>
                  </a:lnTo>
                  <a:close/>
                </a:path>
                <a:path w="456000" h="152000" fill="none">
                  <a:moveTo>
                    <a:pt x="0" y="152000"/>
                  </a:moveTo>
                  <a:lnTo>
                    <a:pt x="456000" y="152000"/>
                  </a:lnTo>
                </a:path>
              </a:pathLst>
            </a:custGeom>
            <a:noFill/>
            <a:ln w="7600" cap="flat">
              <a:solidFill>
                <a:srgbClr val="0089D1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2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可界面配置</a:t>
              </a:r>
              <a:endParaRPr sz="12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SubTopic"/>
            <p:cNvSpPr/>
            <p:nvPr/>
          </p:nvSpPr>
          <p:spPr>
            <a:xfrm>
              <a:off x="5503475" y="4736200"/>
              <a:ext cx="554800" cy="152000"/>
            </a:xfrm>
            <a:custGeom>
              <a:avLst/>
              <a:gdLst>
                <a:gd name="rtt" fmla="*/ 15200 h 152000"/>
                <a:gd name="rtb" fmla="*/ 129200 h 152000"/>
              </a:gdLst>
              <a:ahLst/>
              <a:cxnLst/>
              <a:rect l="l" t="rtt" r="r" b="rtb"/>
              <a:pathLst>
                <a:path w="554800" h="152000" stroke="0">
                  <a:moveTo>
                    <a:pt x="0" y="0"/>
                  </a:moveTo>
                  <a:lnTo>
                    <a:pt x="554800" y="0"/>
                  </a:lnTo>
                  <a:lnTo>
                    <a:pt x="554800" y="152000"/>
                  </a:lnTo>
                  <a:lnTo>
                    <a:pt x="0" y="152000"/>
                  </a:lnTo>
                  <a:lnTo>
                    <a:pt x="0" y="0"/>
                  </a:lnTo>
                  <a:close/>
                </a:path>
                <a:path w="554800" h="152000" fill="none">
                  <a:moveTo>
                    <a:pt x="0" y="152000"/>
                  </a:moveTo>
                  <a:lnTo>
                    <a:pt x="554800" y="152000"/>
                  </a:lnTo>
                </a:path>
              </a:pathLst>
            </a:custGeom>
            <a:noFill/>
            <a:ln w="7600" cap="flat">
              <a:solidFill>
                <a:srgbClr val="0089D1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2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产品化</a:t>
              </a:r>
              <a:endParaRPr sz="1200" dirty="0">
                <a:solidFill>
                  <a:srgbClr val="303030"/>
                </a:solidFill>
                <a:latin typeface="宋体"/>
              </a:endParaRPr>
            </a:p>
          </p:txBody>
        </p:sp>
        <p:sp>
          <p:nvSpPr>
            <p:cNvPr id="38" name="SubTopic"/>
            <p:cNvSpPr/>
            <p:nvPr/>
          </p:nvSpPr>
          <p:spPr>
            <a:xfrm>
              <a:off x="5321075" y="2963500"/>
              <a:ext cx="653600" cy="155800"/>
            </a:xfrm>
            <a:custGeom>
              <a:avLst/>
              <a:gdLst>
                <a:gd name="rtt" fmla="*/ 28500 h 155800"/>
                <a:gd name="rtb" fmla="*/ 142500 h 155800"/>
              </a:gdLst>
              <a:ahLst/>
              <a:cxnLst/>
              <a:rect l="l" t="rtt" r="r" b="rtb"/>
              <a:pathLst>
                <a:path w="653600" h="155800" stroke="0">
                  <a:moveTo>
                    <a:pt x="0" y="0"/>
                  </a:moveTo>
                  <a:lnTo>
                    <a:pt x="653600" y="0"/>
                  </a:lnTo>
                  <a:lnTo>
                    <a:pt x="653600" y="155800"/>
                  </a:lnTo>
                  <a:lnTo>
                    <a:pt x="0" y="155800"/>
                  </a:lnTo>
                  <a:lnTo>
                    <a:pt x="0" y="0"/>
                  </a:lnTo>
                  <a:close/>
                </a:path>
                <a:path w="653600" h="155800" fill="none">
                  <a:moveTo>
                    <a:pt x="0" y="155800"/>
                  </a:moveTo>
                  <a:lnTo>
                    <a:pt x="653600" y="155800"/>
                  </a:lnTo>
                </a:path>
              </a:pathLst>
            </a:custGeom>
            <a:noFill/>
            <a:ln w="7600" cap="flat">
              <a:solidFill>
                <a:srgbClr val="3D3FA6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2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数据质量管理</a:t>
              </a:r>
              <a:endParaRPr sz="12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SubTopic"/>
            <p:cNvSpPr/>
            <p:nvPr/>
          </p:nvSpPr>
          <p:spPr>
            <a:xfrm>
              <a:off x="5321075" y="3753900"/>
              <a:ext cx="653600" cy="155800"/>
            </a:xfrm>
            <a:custGeom>
              <a:avLst/>
              <a:gdLst>
                <a:gd name="rtt" fmla="*/ 28500 h 155800"/>
                <a:gd name="rtb" fmla="*/ 142500 h 155800"/>
              </a:gdLst>
              <a:ahLst/>
              <a:cxnLst/>
              <a:rect l="l" t="rtt" r="r" b="rtb"/>
              <a:pathLst>
                <a:path w="653600" h="155800" stroke="0">
                  <a:moveTo>
                    <a:pt x="0" y="0"/>
                  </a:moveTo>
                  <a:lnTo>
                    <a:pt x="653600" y="0"/>
                  </a:lnTo>
                  <a:lnTo>
                    <a:pt x="653600" y="155800"/>
                  </a:lnTo>
                  <a:lnTo>
                    <a:pt x="0" y="155800"/>
                  </a:lnTo>
                  <a:lnTo>
                    <a:pt x="0" y="0"/>
                  </a:lnTo>
                  <a:close/>
                </a:path>
                <a:path w="653600" h="155800" fill="none">
                  <a:moveTo>
                    <a:pt x="0" y="155800"/>
                  </a:moveTo>
                  <a:lnTo>
                    <a:pt x="653600" y="155800"/>
                  </a:lnTo>
                </a:path>
              </a:pathLst>
            </a:custGeom>
            <a:noFill/>
            <a:ln w="7600" cap="flat">
              <a:solidFill>
                <a:srgbClr val="3D3FA6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sz="12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数据模型升级</a:t>
              </a:r>
              <a:endParaRPr sz="12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SubTopic"/>
            <p:cNvSpPr/>
            <p:nvPr/>
          </p:nvSpPr>
          <p:spPr>
            <a:xfrm>
              <a:off x="6172275" y="2866222"/>
              <a:ext cx="456000" cy="152000"/>
            </a:xfrm>
            <a:custGeom>
              <a:avLst/>
              <a:gdLst>
                <a:gd name="rtt" fmla="*/ 15200 h 152000"/>
                <a:gd name="rtb" fmla="*/ 129200 h 152000"/>
              </a:gdLst>
              <a:ahLst/>
              <a:cxnLst/>
              <a:rect l="l" t="rtt" r="r" b="rtb"/>
              <a:pathLst>
                <a:path w="456000" h="152000" stroke="0">
                  <a:moveTo>
                    <a:pt x="0" y="0"/>
                  </a:moveTo>
                  <a:lnTo>
                    <a:pt x="456000" y="0"/>
                  </a:lnTo>
                  <a:lnTo>
                    <a:pt x="456000" y="152000"/>
                  </a:lnTo>
                  <a:lnTo>
                    <a:pt x="0" y="152000"/>
                  </a:lnTo>
                  <a:lnTo>
                    <a:pt x="0" y="0"/>
                  </a:lnTo>
                  <a:close/>
                </a:path>
                <a:path w="456000" h="152000" fill="none">
                  <a:moveTo>
                    <a:pt x="0" y="152000"/>
                  </a:moveTo>
                  <a:lnTo>
                    <a:pt x="456000" y="152000"/>
                  </a:lnTo>
                </a:path>
              </a:pathLst>
            </a:custGeom>
            <a:noFill/>
            <a:ln w="7600" cap="flat">
              <a:solidFill>
                <a:srgbClr val="3D3FA6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000" dirty="0" smtClean="0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数据标准化</a:t>
              </a:r>
              <a:endParaRPr sz="10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SubTopic"/>
            <p:cNvSpPr/>
            <p:nvPr/>
          </p:nvSpPr>
          <p:spPr>
            <a:xfrm>
              <a:off x="6172275" y="3064187"/>
              <a:ext cx="456000" cy="152000"/>
            </a:xfrm>
            <a:custGeom>
              <a:avLst/>
              <a:gdLst>
                <a:gd name="rtt" fmla="*/ 15200 h 152000"/>
                <a:gd name="rtb" fmla="*/ 129200 h 152000"/>
              </a:gdLst>
              <a:ahLst/>
              <a:cxnLst/>
              <a:rect l="l" t="rtt" r="r" b="rtb"/>
              <a:pathLst>
                <a:path w="456000" h="152000" stroke="0">
                  <a:moveTo>
                    <a:pt x="0" y="0"/>
                  </a:moveTo>
                  <a:lnTo>
                    <a:pt x="456000" y="0"/>
                  </a:lnTo>
                  <a:lnTo>
                    <a:pt x="456000" y="152000"/>
                  </a:lnTo>
                  <a:lnTo>
                    <a:pt x="0" y="152000"/>
                  </a:lnTo>
                  <a:lnTo>
                    <a:pt x="0" y="0"/>
                  </a:lnTo>
                  <a:close/>
                </a:path>
                <a:path w="456000" h="152000" fill="none">
                  <a:moveTo>
                    <a:pt x="0" y="152000"/>
                  </a:moveTo>
                  <a:lnTo>
                    <a:pt x="456000" y="152000"/>
                  </a:lnTo>
                </a:path>
              </a:pathLst>
            </a:custGeom>
            <a:noFill/>
            <a:ln w="7600" cap="flat">
              <a:solidFill>
                <a:srgbClr val="3D3FA6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000" dirty="0" smtClean="0">
                  <a:solidFill>
                    <a:srgbClr val="303030"/>
                  </a:solidFill>
                  <a:latin typeface="+mj-ea"/>
                  <a:ea typeface="+mj-ea"/>
                </a:rPr>
                <a:t>开发规范化</a:t>
              </a:r>
              <a:endParaRPr sz="1000" dirty="0">
                <a:solidFill>
                  <a:srgbClr val="303030"/>
                </a:solidFill>
                <a:latin typeface="+mj-ea"/>
                <a:ea typeface="+mj-ea"/>
              </a:endParaRPr>
            </a:p>
          </p:txBody>
        </p:sp>
        <p:sp>
          <p:nvSpPr>
            <p:cNvPr id="45" name="SubTopic"/>
            <p:cNvSpPr/>
            <p:nvPr/>
          </p:nvSpPr>
          <p:spPr>
            <a:xfrm>
              <a:off x="6172275" y="3657000"/>
              <a:ext cx="456000" cy="152000"/>
            </a:xfrm>
            <a:custGeom>
              <a:avLst/>
              <a:gdLst>
                <a:gd name="rtt" fmla="*/ 15200 h 152000"/>
                <a:gd name="rtb" fmla="*/ 129200 h 152000"/>
              </a:gdLst>
              <a:ahLst/>
              <a:cxnLst/>
              <a:rect l="l" t="rtt" r="r" b="rtb"/>
              <a:pathLst>
                <a:path w="456000" h="152000" stroke="0">
                  <a:moveTo>
                    <a:pt x="0" y="0"/>
                  </a:moveTo>
                  <a:lnTo>
                    <a:pt x="456000" y="0"/>
                  </a:lnTo>
                  <a:lnTo>
                    <a:pt x="456000" y="152000"/>
                  </a:lnTo>
                  <a:lnTo>
                    <a:pt x="0" y="152000"/>
                  </a:lnTo>
                  <a:lnTo>
                    <a:pt x="0" y="0"/>
                  </a:lnTo>
                  <a:close/>
                </a:path>
                <a:path w="456000" h="152000" fill="none">
                  <a:moveTo>
                    <a:pt x="0" y="152000"/>
                  </a:moveTo>
                  <a:lnTo>
                    <a:pt x="456000" y="152000"/>
                  </a:lnTo>
                </a:path>
              </a:pathLst>
            </a:custGeom>
            <a:noFill/>
            <a:ln w="7600" cap="flat">
              <a:solidFill>
                <a:srgbClr val="3D3FA6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000" dirty="0" smtClean="0">
                  <a:solidFill>
                    <a:srgbClr val="303030"/>
                  </a:solidFill>
                  <a:latin typeface="+mj-ea"/>
                  <a:ea typeface="+mj-ea"/>
                </a:rPr>
                <a:t>架构调整</a:t>
              </a:r>
              <a:endParaRPr sz="1000" dirty="0">
                <a:solidFill>
                  <a:srgbClr val="303030"/>
                </a:solidFill>
                <a:latin typeface="+mj-ea"/>
                <a:ea typeface="+mj-ea"/>
              </a:endParaRPr>
            </a:p>
          </p:txBody>
        </p:sp>
        <p:sp>
          <p:nvSpPr>
            <p:cNvPr id="46" name="SubTopic"/>
            <p:cNvSpPr/>
            <p:nvPr/>
          </p:nvSpPr>
          <p:spPr>
            <a:xfrm>
              <a:off x="6141892" y="3854600"/>
              <a:ext cx="554800" cy="152000"/>
            </a:xfrm>
            <a:custGeom>
              <a:avLst/>
              <a:gdLst>
                <a:gd name="rtt" fmla="*/ 15200 h 152000"/>
                <a:gd name="rtb" fmla="*/ 129200 h 152000"/>
              </a:gdLst>
              <a:ahLst/>
              <a:cxnLst/>
              <a:rect l="l" t="rtt" r="r" b="rtb"/>
              <a:pathLst>
                <a:path w="554800" h="152000" stroke="0">
                  <a:moveTo>
                    <a:pt x="0" y="0"/>
                  </a:moveTo>
                  <a:lnTo>
                    <a:pt x="554800" y="0"/>
                  </a:lnTo>
                  <a:lnTo>
                    <a:pt x="554800" y="152000"/>
                  </a:lnTo>
                  <a:lnTo>
                    <a:pt x="0" y="152000"/>
                  </a:lnTo>
                  <a:lnTo>
                    <a:pt x="0" y="0"/>
                  </a:lnTo>
                  <a:close/>
                </a:path>
                <a:path w="554800" h="152000" fill="none">
                  <a:moveTo>
                    <a:pt x="0" y="152000"/>
                  </a:moveTo>
                  <a:lnTo>
                    <a:pt x="554800" y="152000"/>
                  </a:lnTo>
                </a:path>
              </a:pathLst>
            </a:custGeom>
            <a:noFill/>
            <a:ln w="7600" cap="flat">
              <a:solidFill>
                <a:srgbClr val="3D3FA6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000" dirty="0" smtClean="0">
                  <a:solidFill>
                    <a:srgbClr val="303030"/>
                  </a:solidFill>
                  <a:latin typeface="+mj-ea"/>
                  <a:ea typeface="+mj-ea"/>
                </a:rPr>
                <a:t>主题改造</a:t>
              </a:r>
              <a:endParaRPr sz="1000" dirty="0">
                <a:solidFill>
                  <a:srgbClr val="303030"/>
                </a:solidFill>
                <a:latin typeface="+mj-ea"/>
                <a:ea typeface="+mj-ea"/>
              </a:endParaRPr>
            </a:p>
          </p:txBody>
        </p:sp>
        <p:sp>
          <p:nvSpPr>
            <p:cNvPr id="48" name="SubTopic"/>
            <p:cNvSpPr/>
            <p:nvPr/>
          </p:nvSpPr>
          <p:spPr>
            <a:xfrm>
              <a:off x="5564275" y="2376400"/>
              <a:ext cx="1064000" cy="155800"/>
            </a:xfrm>
            <a:custGeom>
              <a:avLst/>
              <a:gdLst>
                <a:gd name="rtt" fmla="*/ 28500 h 155800"/>
                <a:gd name="rtb" fmla="*/ 142500 h 155800"/>
              </a:gdLst>
              <a:ahLst/>
              <a:cxnLst/>
              <a:rect l="l" t="rtt" r="r" b="rtb"/>
              <a:pathLst>
                <a:path w="1064000" h="155800" stroke="0">
                  <a:moveTo>
                    <a:pt x="0" y="0"/>
                  </a:moveTo>
                  <a:lnTo>
                    <a:pt x="1064000" y="0"/>
                  </a:lnTo>
                  <a:lnTo>
                    <a:pt x="1064000" y="155800"/>
                  </a:lnTo>
                  <a:lnTo>
                    <a:pt x="0" y="155800"/>
                  </a:lnTo>
                  <a:lnTo>
                    <a:pt x="0" y="0"/>
                  </a:lnTo>
                  <a:close/>
                </a:path>
                <a:path w="1064000" h="155800" fill="none">
                  <a:moveTo>
                    <a:pt x="0" y="155800"/>
                  </a:moveTo>
                  <a:lnTo>
                    <a:pt x="1064000" y="155800"/>
                  </a:lnTo>
                </a:path>
              </a:pathLst>
            </a:custGeom>
            <a:noFill/>
            <a:ln w="7600" cap="flat">
              <a:solidFill>
                <a:srgbClr val="02AE3D"/>
              </a:solidFill>
              <a:round/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sz="1200" dirty="0" err="1">
                  <a:solidFill>
                    <a:srgbClr val="30303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其他中心cube模型建设</a:t>
              </a:r>
              <a:endParaRPr sz="1200" dirty="0">
                <a:solidFill>
                  <a:srgbClr val="30303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887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</p:spPr>
        <p:txBody>
          <a:bodyPr/>
          <a:lstStyle/>
          <a:p>
            <a:r>
              <a:rPr lang="en-US" altLang="zh-CN" dirty="0" smtClean="0"/>
              <a:t>2019</a:t>
            </a:r>
            <a:r>
              <a:rPr lang="zh-CN" altLang="en-US" dirty="0" smtClean="0"/>
              <a:t>年成长计划</a:t>
            </a:r>
            <a:endParaRPr lang="zh-CN" altLang="en-US" dirty="0"/>
          </a:p>
        </p:txBody>
      </p:sp>
      <p:sp>
        <p:nvSpPr>
          <p:cNvPr id="15" name="Satellite"/>
          <p:cNvSpPr/>
          <p:nvPr/>
        </p:nvSpPr>
        <p:spPr>
          <a:xfrm>
            <a:off x="4620680" y="1140515"/>
            <a:ext cx="2853050" cy="2847083"/>
          </a:xfrm>
          <a:custGeom>
            <a:avLst/>
            <a:gdLst/>
            <a:ahLst/>
            <a:cxnLst/>
            <a:rect l="0" t="0" r="0" b="0"/>
            <a:pathLst>
              <a:path w="1793600" h="1793600">
                <a:moveTo>
                  <a:pt x="0" y="896800"/>
                </a:moveTo>
                <a:cubicBezTo>
                  <a:pt x="0" y="401512"/>
                  <a:pt x="401512" y="0"/>
                  <a:pt x="896800" y="0"/>
                </a:cubicBezTo>
                <a:cubicBezTo>
                  <a:pt x="1392092" y="0"/>
                  <a:pt x="1793600" y="401512"/>
                  <a:pt x="1793600" y="896800"/>
                </a:cubicBezTo>
                <a:cubicBezTo>
                  <a:pt x="1793600" y="1392092"/>
                  <a:pt x="1392092" y="1793600"/>
                  <a:pt x="896800" y="1793600"/>
                </a:cubicBezTo>
                <a:cubicBezTo>
                  <a:pt x="401512" y="1793600"/>
                  <a:pt x="0" y="1392092"/>
                  <a:pt x="0" y="896800"/>
                </a:cubicBezTo>
                <a:close/>
              </a:path>
            </a:pathLst>
          </a:custGeom>
          <a:solidFill>
            <a:srgbClr val="3498DB">
              <a:alpha val="40000"/>
            </a:srgbClr>
          </a:solidFill>
          <a:ln w="7600" cap="flat">
            <a:solidFill>
              <a:srgbClr val="3498DB">
                <a:alpha val="40000"/>
              </a:srgbClr>
            </a:solidFill>
            <a:bevel/>
          </a:ln>
        </p:spPr>
      </p:sp>
      <p:sp>
        <p:nvSpPr>
          <p:cNvPr id="16" name="Satellite"/>
          <p:cNvSpPr/>
          <p:nvPr/>
        </p:nvSpPr>
        <p:spPr>
          <a:xfrm>
            <a:off x="3441154" y="3114592"/>
            <a:ext cx="2853050" cy="2847083"/>
          </a:xfrm>
          <a:custGeom>
            <a:avLst/>
            <a:gdLst/>
            <a:ahLst/>
            <a:cxnLst/>
            <a:rect l="0" t="0" r="0" b="0"/>
            <a:pathLst>
              <a:path w="1793600" h="1793600">
                <a:moveTo>
                  <a:pt x="0" y="896800"/>
                </a:moveTo>
                <a:cubicBezTo>
                  <a:pt x="0" y="401512"/>
                  <a:pt x="401512" y="0"/>
                  <a:pt x="896800" y="0"/>
                </a:cubicBezTo>
                <a:cubicBezTo>
                  <a:pt x="1392092" y="0"/>
                  <a:pt x="1793600" y="401512"/>
                  <a:pt x="1793600" y="896800"/>
                </a:cubicBezTo>
                <a:cubicBezTo>
                  <a:pt x="1793600" y="1392092"/>
                  <a:pt x="1392092" y="1793600"/>
                  <a:pt x="896800" y="1793600"/>
                </a:cubicBezTo>
                <a:cubicBezTo>
                  <a:pt x="401512" y="1793600"/>
                  <a:pt x="0" y="1392092"/>
                  <a:pt x="0" y="896800"/>
                </a:cubicBezTo>
                <a:close/>
              </a:path>
            </a:pathLst>
          </a:custGeom>
          <a:solidFill>
            <a:srgbClr val="1BBC9D">
              <a:alpha val="40000"/>
            </a:srgbClr>
          </a:solidFill>
          <a:ln w="7600" cap="flat">
            <a:solidFill>
              <a:srgbClr val="1BBC9D">
                <a:alpha val="40000"/>
              </a:srgbClr>
            </a:solidFill>
            <a:bevel/>
          </a:ln>
        </p:spPr>
      </p:sp>
      <p:sp>
        <p:nvSpPr>
          <p:cNvPr id="17" name="Satellite"/>
          <p:cNvSpPr/>
          <p:nvPr/>
        </p:nvSpPr>
        <p:spPr>
          <a:xfrm>
            <a:off x="5800205" y="3114592"/>
            <a:ext cx="2853050" cy="2847083"/>
          </a:xfrm>
          <a:custGeom>
            <a:avLst/>
            <a:gdLst/>
            <a:ahLst/>
            <a:cxnLst/>
            <a:rect l="0" t="0" r="0" b="0"/>
            <a:pathLst>
              <a:path w="1793600" h="1793600">
                <a:moveTo>
                  <a:pt x="0" y="896800"/>
                </a:moveTo>
                <a:cubicBezTo>
                  <a:pt x="0" y="401512"/>
                  <a:pt x="401512" y="0"/>
                  <a:pt x="896800" y="0"/>
                </a:cubicBezTo>
                <a:cubicBezTo>
                  <a:pt x="1392092" y="0"/>
                  <a:pt x="1793600" y="401512"/>
                  <a:pt x="1793600" y="896800"/>
                </a:cubicBezTo>
                <a:cubicBezTo>
                  <a:pt x="1793600" y="1392092"/>
                  <a:pt x="1392092" y="1793600"/>
                  <a:pt x="896800" y="1793600"/>
                </a:cubicBezTo>
                <a:cubicBezTo>
                  <a:pt x="401512" y="1793600"/>
                  <a:pt x="0" y="1392092"/>
                  <a:pt x="0" y="896800"/>
                </a:cubicBezTo>
                <a:close/>
              </a:path>
            </a:pathLst>
          </a:custGeom>
          <a:solidFill>
            <a:srgbClr val="EE7C31">
              <a:alpha val="40000"/>
            </a:srgbClr>
          </a:solidFill>
          <a:ln w="7600" cap="flat">
            <a:solidFill>
              <a:srgbClr val="EE7C31">
                <a:alpha val="40000"/>
              </a:srgbClr>
            </a:solidFill>
            <a:bevel/>
          </a:ln>
        </p:spPr>
      </p:sp>
      <p:sp>
        <p:nvSpPr>
          <p:cNvPr id="32" name="Text 130"/>
          <p:cNvSpPr txBox="1"/>
          <p:nvPr/>
        </p:nvSpPr>
        <p:spPr>
          <a:xfrm>
            <a:off x="2051600" y="3289562"/>
            <a:ext cx="1199394" cy="736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dirty="0" err="1" smtClean="0">
                <a:solidFill>
                  <a:srgbClr val="595959"/>
                </a:solidFill>
                <a:latin typeface="+mj-ea"/>
                <a:ea typeface="+mj-ea"/>
              </a:rPr>
              <a:t>理论学习</a:t>
            </a:r>
            <a:endParaRPr lang="en-US" dirty="0" smtClean="0">
              <a:solidFill>
                <a:srgbClr val="595959"/>
              </a:solidFill>
              <a:latin typeface="+mj-ea"/>
              <a:ea typeface="+mj-ea"/>
            </a:endParaRPr>
          </a:p>
          <a:p>
            <a:pPr algn="r">
              <a:lnSpc>
                <a:spcPct val="100000"/>
              </a:lnSpc>
            </a:pPr>
            <a:endParaRPr lang="en-US" dirty="0" smtClean="0">
              <a:solidFill>
                <a:srgbClr val="595959"/>
              </a:solidFill>
              <a:latin typeface="+mj-ea"/>
              <a:ea typeface="+mj-ea"/>
            </a:endParaRPr>
          </a:p>
          <a:p>
            <a:pPr algn="r">
              <a:lnSpc>
                <a:spcPct val="10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+mj-ea"/>
                <a:ea typeface="+mj-ea"/>
              </a:rPr>
              <a:t>大数据框架</a:t>
            </a:r>
            <a:endParaRPr lang="en-US" altLang="zh-CN" dirty="0" smtClean="0">
              <a:solidFill>
                <a:srgbClr val="595959"/>
              </a:solidFill>
              <a:latin typeface="+mj-ea"/>
              <a:ea typeface="+mj-ea"/>
            </a:endParaRPr>
          </a:p>
          <a:p>
            <a:pPr algn="r">
              <a:lnSpc>
                <a:spcPct val="100000"/>
              </a:lnSpc>
            </a:pPr>
            <a:r>
              <a:rPr lang="zh-CN" altLang="en-US" dirty="0" smtClean="0">
                <a:solidFill>
                  <a:srgbClr val="595959"/>
                </a:solidFill>
                <a:latin typeface="+mj-ea"/>
                <a:ea typeface="+mj-ea"/>
              </a:rPr>
              <a:t>建模方法</a:t>
            </a:r>
            <a:endParaRPr lang="en-US" altLang="zh-CN" dirty="0" smtClean="0">
              <a:solidFill>
                <a:srgbClr val="595959"/>
              </a:solidFill>
              <a:latin typeface="+mj-ea"/>
              <a:ea typeface="+mj-ea"/>
            </a:endParaRPr>
          </a:p>
          <a:p>
            <a:pPr algn="r">
              <a:lnSpc>
                <a:spcPct val="100000"/>
              </a:lnSpc>
            </a:pPr>
            <a:endParaRPr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sp>
        <p:nvSpPr>
          <p:cNvPr id="33" name="Text 131"/>
          <p:cNvSpPr txBox="1"/>
          <p:nvPr/>
        </p:nvSpPr>
        <p:spPr>
          <a:xfrm>
            <a:off x="8056698" y="1870488"/>
            <a:ext cx="1070832" cy="43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dirty="0" err="1">
                <a:solidFill>
                  <a:srgbClr val="595959"/>
                </a:solidFill>
                <a:latin typeface="+mj-ea"/>
                <a:ea typeface="+mj-ea"/>
              </a:rPr>
              <a:t>背景提升</a:t>
            </a:r>
            <a:endParaRPr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sp>
        <p:nvSpPr>
          <p:cNvPr id="34" name="Text 132"/>
          <p:cNvSpPr txBox="1"/>
          <p:nvPr/>
        </p:nvSpPr>
        <p:spPr>
          <a:xfrm>
            <a:off x="9091582" y="5003783"/>
            <a:ext cx="1163385" cy="43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dirty="0" err="1" smtClean="0">
                <a:solidFill>
                  <a:srgbClr val="595959"/>
                </a:solidFill>
                <a:latin typeface="+mj-ea"/>
                <a:ea typeface="+mj-ea"/>
              </a:rPr>
              <a:t>技能增强</a:t>
            </a:r>
            <a:endParaRPr lang="en-US" dirty="0">
              <a:solidFill>
                <a:srgbClr val="595959"/>
              </a:solidFill>
              <a:latin typeface="+mj-ea"/>
              <a:ea typeface="+mj-ea"/>
            </a:endParaRPr>
          </a:p>
          <a:p>
            <a:pPr algn="l">
              <a:lnSpc>
                <a:spcPct val="100000"/>
              </a:lnSpc>
            </a:pPr>
            <a:endParaRPr dirty="0">
              <a:solidFill>
                <a:srgbClr val="595959"/>
              </a:solidFill>
              <a:latin typeface="+mj-ea"/>
              <a:ea typeface="+mj-ea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872627" y="2090216"/>
            <a:ext cx="1141094" cy="357200"/>
          </a:xfrm>
          <a:custGeom>
            <a:avLst/>
            <a:gdLst/>
            <a:ahLst/>
            <a:cxnLst/>
            <a:rect l="0" t="0" r="0" b="0"/>
            <a:pathLst>
              <a:path w="1141094" h="357200" fill="none">
                <a:moveTo>
                  <a:pt x="0" y="357200"/>
                </a:moveTo>
                <a:lnTo>
                  <a:pt x="418000" y="0"/>
                </a:lnTo>
                <a:lnTo>
                  <a:pt x="1141094" y="0"/>
                </a:lnTo>
              </a:path>
            </a:pathLst>
          </a:custGeom>
          <a:solidFill>
            <a:srgbClr val="717070"/>
          </a:solidFill>
          <a:ln w="20267" cap="flat">
            <a:solidFill>
              <a:srgbClr val="717070"/>
            </a:solidFill>
            <a:bevel/>
            <a:headEnd type="oval" w="med" len="med"/>
          </a:ln>
        </p:spPr>
      </p:sp>
      <p:sp>
        <p:nvSpPr>
          <p:cNvPr id="36" name="任意多边形 35"/>
          <p:cNvSpPr/>
          <p:nvPr/>
        </p:nvSpPr>
        <p:spPr>
          <a:xfrm flipV="1">
            <a:off x="7575971" y="4759628"/>
            <a:ext cx="1402641" cy="463421"/>
          </a:xfrm>
          <a:custGeom>
            <a:avLst/>
            <a:gdLst/>
            <a:ahLst/>
            <a:cxnLst/>
            <a:rect l="0" t="0" r="0" b="0"/>
            <a:pathLst>
              <a:path w="1402641" h="463421" fill="none">
                <a:moveTo>
                  <a:pt x="0" y="463421"/>
                </a:moveTo>
                <a:lnTo>
                  <a:pt x="577600" y="0"/>
                </a:lnTo>
                <a:lnTo>
                  <a:pt x="1402641" y="0"/>
                </a:lnTo>
              </a:path>
            </a:pathLst>
          </a:custGeom>
          <a:solidFill>
            <a:srgbClr val="FFFFFF"/>
          </a:solidFill>
          <a:ln w="20267" cap="flat">
            <a:solidFill>
              <a:srgbClr val="717070"/>
            </a:solidFill>
            <a:bevel/>
            <a:headEnd type="oval" w="med" len="med"/>
          </a:ln>
        </p:spPr>
      </p:sp>
      <p:sp>
        <p:nvSpPr>
          <p:cNvPr id="37" name="任意多边形 36"/>
          <p:cNvSpPr/>
          <p:nvPr/>
        </p:nvSpPr>
        <p:spPr>
          <a:xfrm flipH="1">
            <a:off x="3350402" y="3652916"/>
            <a:ext cx="1297206" cy="612647"/>
          </a:xfrm>
          <a:custGeom>
            <a:avLst/>
            <a:gdLst/>
            <a:ahLst/>
            <a:cxnLst/>
            <a:rect l="0" t="0" r="0" b="0"/>
            <a:pathLst>
              <a:path w="1297206" h="612647" fill="none">
                <a:moveTo>
                  <a:pt x="0" y="612647"/>
                </a:moveTo>
                <a:lnTo>
                  <a:pt x="548836" y="0"/>
                </a:lnTo>
                <a:lnTo>
                  <a:pt x="1297206" y="0"/>
                </a:lnTo>
              </a:path>
            </a:pathLst>
          </a:custGeom>
          <a:solidFill>
            <a:srgbClr val="FFFFFF"/>
          </a:solidFill>
          <a:ln w="20267" cap="flat">
            <a:solidFill>
              <a:srgbClr val="717070"/>
            </a:solidFill>
            <a:bevel/>
            <a:headEnd type="oval" w="med" len="med"/>
          </a:ln>
        </p:spPr>
      </p:sp>
      <p:sp>
        <p:nvSpPr>
          <p:cNvPr id="38" name="任意多边形 37"/>
          <p:cNvSpPr/>
          <p:nvPr/>
        </p:nvSpPr>
        <p:spPr>
          <a:xfrm>
            <a:off x="7982362" y="1892616"/>
            <a:ext cx="20171" cy="395200"/>
          </a:xfrm>
          <a:custGeom>
            <a:avLst/>
            <a:gdLst/>
            <a:ahLst/>
            <a:cxnLst/>
            <a:rect l="0" t="0" r="0" b="0"/>
            <a:pathLst>
              <a:path w="20171" h="395200">
                <a:moveTo>
                  <a:pt x="0" y="0"/>
                </a:moveTo>
                <a:lnTo>
                  <a:pt x="20171" y="0"/>
                </a:lnTo>
                <a:lnTo>
                  <a:pt x="20171" y="395200"/>
                </a:lnTo>
                <a:lnTo>
                  <a:pt x="0" y="395200"/>
                </a:lnTo>
                <a:lnTo>
                  <a:pt x="0" y="0"/>
                </a:lnTo>
                <a:close/>
              </a:path>
            </a:pathLst>
          </a:custGeom>
          <a:solidFill>
            <a:srgbClr val="717070"/>
          </a:solidFill>
          <a:ln w="7600" cap="flat">
            <a:solidFill>
              <a:srgbClr val="717070"/>
            </a:solidFill>
            <a:bevel/>
          </a:ln>
        </p:spPr>
      </p:sp>
      <p:sp>
        <p:nvSpPr>
          <p:cNvPr id="39" name="任意多边形 38"/>
          <p:cNvSpPr/>
          <p:nvPr/>
        </p:nvSpPr>
        <p:spPr>
          <a:xfrm>
            <a:off x="8974248" y="5019162"/>
            <a:ext cx="20171" cy="410398"/>
          </a:xfrm>
          <a:custGeom>
            <a:avLst/>
            <a:gdLst/>
            <a:ahLst/>
            <a:cxnLst/>
            <a:rect l="0" t="0" r="0" b="0"/>
            <a:pathLst>
              <a:path w="20171" h="410398">
                <a:moveTo>
                  <a:pt x="0" y="0"/>
                </a:moveTo>
                <a:lnTo>
                  <a:pt x="20171" y="0"/>
                </a:lnTo>
                <a:lnTo>
                  <a:pt x="20171" y="410398"/>
                </a:lnTo>
                <a:lnTo>
                  <a:pt x="0" y="410398"/>
                </a:lnTo>
                <a:lnTo>
                  <a:pt x="0" y="0"/>
                </a:lnTo>
                <a:close/>
              </a:path>
            </a:pathLst>
          </a:custGeom>
          <a:solidFill>
            <a:srgbClr val="717070"/>
          </a:solidFill>
          <a:ln w="7600" cap="flat">
            <a:solidFill>
              <a:srgbClr val="717070"/>
            </a:solidFill>
            <a:bevel/>
          </a:ln>
        </p:spPr>
      </p:sp>
      <p:sp>
        <p:nvSpPr>
          <p:cNvPr id="40" name="任意多边形 39"/>
          <p:cNvSpPr/>
          <p:nvPr/>
        </p:nvSpPr>
        <p:spPr>
          <a:xfrm>
            <a:off x="3329589" y="3335161"/>
            <a:ext cx="20171" cy="656557"/>
          </a:xfrm>
          <a:custGeom>
            <a:avLst/>
            <a:gdLst/>
            <a:ahLst/>
            <a:cxnLst/>
            <a:rect l="0" t="0" r="0" b="0"/>
            <a:pathLst>
              <a:path w="20171" h="656557">
                <a:moveTo>
                  <a:pt x="0" y="0"/>
                </a:moveTo>
                <a:lnTo>
                  <a:pt x="20171" y="0"/>
                </a:lnTo>
                <a:lnTo>
                  <a:pt x="20171" y="656557"/>
                </a:lnTo>
                <a:lnTo>
                  <a:pt x="0" y="656557"/>
                </a:lnTo>
                <a:lnTo>
                  <a:pt x="0" y="0"/>
                </a:lnTo>
                <a:close/>
              </a:path>
            </a:pathLst>
          </a:custGeom>
          <a:solidFill>
            <a:srgbClr val="717070"/>
          </a:solidFill>
          <a:ln w="7600" cap="flat">
            <a:solidFill>
              <a:srgbClr val="717070"/>
            </a:solidFill>
            <a:bevel/>
          </a:ln>
        </p:spPr>
      </p:sp>
    </p:spTree>
    <p:extLst>
      <p:ext uri="{BB962C8B-B14F-4D97-AF65-F5344CB8AC3E}">
        <p14:creationId xmlns:p14="http://schemas.microsoft.com/office/powerpoint/2010/main" val="3465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70532" y="2738735"/>
            <a:ext cx="203773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55279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7881</TotalTime>
  <Words>209</Words>
  <Application>Microsoft Office PowerPoint</Application>
  <PresentationFormat>宽屏</PresentationFormat>
  <Paragraphs>63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等线</vt:lpstr>
      <vt:lpstr>黑体</vt:lpstr>
      <vt:lpstr>宋体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2018年工作总结</vt:lpstr>
      <vt:lpstr>2018年工作回顾</vt:lpstr>
      <vt:lpstr>2019年工作规划</vt:lpstr>
      <vt:lpstr>2019年成长计划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1138</cp:revision>
  <cp:lastPrinted>2017-11-27T05:08:00Z</cp:lastPrinted>
  <dcterms:created xsi:type="dcterms:W3CDTF">2017-05-03T04:04:00Z</dcterms:created>
  <dcterms:modified xsi:type="dcterms:W3CDTF">2019-01-03T10:17:58Z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