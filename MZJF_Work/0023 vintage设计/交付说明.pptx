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402" r:id="rId2"/>
    <p:sldId id="434" r:id="rId3"/>
    <p:sldId id="436" r:id="rId4"/>
    <p:sldId id="437" r:id="rId5"/>
    <p:sldId id="438" r:id="rId6"/>
    <p:sldId id="439" r:id="rId7"/>
  </p:sldIdLst>
  <p:sldSz cx="12192000" cy="6858000"/>
  <p:notesSz cx="6858000" cy="99472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AD47"/>
    <a:srgbClr val="F8931D"/>
    <a:srgbClr val="FAAF54"/>
    <a:srgbClr val="FCD09A"/>
    <a:srgbClr val="CA6F06"/>
    <a:srgbClr val="D6892D"/>
    <a:srgbClr val="D6BA80"/>
    <a:srgbClr val="F9F1E5"/>
    <a:srgbClr val="FCDCCC"/>
    <a:srgbClr val="FEE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45" autoAdjust="0"/>
    <p:restoredTop sz="93419" autoAdjust="0"/>
  </p:normalViewPr>
  <p:slideViewPr>
    <p:cSldViewPr snapToGrid="0">
      <p:cViewPr>
        <p:scale>
          <a:sx n="75" d="100"/>
          <a:sy n="75" d="100"/>
        </p:scale>
        <p:origin x="630" y="-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2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72352-F581-4AD1-A80D-F9B4F521670A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27B8B-008C-46E6-9437-9D1EB543B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99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327B8B-008C-46E6-9437-9D1EB543BB7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84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05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Kylin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是一个开源的、基于</a:t>
            </a:r>
            <a:r>
              <a:rPr lang="en-US" altLang="zh-CN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Hadoop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的多维数据分析引擎，能够实现大数据量的亚秒级响应。</a:t>
            </a:r>
            <a:endParaRPr lang="en-US" altLang="zh-CN" sz="105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05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核心思想是预计算（以空间换时间），即对多维分析可能用到的度量进行预计算，将计算好的结果保存成</a:t>
            </a:r>
            <a:r>
              <a:rPr lang="en-US" altLang="zh-CN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Cube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存储在</a:t>
            </a:r>
            <a:r>
              <a:rPr lang="en-US" altLang="zh-CN" sz="105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HTable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，当查询到达时直接访问预计算的结果，省去对源数据的扫描和计算，极大减少在线计算和读写</a:t>
            </a:r>
            <a:r>
              <a:rPr lang="en-US" altLang="zh-CN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I/O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的代价。</a:t>
            </a:r>
            <a:endParaRPr lang="en-US" altLang="zh-CN" sz="105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05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05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Kylin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主要有两个服务，</a:t>
            </a:r>
            <a:r>
              <a:rPr lang="en-US" altLang="zh-CN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 Engine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Cube Build Engine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 Engine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负责接收查询请求，</a:t>
            </a:r>
            <a:r>
              <a:rPr lang="en-US" altLang="zh-CN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Cube Build Engine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负责构建</a:t>
            </a:r>
            <a:r>
              <a:rPr lang="en-US" altLang="zh-CN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Cube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，包括创建模型、创建</a:t>
            </a:r>
            <a:r>
              <a:rPr lang="en-US" altLang="zh-CN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Cube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、刷新</a:t>
            </a:r>
            <a:r>
              <a:rPr lang="en-US" altLang="zh-CN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Cube</a:t>
            </a:r>
            <a:r>
              <a:rPr lang="zh-CN" altLang="en-US" sz="105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等操作。</a:t>
            </a:r>
            <a:endParaRPr kumimoji="1" lang="zh-CN" altLang="en-US" sz="1050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327B8B-008C-46E6-9437-9D1EB543BB7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75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327B8B-008C-46E6-9437-9D1EB543BB7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042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327B8B-008C-46E6-9437-9D1EB543BB7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40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327B8B-008C-46E6-9437-9D1EB543BB7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363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327B8B-008C-46E6-9437-9D1EB543BB7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18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1"/>
          <a:stretch>
            <a:fillRect/>
          </a:stretch>
        </p:blipFill>
        <p:spPr bwMode="auto">
          <a:xfrm>
            <a:off x="2491726" y="0"/>
            <a:ext cx="970027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/>
          </p:nvPr>
        </p:nvSpPr>
        <p:spPr bwMode="auto">
          <a:xfrm>
            <a:off x="220605" y="2130425"/>
            <a:ext cx="6683222" cy="15430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42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noProof="0"/>
          </a:p>
        </p:txBody>
      </p:sp>
      <p:sp>
        <p:nvSpPr>
          <p:cNvPr id="2052" name="KSO_FD"/>
          <p:cNvSpPr>
            <a:spLocks noGrp="1" noChangeArrowheads="1"/>
          </p:cNvSpPr>
          <p:nvPr>
            <p:ph type="dt" sz="half" idx="2"/>
          </p:nvPr>
        </p:nvSpPr>
        <p:spPr>
          <a:xfrm>
            <a:off x="609441" y="6245225"/>
            <a:ext cx="2845647" cy="476250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2053" name="KSO_FT"/>
          <p:cNvSpPr>
            <a:spLocks noGrp="1" noChangeArrowheads="1"/>
          </p:cNvSpPr>
          <p:nvPr>
            <p:ph type="ftr" sz="quarter" idx="3"/>
          </p:nvPr>
        </p:nvSpPr>
        <p:spPr>
          <a:xfrm>
            <a:off x="4166103" y="6245225"/>
            <a:ext cx="3859795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54" name="KSO_FN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6913" y="6245225"/>
            <a:ext cx="2845646" cy="476250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55" name="KSO_BC1"/>
          <p:cNvSpPr>
            <a:spLocks noGrp="1" noChangeArrowheads="1"/>
          </p:cNvSpPr>
          <p:nvPr>
            <p:ph type="subTitle" idx="1" hasCustomPrompt="1"/>
          </p:nvPr>
        </p:nvSpPr>
        <p:spPr bwMode="auto">
          <a:xfrm>
            <a:off x="261870" y="3770313"/>
            <a:ext cx="6638783" cy="6064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 2" panose="05020102010507070707" pitchFamily="18" charset="2"/>
              <a:buNone/>
              <a:defRPr sz="1800"/>
            </a:lvl1pPr>
          </a:lstStyle>
          <a:p>
            <a:pPr lvl="0"/>
            <a:r>
              <a:rPr lang="zh-CN" altLang="en-US" noProof="0"/>
              <a:t>单击以编辑母版副标题样式</a:t>
            </a:r>
            <a:endParaRPr lang="zh-CN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2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E4F87-775F-44FA-8904-79E048AA9300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1085850"/>
            <a:ext cx="10820400" cy="50482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730250" indent="-285750">
              <a:spcBef>
                <a:spcPts val="0"/>
              </a:spcBef>
              <a:spcAft>
                <a:spcPts val="600"/>
              </a:spcAft>
              <a:buClr>
                <a:srgbClr val="D6892D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第一级</a:t>
            </a:r>
            <a:endParaRPr lang="en-US" altLang="zh-CN" dirty="0"/>
          </a:p>
          <a:p>
            <a:pPr lvl="2"/>
            <a:r>
              <a:rPr lang="zh-CN" altLang="en-US" dirty="0"/>
              <a:t>第二级</a:t>
            </a:r>
            <a:endParaRPr lang="en-US" altLang="zh-CN" dirty="0"/>
          </a:p>
          <a:p>
            <a:pPr lvl="3"/>
            <a:r>
              <a:rPr lang="zh-CN" altLang="en-US" dirty="0"/>
              <a:t>第三极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400692"/>
            <a:ext cx="10516036" cy="595901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7982" y="1243173"/>
            <a:ext cx="10516036" cy="4933790"/>
          </a:xfrm>
          <a:prstGeom prst="rect">
            <a:avLst/>
          </a:prstGeom>
        </p:spPr>
        <p:txBody>
          <a:bodyPr/>
          <a:lstStyle>
            <a:lvl1pPr>
              <a:defRPr lang="zh-CN" altLang="en-US" sz="2000" b="1" kern="1200" dirty="0" smtClean="0">
                <a:solidFill>
                  <a:srgbClr val="CA6F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1142365" indent="-228600">
              <a:buClr>
                <a:srgbClr val="D6BA80"/>
              </a:buClr>
              <a:buFont typeface="Wingdings" panose="05000000000000000000" pitchFamily="2" charset="2"/>
              <a:buChar char="l"/>
              <a:defRPr/>
            </a:lvl2pPr>
            <a:lvl3pPr marL="447675" indent="-227330">
              <a:defRPr lang="zh-CN" altLang="en-US" sz="20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3pPr>
            <a:lvl4pPr marL="714375" indent="-227330">
              <a:defRPr/>
            </a:lvl4pPr>
            <a:lvl5pPr marL="990600" indent="-227330"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634" y="1709739"/>
            <a:ext cx="10516036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634" y="4589464"/>
            <a:ext cx="10516036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0965" indent="0">
              <a:buNone/>
              <a:defRPr sz="1600"/>
            </a:lvl4pPr>
            <a:lvl5pPr marL="1828165" indent="0">
              <a:buNone/>
              <a:defRPr sz="1600"/>
            </a:lvl5pPr>
            <a:lvl6pPr marL="2285365" indent="0">
              <a:buNone/>
              <a:defRPr sz="1600"/>
            </a:lvl6pPr>
            <a:lvl7pPr marL="2742565" indent="0">
              <a:buNone/>
              <a:defRPr sz="1600"/>
            </a:lvl7pPr>
            <a:lvl8pPr marL="3199130" indent="0">
              <a:buNone/>
              <a:defRPr sz="1600"/>
            </a:lvl8pPr>
            <a:lvl9pPr marL="365633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7982" y="1825625"/>
            <a:ext cx="5181839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181" y="1825625"/>
            <a:ext cx="518183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570" y="1681163"/>
            <a:ext cx="515803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570" y="2505075"/>
            <a:ext cx="515803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181" y="1681163"/>
            <a:ext cx="5183425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181" y="2505075"/>
            <a:ext cx="5183425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0965" indent="0">
              <a:buNone/>
              <a:defRPr sz="2000"/>
            </a:lvl4pPr>
            <a:lvl5pPr marL="1828165" indent="0">
              <a:buNone/>
              <a:defRPr sz="2000"/>
            </a:lvl5pPr>
            <a:lvl6pPr marL="2285365" indent="0">
              <a:buNone/>
              <a:defRPr sz="2000"/>
            </a:lvl6pPr>
            <a:lvl7pPr marL="2742565" indent="0">
              <a:buNone/>
              <a:defRPr sz="2000"/>
            </a:lvl7pPr>
            <a:lvl8pPr marL="3199130" indent="0">
              <a:buNone/>
              <a:defRPr sz="2000"/>
            </a:lvl8pPr>
            <a:lvl9pPr marL="365633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802" y="365125"/>
            <a:ext cx="2628216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365125"/>
            <a:ext cx="7735461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7982" y="6356351"/>
            <a:ext cx="2744073" cy="365125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36" y="6356351"/>
            <a:ext cx="4113729" cy="365125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947" y="6356351"/>
            <a:ext cx="2744072" cy="365125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1" t="8221" b="26117"/>
          <a:stretch>
            <a:fillRect/>
          </a:stretch>
        </p:blipFill>
        <p:spPr bwMode="auto">
          <a:xfrm>
            <a:off x="-26981" y="-20638"/>
            <a:ext cx="12217394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7"/>
          <p:cNvSpPr>
            <a:spLocks noChangeArrowheads="1"/>
          </p:cNvSpPr>
          <p:nvPr/>
        </p:nvSpPr>
        <p:spPr bwMode="auto">
          <a:xfrm>
            <a:off x="1587" y="-20638"/>
            <a:ext cx="12190413" cy="6878638"/>
          </a:xfrm>
          <a:prstGeom prst="rect">
            <a:avLst/>
          </a:prstGeom>
          <a:solidFill>
            <a:srgbClr val="FFFFFF">
              <a:alpha val="87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  <a:ea typeface="幼圆" panose="02010509060101010101" pitchFamily="49" charset="-122"/>
            </a:endParaRPr>
          </a:p>
        </p:txBody>
      </p:sp>
      <p:sp>
        <p:nvSpPr>
          <p:cNvPr id="1028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7982" y="6356351"/>
            <a:ext cx="274407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319E4F87-775F-44FA-8904-79E048AA9300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1029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9136" y="6356351"/>
            <a:ext cx="4113729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30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947" y="6356351"/>
            <a:ext cx="2744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397" y="-274845"/>
            <a:ext cx="1896176" cy="189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CA6F06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09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1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6870" indent="-356870" algn="just" rtl="0" eaLnBrk="1" fontAlgn="base" hangingPunct="1">
        <a:lnSpc>
          <a:spcPct val="110000"/>
        </a:lnSpc>
        <a:spcBef>
          <a:spcPts val="18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"/>
        <a:defRPr sz="2000" kern="1200">
          <a:solidFill>
            <a:srgbClr val="A06A29"/>
          </a:solidFill>
          <a:latin typeface="+mn-lt"/>
          <a:ea typeface="+mn-ea"/>
          <a:cs typeface="+mn-cs"/>
        </a:defRPr>
      </a:lvl1pPr>
      <a:lvl2pPr marL="356870" indent="-356870" algn="l" rtl="0" eaLnBrk="1" fontAlgn="base" hangingPunct="1">
        <a:lnSpc>
          <a:spcPct val="130000"/>
        </a:lnSpc>
        <a:spcBef>
          <a:spcPct val="0"/>
        </a:spcBef>
        <a:spcAft>
          <a:spcPts val="600"/>
        </a:spcAft>
        <a:buClr>
          <a:srgbClr val="FFDF6B"/>
        </a:buClr>
        <a:buFont typeface="幼圆" panose="02010509060101010101" pitchFamily="49" charset="-122"/>
        <a:buChar char=" "/>
        <a:defRPr sz="1600" kern="1200">
          <a:solidFill>
            <a:srgbClr val="626262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23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3pPr>
      <a:lvl4pPr marL="15995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4pPr>
      <a:lvl5pPr marL="20567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5pPr>
      <a:lvl6pPr marL="25139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61870" y="906339"/>
            <a:ext cx="7683500" cy="1674629"/>
          </a:xfrm>
        </p:spPr>
        <p:txBody>
          <a:bodyPr/>
          <a:lstStyle/>
          <a:p>
            <a:r>
              <a:rPr lang="en-US" altLang="zh-CN" sz="2800" dirty="0" smtClean="0"/>
              <a:t>Vintage</a:t>
            </a:r>
            <a:r>
              <a:rPr lang="zh-CN" altLang="en-US" sz="2800" dirty="0" smtClean="0"/>
              <a:t>交付说明</a:t>
            </a:r>
            <a:endParaRPr lang="zh-CN" altLang="en-US" sz="2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373780" y="5946110"/>
            <a:ext cx="6638783" cy="606425"/>
          </a:xfrm>
        </p:spPr>
        <p:txBody>
          <a:bodyPr/>
          <a:lstStyle/>
          <a:p>
            <a:r>
              <a:rPr lang="en-US" altLang="zh-CN" sz="2400" dirty="0"/>
              <a:t>2018</a:t>
            </a:r>
            <a:r>
              <a:rPr lang="zh-CN" altLang="en-US" sz="2400" dirty="0" smtClean="0"/>
              <a:t>年</a:t>
            </a:r>
            <a:r>
              <a:rPr lang="en-US" altLang="zh-CN" sz="2400" dirty="0" smtClean="0"/>
              <a:t>12</a:t>
            </a:r>
            <a:r>
              <a:rPr lang="zh-CN" altLang="en-US" sz="2400" dirty="0" smtClean="0"/>
              <a:t>月</a:t>
            </a:r>
            <a:r>
              <a:rPr lang="en-US" altLang="zh-CN" sz="2400" dirty="0" smtClean="0"/>
              <a:t>06</a:t>
            </a:r>
            <a:r>
              <a:rPr lang="zh-CN" altLang="en-US" sz="2400" dirty="0" smtClean="0"/>
              <a:t>日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1301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数据流程</a:t>
            </a:r>
            <a:endParaRPr kumimoji="1" lang="zh-CN" altLang="en-US"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80" t="16278" r="21480" b="23478"/>
          <a:stretch/>
        </p:blipFill>
        <p:spPr>
          <a:xfrm>
            <a:off x="5004128" y="1473755"/>
            <a:ext cx="3224605" cy="2715456"/>
          </a:xfrm>
          <a:prstGeom prst="rect">
            <a:avLst/>
          </a:prstGeom>
        </p:spPr>
      </p:pic>
      <p:sp>
        <p:nvSpPr>
          <p:cNvPr id="35" name="流程图: 磁盘 34"/>
          <p:cNvSpPr/>
          <p:nvPr/>
        </p:nvSpPr>
        <p:spPr bwMode="auto">
          <a:xfrm>
            <a:off x="460829" y="1703752"/>
            <a:ext cx="1190172" cy="1069999"/>
          </a:xfrm>
          <a:prstGeom prst="flowChartMagneticDisk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1" i="0" u="none" strike="noStrike" normalizeH="0" baseline="0" dirty="0" smtClean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数据平台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3466" y="3629777"/>
            <a:ext cx="2650790" cy="1920123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cxnSp>
        <p:nvCxnSpPr>
          <p:cNvPr id="42" name="直接箭头连接符 41"/>
          <p:cNvCxnSpPr/>
          <p:nvPr/>
        </p:nvCxnSpPr>
        <p:spPr bwMode="auto">
          <a:xfrm>
            <a:off x="1549401" y="2831483"/>
            <a:ext cx="622464" cy="438309"/>
          </a:xfrm>
          <a:prstGeom prst="straightConnector1">
            <a:avLst/>
          </a:prstGeom>
          <a:ln w="76200">
            <a:solidFill>
              <a:srgbClr val="0070C0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 bwMode="auto">
          <a:xfrm flipV="1">
            <a:off x="4962664" y="3982196"/>
            <a:ext cx="722982" cy="647868"/>
          </a:xfrm>
          <a:prstGeom prst="straightConnector1">
            <a:avLst/>
          </a:prstGeom>
          <a:ln w="76200">
            <a:solidFill>
              <a:srgbClr val="0070C0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 bwMode="auto">
          <a:xfrm>
            <a:off x="7997373" y="3018429"/>
            <a:ext cx="622464" cy="438309"/>
          </a:xfrm>
          <a:prstGeom prst="straightConnector1">
            <a:avLst/>
          </a:prstGeom>
          <a:ln w="76200">
            <a:solidFill>
              <a:srgbClr val="0070C0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2742264" y="589766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风险管理指标集市</a:t>
            </a:r>
          </a:p>
        </p:txBody>
      </p:sp>
      <p:grpSp>
        <p:nvGrpSpPr>
          <p:cNvPr id="19" name="Page"/>
          <p:cNvGrpSpPr/>
          <p:nvPr/>
        </p:nvGrpSpPr>
        <p:grpSpPr>
          <a:xfrm>
            <a:off x="8678891" y="1169379"/>
            <a:ext cx="3068609" cy="4920795"/>
            <a:chOff x="787500" y="6000"/>
            <a:chExt cx="1408500" cy="2032500"/>
          </a:xfrm>
        </p:grpSpPr>
        <p:sp>
          <p:nvSpPr>
            <p:cNvPr id="20" name="MMConnector"/>
            <p:cNvSpPr/>
            <p:nvPr/>
          </p:nvSpPr>
          <p:spPr>
            <a:xfrm>
              <a:off x="787500" y="508500"/>
              <a:ext cx="378000" cy="765000"/>
            </a:xfrm>
            <a:custGeom>
              <a:avLst/>
              <a:gdLst/>
              <a:ahLst/>
              <a:cxnLst/>
              <a:rect l="0" t="0" r="0" b="0"/>
              <a:pathLst>
                <a:path w="378000" h="765000" fill="none">
                  <a:moveTo>
                    <a:pt x="4500" y="382500"/>
                  </a:moveTo>
                  <a:lnTo>
                    <a:pt x="150300" y="382500"/>
                  </a:lnTo>
                  <a:cubicBezTo>
                    <a:pt x="160236" y="382500"/>
                    <a:pt x="168300" y="374436"/>
                    <a:pt x="168300" y="364500"/>
                  </a:cubicBezTo>
                  <a:lnTo>
                    <a:pt x="168300" y="-364500"/>
                  </a:lnTo>
                  <a:cubicBezTo>
                    <a:pt x="168300" y="-374436"/>
                    <a:pt x="176364" y="-382500"/>
                    <a:pt x="186300" y="-382500"/>
                  </a:cubicBezTo>
                  <a:lnTo>
                    <a:pt x="382500" y="-382500"/>
                  </a:lnTo>
                </a:path>
              </a:pathLst>
            </a:custGeom>
            <a:noFill/>
            <a:ln w="6000" cap="rnd">
              <a:solidFill>
                <a:srgbClr val="4486B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MMConnector"/>
            <p:cNvSpPr/>
            <p:nvPr/>
          </p:nvSpPr>
          <p:spPr>
            <a:xfrm>
              <a:off x="787500" y="1018500"/>
              <a:ext cx="378000" cy="255000"/>
            </a:xfrm>
            <a:custGeom>
              <a:avLst/>
              <a:gdLst/>
              <a:ahLst/>
              <a:cxnLst/>
              <a:rect l="0" t="0" r="0" b="0"/>
              <a:pathLst>
                <a:path w="378000" h="255000" fill="none">
                  <a:moveTo>
                    <a:pt x="4500" y="-127500"/>
                  </a:moveTo>
                  <a:lnTo>
                    <a:pt x="150300" y="-127500"/>
                  </a:lnTo>
                  <a:cubicBezTo>
                    <a:pt x="160236" y="-127500"/>
                    <a:pt x="168300" y="-119436"/>
                    <a:pt x="168300" y="-109500"/>
                  </a:cubicBezTo>
                  <a:lnTo>
                    <a:pt x="168300" y="109500"/>
                  </a:lnTo>
                  <a:cubicBezTo>
                    <a:pt x="168300" y="119436"/>
                    <a:pt x="176364" y="127500"/>
                    <a:pt x="186300" y="127500"/>
                  </a:cubicBezTo>
                  <a:lnTo>
                    <a:pt x="382500" y="127500"/>
                  </a:lnTo>
                </a:path>
              </a:pathLst>
            </a:custGeom>
            <a:noFill/>
            <a:ln w="6000" cap="rnd">
              <a:solidFill>
                <a:srgbClr val="4486B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MMConnector"/>
            <p:cNvSpPr/>
            <p:nvPr/>
          </p:nvSpPr>
          <p:spPr>
            <a:xfrm>
              <a:off x="787500" y="1273500"/>
              <a:ext cx="378000" cy="765000"/>
            </a:xfrm>
            <a:custGeom>
              <a:avLst/>
              <a:gdLst/>
              <a:ahLst/>
              <a:cxnLst/>
              <a:rect l="0" t="0" r="0" b="0"/>
              <a:pathLst>
                <a:path w="378000" h="765000" fill="none">
                  <a:moveTo>
                    <a:pt x="4500" y="-382500"/>
                  </a:moveTo>
                  <a:lnTo>
                    <a:pt x="150300" y="-382500"/>
                  </a:lnTo>
                  <a:cubicBezTo>
                    <a:pt x="160236" y="-382500"/>
                    <a:pt x="168300" y="-374436"/>
                    <a:pt x="168300" y="-364500"/>
                  </a:cubicBezTo>
                  <a:lnTo>
                    <a:pt x="168300" y="364500"/>
                  </a:lnTo>
                  <a:cubicBezTo>
                    <a:pt x="168300" y="374436"/>
                    <a:pt x="176364" y="382500"/>
                    <a:pt x="186300" y="382500"/>
                  </a:cubicBezTo>
                  <a:lnTo>
                    <a:pt x="382500" y="382500"/>
                  </a:lnTo>
                </a:path>
              </a:pathLst>
            </a:custGeom>
            <a:noFill/>
            <a:ln w="6000" cap="rnd">
              <a:solidFill>
                <a:srgbClr val="4486B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MainTopic"/>
            <p:cNvSpPr/>
            <p:nvPr/>
          </p:nvSpPr>
          <p:spPr>
            <a:xfrm>
              <a:off x="1170000" y="6000"/>
              <a:ext cx="882000" cy="240000"/>
            </a:xfrm>
            <a:custGeom>
              <a:avLst/>
              <a:gdLst>
                <a:gd name="rtl" fmla="*/ 54000 w 882000"/>
                <a:gd name="rtt" fmla="*/ 69000 h 240000"/>
                <a:gd name="rtr" fmla="*/ 780000 w 882000"/>
                <a:gd name="rtb" fmla="*/ 177000 h 240000"/>
              </a:gdLst>
              <a:ahLst/>
              <a:cxnLst/>
              <a:rect l="rtl" t="rtt" r="rtr" b="rtb"/>
              <a:pathLst>
                <a:path w="882000" h="240000">
                  <a:moveTo>
                    <a:pt x="24000" y="0"/>
                  </a:moveTo>
                  <a:lnTo>
                    <a:pt x="858000" y="0"/>
                  </a:lnTo>
                  <a:cubicBezTo>
                    <a:pt x="871248" y="0"/>
                    <a:pt x="882000" y="10752"/>
                    <a:pt x="882000" y="24000"/>
                  </a:cubicBezTo>
                  <a:lnTo>
                    <a:pt x="882000" y="216000"/>
                  </a:lnTo>
                  <a:cubicBezTo>
                    <a:pt x="882000" y="229248"/>
                    <a:pt x="871248" y="240000"/>
                    <a:pt x="858000" y="240000"/>
                  </a:cubicBezTo>
                  <a:lnTo>
                    <a:pt x="24000" y="240000"/>
                  </a:lnTo>
                  <a:cubicBezTo>
                    <a:pt x="10752" y="240000"/>
                    <a:pt x="0" y="229248"/>
                    <a:pt x="0" y="216000"/>
                  </a:cubicBezTo>
                  <a:lnTo>
                    <a:pt x="0" y="24000"/>
                  </a:lnTo>
                  <a:cubicBezTo>
                    <a:pt x="0" y="10752"/>
                    <a:pt x="10752" y="0"/>
                    <a:pt x="24000" y="0"/>
                  </a:cubicBezTo>
                  <a:close/>
                </a:path>
              </a:pathLst>
            </a:custGeom>
            <a:solidFill>
              <a:srgbClr val="F5F9FE"/>
            </a:solidFill>
            <a:ln w="6000" cap="flat">
              <a:solidFill>
                <a:srgbClr val="4486B1"/>
              </a:solidFill>
              <a:round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ts val="750"/>
                </a:lnSpc>
                <a:spcAft>
                  <a:spcPts val="0"/>
                </a:spcAft>
              </a:pPr>
              <a:r>
                <a:rPr lang="en-US" sz="1600" kern="100" dirty="0" smtClean="0">
                  <a:solidFill>
                    <a:srgbClr val="303030"/>
                  </a:solidFill>
                  <a:effectLst/>
                  <a:latin typeface="+mj-ea"/>
                  <a:ea typeface="+mj-ea"/>
                  <a:cs typeface="宋体" panose="02010600030101010101" pitchFamily="2" charset="-122"/>
                </a:rPr>
                <a:t>Saiku </a:t>
              </a:r>
              <a:r>
                <a:rPr lang="zh-CN" sz="1600" kern="100" dirty="0" smtClean="0">
                  <a:solidFill>
                    <a:srgbClr val="303030"/>
                  </a:solidFill>
                  <a:effectLst/>
                  <a:latin typeface="+mj-ea"/>
                  <a:ea typeface="+mj-ea"/>
                  <a:cs typeface="宋体" panose="02010600030101010101" pitchFamily="2" charset="-122"/>
                </a:rPr>
                <a:t>多维分析</a:t>
              </a:r>
              <a:endParaRPr lang="zh-CN" sz="2800" kern="100" dirty="0">
                <a:effectLst/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27" name="MainTopic"/>
            <p:cNvSpPr/>
            <p:nvPr/>
          </p:nvSpPr>
          <p:spPr>
            <a:xfrm>
              <a:off x="1170000" y="516000"/>
              <a:ext cx="1026000" cy="240000"/>
            </a:xfrm>
            <a:custGeom>
              <a:avLst/>
              <a:gdLst>
                <a:gd name="rtl" fmla="*/ 54000 w 1026000"/>
                <a:gd name="rtt" fmla="*/ 69000 h 240000"/>
                <a:gd name="rtr" fmla="*/ 924000 w 1026000"/>
                <a:gd name="rtb" fmla="*/ 177000 h 240000"/>
              </a:gdLst>
              <a:ahLst/>
              <a:cxnLst/>
              <a:rect l="rtl" t="rtt" r="rtr" b="rtb"/>
              <a:pathLst>
                <a:path w="1026000" h="240000">
                  <a:moveTo>
                    <a:pt x="24000" y="0"/>
                  </a:moveTo>
                  <a:lnTo>
                    <a:pt x="1002000" y="0"/>
                  </a:lnTo>
                  <a:cubicBezTo>
                    <a:pt x="1015248" y="0"/>
                    <a:pt x="1026000" y="10752"/>
                    <a:pt x="1026000" y="24000"/>
                  </a:cubicBezTo>
                  <a:lnTo>
                    <a:pt x="1026000" y="216000"/>
                  </a:lnTo>
                  <a:cubicBezTo>
                    <a:pt x="1026000" y="229248"/>
                    <a:pt x="1015248" y="240000"/>
                    <a:pt x="1002000" y="240000"/>
                  </a:cubicBezTo>
                  <a:lnTo>
                    <a:pt x="24000" y="240000"/>
                  </a:lnTo>
                  <a:cubicBezTo>
                    <a:pt x="10752" y="240000"/>
                    <a:pt x="0" y="229248"/>
                    <a:pt x="0" y="216000"/>
                  </a:cubicBezTo>
                  <a:lnTo>
                    <a:pt x="0" y="24000"/>
                  </a:lnTo>
                  <a:cubicBezTo>
                    <a:pt x="0" y="10752"/>
                    <a:pt x="10752" y="0"/>
                    <a:pt x="24000" y="0"/>
                  </a:cubicBezTo>
                  <a:close/>
                </a:path>
              </a:pathLst>
            </a:custGeom>
            <a:solidFill>
              <a:srgbClr val="F5F9FE"/>
            </a:solidFill>
            <a:ln w="6000" cap="flat">
              <a:solidFill>
                <a:srgbClr val="4486B1"/>
              </a:solidFill>
              <a:round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ts val="750"/>
                </a:lnSpc>
                <a:spcAft>
                  <a:spcPts val="0"/>
                </a:spcAft>
              </a:pPr>
              <a:r>
                <a:rPr lang="en-US" sz="1600" kern="100" dirty="0" smtClean="0">
                  <a:solidFill>
                    <a:srgbClr val="30303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Superset </a:t>
              </a:r>
              <a:r>
                <a:rPr lang="zh-CN" sz="1600" kern="100" dirty="0" smtClean="0">
                  <a:solidFill>
                    <a:srgbClr val="30303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多维分析</a:t>
              </a:r>
              <a:endParaRPr 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MainTopic"/>
            <p:cNvSpPr/>
            <p:nvPr/>
          </p:nvSpPr>
          <p:spPr>
            <a:xfrm>
              <a:off x="1170000" y="1026000"/>
              <a:ext cx="786000" cy="240000"/>
            </a:xfrm>
            <a:custGeom>
              <a:avLst/>
              <a:gdLst>
                <a:gd name="rtl" fmla="*/ 54000 w 786000"/>
                <a:gd name="rtt" fmla="*/ 69000 h 240000"/>
                <a:gd name="rtr" fmla="*/ 684000 w 786000"/>
                <a:gd name="rtb" fmla="*/ 177000 h 240000"/>
              </a:gdLst>
              <a:ahLst/>
              <a:cxnLst/>
              <a:rect l="rtl" t="rtt" r="rtr" b="rtb"/>
              <a:pathLst>
                <a:path w="786000" h="240000">
                  <a:moveTo>
                    <a:pt x="24000" y="0"/>
                  </a:moveTo>
                  <a:lnTo>
                    <a:pt x="762000" y="0"/>
                  </a:lnTo>
                  <a:cubicBezTo>
                    <a:pt x="775248" y="0"/>
                    <a:pt x="786000" y="10752"/>
                    <a:pt x="786000" y="24000"/>
                  </a:cubicBezTo>
                  <a:lnTo>
                    <a:pt x="786000" y="216000"/>
                  </a:lnTo>
                  <a:cubicBezTo>
                    <a:pt x="786000" y="229248"/>
                    <a:pt x="775248" y="240000"/>
                    <a:pt x="762000" y="240000"/>
                  </a:cubicBezTo>
                  <a:lnTo>
                    <a:pt x="24000" y="240000"/>
                  </a:lnTo>
                  <a:cubicBezTo>
                    <a:pt x="10752" y="240000"/>
                    <a:pt x="0" y="229248"/>
                    <a:pt x="0" y="216000"/>
                  </a:cubicBezTo>
                  <a:lnTo>
                    <a:pt x="0" y="24000"/>
                  </a:lnTo>
                  <a:cubicBezTo>
                    <a:pt x="0" y="10752"/>
                    <a:pt x="10752" y="0"/>
                    <a:pt x="24000" y="0"/>
                  </a:cubicBezTo>
                  <a:close/>
                </a:path>
              </a:pathLst>
            </a:custGeom>
            <a:solidFill>
              <a:srgbClr val="F5F9FE"/>
            </a:solidFill>
            <a:ln w="6000" cap="flat">
              <a:solidFill>
                <a:srgbClr val="4486B1"/>
              </a:solidFill>
              <a:round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ts val="750"/>
                </a:lnSpc>
                <a:spcAft>
                  <a:spcPts val="0"/>
                </a:spcAft>
              </a:pPr>
              <a:r>
                <a:rPr lang="en-US" sz="1600" kern="100" dirty="0" smtClean="0">
                  <a:solidFill>
                    <a:srgbClr val="30303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Tableau </a:t>
              </a:r>
              <a:r>
                <a:rPr lang="zh-CN" sz="1600" kern="100" dirty="0" smtClean="0">
                  <a:solidFill>
                    <a:srgbClr val="30303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报表</a:t>
              </a:r>
              <a:endParaRPr lang="zh-CN" sz="2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MainTopic"/>
            <p:cNvSpPr/>
            <p:nvPr/>
          </p:nvSpPr>
          <p:spPr>
            <a:xfrm>
              <a:off x="1170000" y="1536000"/>
              <a:ext cx="786000" cy="240000"/>
            </a:xfrm>
            <a:custGeom>
              <a:avLst/>
              <a:gdLst>
                <a:gd name="rtl" fmla="*/ 54000 w 786000"/>
                <a:gd name="rtt" fmla="*/ 69000 h 240000"/>
                <a:gd name="rtr" fmla="*/ 684000 w 786000"/>
                <a:gd name="rtb" fmla="*/ 177000 h 240000"/>
              </a:gdLst>
              <a:ahLst/>
              <a:cxnLst/>
              <a:rect l="rtl" t="rtt" r="rtr" b="rtb"/>
              <a:pathLst>
                <a:path w="786000" h="240000">
                  <a:moveTo>
                    <a:pt x="24000" y="0"/>
                  </a:moveTo>
                  <a:lnTo>
                    <a:pt x="762000" y="0"/>
                  </a:lnTo>
                  <a:cubicBezTo>
                    <a:pt x="775248" y="0"/>
                    <a:pt x="786000" y="10752"/>
                    <a:pt x="786000" y="24000"/>
                  </a:cubicBezTo>
                  <a:lnTo>
                    <a:pt x="786000" y="216000"/>
                  </a:lnTo>
                  <a:cubicBezTo>
                    <a:pt x="786000" y="229248"/>
                    <a:pt x="775248" y="240000"/>
                    <a:pt x="762000" y="240000"/>
                  </a:cubicBezTo>
                  <a:lnTo>
                    <a:pt x="24000" y="240000"/>
                  </a:lnTo>
                  <a:cubicBezTo>
                    <a:pt x="10752" y="240000"/>
                    <a:pt x="0" y="229248"/>
                    <a:pt x="0" y="216000"/>
                  </a:cubicBezTo>
                  <a:lnTo>
                    <a:pt x="0" y="24000"/>
                  </a:lnTo>
                  <a:cubicBezTo>
                    <a:pt x="0" y="10752"/>
                    <a:pt x="10752" y="0"/>
                    <a:pt x="24000" y="0"/>
                  </a:cubicBezTo>
                  <a:close/>
                </a:path>
              </a:pathLst>
            </a:custGeom>
            <a:solidFill>
              <a:srgbClr val="F5F9FE"/>
            </a:solidFill>
            <a:ln w="6000" cap="flat">
              <a:solidFill>
                <a:srgbClr val="4486B1"/>
              </a:solidFill>
              <a:round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ts val="750"/>
                </a:lnSpc>
                <a:spcAft>
                  <a:spcPts val="0"/>
                </a:spcAft>
              </a:pPr>
              <a:r>
                <a:rPr lang="en-US" sz="1600" kern="100" dirty="0" smtClean="0">
                  <a:solidFill>
                    <a:srgbClr val="30303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Excel </a:t>
              </a:r>
              <a:r>
                <a:rPr lang="zh-CN" sz="1600" kern="100" dirty="0" smtClean="0">
                  <a:solidFill>
                    <a:srgbClr val="30303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透视</a:t>
              </a:r>
              <a:r>
                <a:rPr lang="zh-CN" sz="1600" kern="100" dirty="0">
                  <a:solidFill>
                    <a:srgbClr val="30303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表</a:t>
              </a:r>
              <a:endParaRPr 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" name="直接连接符 3"/>
          <p:cNvCxnSpPr/>
          <p:nvPr/>
        </p:nvCxnSpPr>
        <p:spPr bwMode="auto">
          <a:xfrm flipV="1">
            <a:off x="9052553" y="2694643"/>
            <a:ext cx="449862" cy="793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14873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>
                <a:latin typeface="+mj-ea"/>
              </a:rPr>
              <a:t>Vintage</a:t>
            </a:r>
            <a:r>
              <a:rPr kumimoji="1" lang="zh-CN" altLang="en-US" dirty="0" smtClean="0">
                <a:latin typeface="+mj-ea"/>
              </a:rPr>
              <a:t>维度说明</a:t>
            </a:r>
            <a:endParaRPr kumimoji="1" lang="zh-CN" altLang="en-US" dirty="0">
              <a:latin typeface="+mj-ea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950199"/>
              </p:ext>
            </p:extLst>
          </p:nvPr>
        </p:nvGraphicFramePr>
        <p:xfrm>
          <a:off x="444500" y="1142995"/>
          <a:ext cx="11137900" cy="49149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01740">
                  <a:extLst>
                    <a:ext uri="{9D8B030D-6E8A-4147-A177-3AD203B41FA5}">
                      <a16:colId xmlns:a16="http://schemas.microsoft.com/office/drawing/2014/main" val="1523626185"/>
                    </a:ext>
                  </a:extLst>
                </a:gridCol>
                <a:gridCol w="1566535">
                  <a:extLst>
                    <a:ext uri="{9D8B030D-6E8A-4147-A177-3AD203B41FA5}">
                      <a16:colId xmlns:a16="http://schemas.microsoft.com/office/drawing/2014/main" val="2582346399"/>
                    </a:ext>
                  </a:extLst>
                </a:gridCol>
                <a:gridCol w="8469625">
                  <a:extLst>
                    <a:ext uri="{9D8B030D-6E8A-4147-A177-3AD203B41FA5}">
                      <a16:colId xmlns:a16="http://schemas.microsoft.com/office/drawing/2014/main" val="1691118811"/>
                    </a:ext>
                  </a:extLst>
                </a:gridCol>
              </a:tblGrid>
              <a:tr h="28911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维度类型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维度名称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维度值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92340950"/>
                  </a:ext>
                </a:extLst>
              </a:tr>
              <a:tr h="289112">
                <a:tc rowSpan="9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客户属性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客户性别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男、女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97837381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客户类型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新客、老客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31663801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客户等级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A、B、C、D、E、F、</a:t>
                      </a:r>
                      <a:r>
                        <a:rPr lang="zh-CN" altLang="en-US" sz="1400" u="none" strike="noStrike" dirty="0">
                          <a:effectLst/>
                        </a:rPr>
                        <a:t>其他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69769265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学历分类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博士、硕士、本科、专科、专科以下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88172468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年龄分类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</a:rPr>
                        <a:t>[0, 25]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[26, 30]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[31, 35]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[36, +)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18689964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学校类型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</a:rPr>
                        <a:t>本、</a:t>
                      </a:r>
                      <a:r>
                        <a:rPr lang="en-US" altLang="zh-CN" sz="1400" u="none" strike="noStrike" dirty="0">
                          <a:effectLst/>
                        </a:rPr>
                        <a:t>2</a:t>
                      </a:r>
                      <a:r>
                        <a:rPr lang="zh-CN" altLang="en-US" sz="1400" u="none" strike="noStrike" dirty="0">
                          <a:effectLst/>
                        </a:rPr>
                        <a:t>本、</a:t>
                      </a:r>
                      <a:r>
                        <a:rPr lang="en-US" altLang="zh-CN" sz="1400" u="none" strike="noStrike" dirty="0">
                          <a:effectLst/>
                        </a:rPr>
                        <a:t>3</a:t>
                      </a:r>
                      <a:r>
                        <a:rPr lang="zh-CN" altLang="en-US" sz="1400" u="none" strike="noStrike" dirty="0">
                          <a:effectLst/>
                        </a:rPr>
                        <a:t>本、专科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10295062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区域分类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华东、华南、华北、华中、西南、西北、东北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31313255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放款金额分类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dirty="0">
                          <a:effectLst/>
                        </a:rPr>
                        <a:t>[0, 1K]、(1K, 2K]、(2K, 3K]、(3K, 4K]、(4K, 5K]、(5K, 10K]、 …… (60K, +)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4823261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放款时间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年、月、季度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92278939"/>
                  </a:ext>
                </a:extLst>
              </a:tr>
              <a:tr h="289112"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产品信息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产品类型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产品线、产品小类、产品大类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9237098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产品期限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</a:rPr>
                        <a:t>1</a:t>
                      </a:r>
                      <a:r>
                        <a:rPr lang="zh-CN" altLang="en-US" sz="1400" u="none" strike="noStrike" dirty="0">
                          <a:effectLst/>
                        </a:rPr>
                        <a:t>期、</a:t>
                      </a:r>
                      <a:r>
                        <a:rPr lang="en-US" altLang="zh-CN" sz="1400" u="none" strike="noStrike" dirty="0">
                          <a:effectLst/>
                        </a:rPr>
                        <a:t>6</a:t>
                      </a:r>
                      <a:r>
                        <a:rPr lang="zh-CN" altLang="en-US" sz="1400" u="none" strike="noStrike" dirty="0">
                          <a:effectLst/>
                        </a:rPr>
                        <a:t>期、</a:t>
                      </a:r>
                      <a:r>
                        <a:rPr lang="en-US" altLang="zh-CN" sz="1400" u="none" strike="noStrike" dirty="0">
                          <a:effectLst/>
                        </a:rPr>
                        <a:t>12</a:t>
                      </a:r>
                      <a:r>
                        <a:rPr lang="zh-CN" altLang="en-US" sz="1400" u="none" strike="noStrike" dirty="0">
                          <a:effectLst/>
                        </a:rPr>
                        <a:t>期、</a:t>
                      </a:r>
                      <a:r>
                        <a:rPr lang="en-US" altLang="zh-CN" sz="1400" u="none" strike="noStrike" dirty="0">
                          <a:effectLst/>
                        </a:rPr>
                        <a:t>24</a:t>
                      </a:r>
                      <a:r>
                        <a:rPr lang="zh-CN" altLang="en-US" sz="1400" u="none" strike="noStrike" dirty="0">
                          <a:effectLst/>
                        </a:rPr>
                        <a:t>期、</a:t>
                      </a:r>
                      <a:r>
                        <a:rPr lang="en-US" altLang="zh-CN" sz="1400" u="none" strike="noStrike" dirty="0">
                          <a:effectLst/>
                        </a:rPr>
                        <a:t>36</a:t>
                      </a:r>
                      <a:r>
                        <a:rPr lang="zh-CN" altLang="en-US" sz="1400" u="none" strike="noStrike" dirty="0">
                          <a:effectLst/>
                        </a:rPr>
                        <a:t>期、其他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2814484"/>
                  </a:ext>
                </a:extLst>
              </a:tr>
              <a:tr h="289112">
                <a:tc rowSpan="5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征信数据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同盾分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</a:rPr>
                        <a:t>[0, 10]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[11, 20]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[21, 30]   ……  [91, 100]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23893009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同盾</a:t>
                      </a:r>
                      <a:r>
                        <a:rPr lang="en-US" altLang="zh-CN" sz="1400" u="none" strike="noStrike" dirty="0">
                          <a:effectLst/>
                        </a:rPr>
                        <a:t>7</a:t>
                      </a:r>
                      <a:r>
                        <a:rPr lang="en-US" sz="1400" u="none" strike="noStrike" dirty="0">
                          <a:effectLst/>
                        </a:rPr>
                        <a:t>D</a:t>
                      </a:r>
                      <a:r>
                        <a:rPr lang="zh-CN" altLang="en-US" sz="1400" u="none" strike="noStrike" dirty="0">
                          <a:effectLst/>
                        </a:rPr>
                        <a:t>多头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</a:rPr>
                        <a:t>[1, 5]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[6, 10]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[11, 20]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[21, 30]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[26, 30]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[31, +)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18297783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同盾</a:t>
                      </a:r>
                      <a:r>
                        <a:rPr lang="en-US" altLang="zh-CN" sz="1400" u="none" strike="noStrike" dirty="0">
                          <a:effectLst/>
                        </a:rPr>
                        <a:t>1</a:t>
                      </a:r>
                      <a:r>
                        <a:rPr lang="en-US" sz="1400" u="none" strike="noStrike" dirty="0">
                          <a:effectLst/>
                        </a:rPr>
                        <a:t>M</a:t>
                      </a:r>
                      <a:r>
                        <a:rPr lang="zh-CN" altLang="en-US" sz="1400" u="none" strike="noStrike" dirty="0">
                          <a:effectLst/>
                        </a:rPr>
                        <a:t>多头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</a:rPr>
                        <a:t>[1, 5]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[6, 10]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[11, 20]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[21, 30]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[26, 30]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[31, +)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8957517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</a:rPr>
                        <a:t>同盾</a:t>
                      </a:r>
                      <a:r>
                        <a:rPr lang="en-US" altLang="zh-CN" sz="1400" u="none" strike="noStrike">
                          <a:effectLst/>
                        </a:rPr>
                        <a:t>3</a:t>
                      </a:r>
                      <a:r>
                        <a:rPr lang="en-US" sz="1400" u="none" strike="noStrike">
                          <a:effectLst/>
                        </a:rPr>
                        <a:t>M</a:t>
                      </a:r>
                      <a:r>
                        <a:rPr lang="zh-CN" altLang="en-US" sz="1400" u="none" strike="noStrike">
                          <a:effectLst/>
                        </a:rPr>
                        <a:t>多头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</a:rPr>
                        <a:t>[1, 5]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[6, 10]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[11, 20]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[21, 30]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[26, 30]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[31, +)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4268518"/>
                  </a:ext>
                </a:extLst>
              </a:tr>
              <a:tr h="28911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</a:rPr>
                        <a:t>同盾</a:t>
                      </a:r>
                      <a:r>
                        <a:rPr lang="en-US" altLang="zh-CN" sz="1400" u="none" strike="noStrike" dirty="0">
                          <a:effectLst/>
                        </a:rPr>
                        <a:t>6</a:t>
                      </a:r>
                      <a:r>
                        <a:rPr lang="en-US" sz="1400" u="none" strike="noStrike" dirty="0">
                          <a:effectLst/>
                        </a:rPr>
                        <a:t>M</a:t>
                      </a:r>
                      <a:r>
                        <a:rPr lang="zh-CN" altLang="en-US" sz="1400" u="none" strike="noStrike" dirty="0">
                          <a:effectLst/>
                        </a:rPr>
                        <a:t>多头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</a:rPr>
                        <a:t>[1, 5]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[6, 10]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[11, 20]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[21, 30]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[26, 30]</a:t>
                      </a:r>
                      <a:r>
                        <a:rPr lang="zh-CN" altLang="en-US" sz="1400" u="none" strike="noStrike" dirty="0">
                          <a:effectLst/>
                        </a:rPr>
                        <a:t>、</a:t>
                      </a:r>
                      <a:r>
                        <a:rPr lang="en-US" altLang="zh-CN" sz="1400" u="none" strike="noStrike" dirty="0">
                          <a:effectLst/>
                        </a:rPr>
                        <a:t>[31, +)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4321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32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>
                <a:latin typeface="+mj-ea"/>
              </a:rPr>
              <a:t>维度 </a:t>
            </a:r>
            <a:r>
              <a:rPr kumimoji="1" lang="en-US" altLang="zh-CN" dirty="0" smtClean="0">
                <a:latin typeface="+mj-ea"/>
              </a:rPr>
              <a:t>- </a:t>
            </a:r>
            <a:r>
              <a:rPr kumimoji="1" lang="zh-CN" altLang="en-US" dirty="0" smtClean="0">
                <a:latin typeface="+mj-ea"/>
              </a:rPr>
              <a:t>产品分类</a:t>
            </a:r>
            <a:endParaRPr kumimoji="1" lang="zh-CN" altLang="en-US" dirty="0">
              <a:latin typeface="+mj-ea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715778"/>
              </p:ext>
            </p:extLst>
          </p:nvPr>
        </p:nvGraphicFramePr>
        <p:xfrm>
          <a:off x="1676400" y="1270000"/>
          <a:ext cx="7746999" cy="444499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88275">
                  <a:extLst>
                    <a:ext uri="{9D8B030D-6E8A-4147-A177-3AD203B41FA5}">
                      <a16:colId xmlns:a16="http://schemas.microsoft.com/office/drawing/2014/main" val="2474951999"/>
                    </a:ext>
                  </a:extLst>
                </a:gridCol>
                <a:gridCol w="2693492">
                  <a:extLst>
                    <a:ext uri="{9D8B030D-6E8A-4147-A177-3AD203B41FA5}">
                      <a16:colId xmlns:a16="http://schemas.microsoft.com/office/drawing/2014/main" val="276103058"/>
                    </a:ext>
                  </a:extLst>
                </a:gridCol>
                <a:gridCol w="2565232">
                  <a:extLst>
                    <a:ext uri="{9D8B030D-6E8A-4147-A177-3AD203B41FA5}">
                      <a16:colId xmlns:a16="http://schemas.microsoft.com/office/drawing/2014/main" val="3193682452"/>
                    </a:ext>
                  </a:extLst>
                </a:gridCol>
              </a:tblGrid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产品小类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产品大类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产品线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5516191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专科包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信用</a:t>
                      </a:r>
                      <a:r>
                        <a:rPr lang="zh-CN" altLang="en-US" sz="1400" u="none" strike="noStrike" dirty="0" smtClean="0">
                          <a:effectLst/>
                          <a:latin typeface="+mj-ea"/>
                          <a:ea typeface="+mj-ea"/>
                        </a:rPr>
                        <a:t>贷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rowSpan="9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信贷类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69626772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本科包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123739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名校贷应急包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406456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大额借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麦子</a:t>
                      </a:r>
                      <a:r>
                        <a:rPr lang="zh-CN" altLang="en-US" sz="1400" u="none" strike="noStrike" dirty="0" smtClean="0">
                          <a:effectLst/>
                          <a:latin typeface="+mj-ea"/>
                          <a:ea typeface="+mj-ea"/>
                        </a:rPr>
                        <a:t>借款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672405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学历贷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157972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消费贷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785962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白领包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白领</a:t>
                      </a:r>
                      <a:r>
                        <a:rPr lang="zh-CN" altLang="en-US" sz="1400" u="none" strike="noStrike" dirty="0" smtClean="0">
                          <a:effectLst/>
                          <a:latin typeface="+mj-ea"/>
                          <a:ea typeface="+mj-ea"/>
                        </a:rPr>
                        <a:t>贷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03844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社保贷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9155951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应届贷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401875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教育分期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麦芽</a:t>
                      </a:r>
                      <a:r>
                        <a:rPr lang="zh-CN" altLang="en-US" sz="1400" u="none" strike="noStrike" dirty="0" smtClean="0">
                          <a:effectLst/>
                          <a:latin typeface="+mj-ea"/>
                          <a:ea typeface="+mj-ea"/>
                        </a:rPr>
                        <a:t>分期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消费金融类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81131046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医美分期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202907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爱美呗分期</a:t>
                      </a:r>
                      <a:r>
                        <a:rPr lang="en-US" altLang="zh-CN" sz="1400" u="none" strike="noStrike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非担保</a:t>
                      </a:r>
                      <a:r>
                        <a:rPr lang="en-US" altLang="zh-CN" sz="1400" u="none" strike="noStrike"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爱美呗</a:t>
                      </a:r>
                      <a:r>
                        <a:rPr lang="zh-CN" altLang="en-US" sz="1400" u="none" strike="noStrike" dirty="0" smtClean="0">
                          <a:effectLst/>
                          <a:latin typeface="+mj-ea"/>
                          <a:ea typeface="+mj-ea"/>
                        </a:rPr>
                        <a:t>分期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846358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爱美呗分期</a:t>
                      </a:r>
                      <a:r>
                        <a:rPr lang="en-US" altLang="zh-CN" sz="1400" u="none" strike="noStrike" dirty="0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担保</a:t>
                      </a:r>
                      <a:r>
                        <a:rPr lang="en-US" altLang="zh-CN" sz="1400" u="none" strike="noStrike" dirty="0"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201624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其他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其他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其他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53585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8072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>
                <a:latin typeface="+mj-ea"/>
              </a:rPr>
              <a:t>维度 </a:t>
            </a:r>
            <a:r>
              <a:rPr kumimoji="1" lang="en-US" altLang="zh-CN" dirty="0" smtClean="0">
                <a:latin typeface="+mj-ea"/>
              </a:rPr>
              <a:t>- </a:t>
            </a:r>
            <a:r>
              <a:rPr kumimoji="1" lang="zh-CN" altLang="en-US" dirty="0" smtClean="0">
                <a:latin typeface="+mj-ea"/>
              </a:rPr>
              <a:t>区域分类</a:t>
            </a:r>
            <a:endParaRPr kumimoji="1" lang="zh-CN" altLang="en-US" dirty="0">
              <a:latin typeface="+mj-ea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715778"/>
              </p:ext>
            </p:extLst>
          </p:nvPr>
        </p:nvGraphicFramePr>
        <p:xfrm>
          <a:off x="1676400" y="1270000"/>
          <a:ext cx="7746999" cy="444499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88275">
                  <a:extLst>
                    <a:ext uri="{9D8B030D-6E8A-4147-A177-3AD203B41FA5}">
                      <a16:colId xmlns:a16="http://schemas.microsoft.com/office/drawing/2014/main" val="2474951999"/>
                    </a:ext>
                  </a:extLst>
                </a:gridCol>
                <a:gridCol w="2693492">
                  <a:extLst>
                    <a:ext uri="{9D8B030D-6E8A-4147-A177-3AD203B41FA5}">
                      <a16:colId xmlns:a16="http://schemas.microsoft.com/office/drawing/2014/main" val="276103058"/>
                    </a:ext>
                  </a:extLst>
                </a:gridCol>
                <a:gridCol w="2565232">
                  <a:extLst>
                    <a:ext uri="{9D8B030D-6E8A-4147-A177-3AD203B41FA5}">
                      <a16:colId xmlns:a16="http://schemas.microsoft.com/office/drawing/2014/main" val="3193682452"/>
                    </a:ext>
                  </a:extLst>
                </a:gridCol>
              </a:tblGrid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产品小类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产品大类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产品线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5516191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专科包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信用</a:t>
                      </a:r>
                      <a:r>
                        <a:rPr lang="zh-CN" altLang="en-US" sz="1400" u="none" strike="noStrike" dirty="0" smtClean="0">
                          <a:effectLst/>
                          <a:latin typeface="+mj-ea"/>
                          <a:ea typeface="+mj-ea"/>
                        </a:rPr>
                        <a:t>贷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rowSpan="9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信贷类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69626772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本科包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123739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名校贷应急包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406456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大额借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麦子</a:t>
                      </a:r>
                      <a:r>
                        <a:rPr lang="zh-CN" altLang="en-US" sz="1400" u="none" strike="noStrike" dirty="0" smtClean="0">
                          <a:effectLst/>
                          <a:latin typeface="+mj-ea"/>
                          <a:ea typeface="+mj-ea"/>
                        </a:rPr>
                        <a:t>借款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672405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学历贷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157972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消费贷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785962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白领包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白领</a:t>
                      </a:r>
                      <a:r>
                        <a:rPr lang="zh-CN" altLang="en-US" sz="1400" u="none" strike="noStrike" dirty="0" smtClean="0">
                          <a:effectLst/>
                          <a:latin typeface="+mj-ea"/>
                          <a:ea typeface="+mj-ea"/>
                        </a:rPr>
                        <a:t>贷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703844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社保贷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9155951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应届贷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401875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教育分期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麦芽</a:t>
                      </a:r>
                      <a:r>
                        <a:rPr lang="zh-CN" altLang="en-US" sz="1400" u="none" strike="noStrike" dirty="0" smtClean="0">
                          <a:effectLst/>
                          <a:latin typeface="+mj-ea"/>
                          <a:ea typeface="+mj-ea"/>
                        </a:rPr>
                        <a:t>分期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消费金融类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81131046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医美分期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202907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爱美呗分期</a:t>
                      </a:r>
                      <a:r>
                        <a:rPr lang="en-US" altLang="zh-CN" sz="1400" u="none" strike="noStrike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非担保</a:t>
                      </a:r>
                      <a:r>
                        <a:rPr lang="en-US" altLang="zh-CN" sz="1400" u="none" strike="noStrike"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en-US" altLang="zh-CN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爱美呗</a:t>
                      </a:r>
                      <a:r>
                        <a:rPr lang="zh-CN" altLang="en-US" sz="1400" u="none" strike="noStrike" dirty="0" smtClean="0">
                          <a:effectLst/>
                          <a:latin typeface="+mj-ea"/>
                          <a:ea typeface="+mj-ea"/>
                        </a:rPr>
                        <a:t>分期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846358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爱美呗分期</a:t>
                      </a:r>
                      <a:r>
                        <a:rPr lang="en-US" altLang="zh-CN" sz="1400" u="none" strike="noStrike" dirty="0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担保</a:t>
                      </a:r>
                      <a:r>
                        <a:rPr lang="en-US" altLang="zh-CN" sz="1400" u="none" strike="noStrike" dirty="0"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201624"/>
                  </a:ext>
                </a:extLst>
              </a:tr>
              <a:tr h="296333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>
                          <a:effectLst/>
                          <a:latin typeface="+mj-ea"/>
                          <a:ea typeface="+mj-ea"/>
                        </a:rPr>
                        <a:t>其他</a:t>
                      </a:r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其他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+mj-ea"/>
                          <a:ea typeface="+mj-ea"/>
                        </a:rPr>
                        <a:t>其他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53585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3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>
                <a:latin typeface="+mj-ea"/>
              </a:rPr>
              <a:t>如何使用 </a:t>
            </a:r>
            <a:r>
              <a:rPr kumimoji="1" lang="en-US" altLang="zh-CN" dirty="0" smtClean="0">
                <a:latin typeface="+mj-ea"/>
              </a:rPr>
              <a:t>Saiku </a:t>
            </a:r>
            <a:endParaRPr kumimoji="1" lang="zh-CN" altLang="en-US" dirty="0">
              <a:latin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3800" y="1409700"/>
            <a:ext cx="362503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+mj-ea"/>
                <a:ea typeface="+mj-ea"/>
              </a:rPr>
              <a:t>访问</a:t>
            </a:r>
            <a:r>
              <a:rPr kumimoji="1" lang="zh-CN" altLang="en-US" dirty="0" smtClean="0">
                <a:latin typeface="+mj-ea"/>
                <a:ea typeface="+mj-ea"/>
              </a:rPr>
              <a:t>地址：</a:t>
            </a:r>
            <a:r>
              <a:rPr kumimoji="1" lang="en-US" altLang="zh-CN" dirty="0" smtClean="0">
                <a:latin typeface="+mj-ea"/>
                <a:ea typeface="+mj-ea"/>
              </a:rPr>
              <a:t>saiku.nonobank.com</a:t>
            </a:r>
          </a:p>
          <a:p>
            <a:endParaRPr kumimoji="1" lang="en-US" altLang="zh-CN" dirty="0">
              <a:latin typeface="+mj-ea"/>
              <a:ea typeface="+mj-ea"/>
            </a:endParaRPr>
          </a:p>
          <a:p>
            <a:r>
              <a:rPr kumimoji="1" lang="zh-CN" altLang="en-US" dirty="0" smtClean="0">
                <a:latin typeface="+mj-ea"/>
                <a:ea typeface="+mj-ea"/>
              </a:rPr>
              <a:t>登录方式：公司域帐号</a:t>
            </a:r>
            <a:endParaRPr kumimoji="1" lang="en-US" altLang="zh-CN" dirty="0" smtClean="0">
              <a:latin typeface="+mj-ea"/>
              <a:ea typeface="+mj-ea"/>
            </a:endParaRPr>
          </a:p>
          <a:p>
            <a:endParaRPr kumimoji="1" lang="en-US" altLang="zh-CN" dirty="0">
              <a:latin typeface="+mj-ea"/>
              <a:ea typeface="+mj-ea"/>
            </a:endParaRPr>
          </a:p>
          <a:p>
            <a:endParaRPr kumimoji="1" lang="zh-CN" altLang="en-US" dirty="0" smtClean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7492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麦子模板1">
  <a:themeElements>
    <a:clrScheme name="A000120140627A45KWBG 1">
      <a:dk1>
        <a:srgbClr val="000000"/>
      </a:dk1>
      <a:lt1>
        <a:srgbClr val="FFFFFF"/>
      </a:lt1>
      <a:dk2>
        <a:srgbClr val="39302A"/>
      </a:dk2>
      <a:lt2>
        <a:srgbClr val="FFFFFF"/>
      </a:lt2>
      <a:accent1>
        <a:srgbClr val="F8931D"/>
      </a:accent1>
      <a:accent2>
        <a:srgbClr val="FFCA08"/>
      </a:accent2>
      <a:accent3>
        <a:srgbClr val="FFFFFF"/>
      </a:accent3>
      <a:accent4>
        <a:srgbClr val="000000"/>
      </a:accent4>
      <a:accent5>
        <a:srgbClr val="FBC8AB"/>
      </a:accent5>
      <a:accent6>
        <a:srgbClr val="E7B706"/>
      </a:accent6>
      <a:hlink>
        <a:srgbClr val="2998E3"/>
      </a:hlink>
      <a:folHlink>
        <a:srgbClr val="7F723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kumimoji="1" dirty="0" smtClean="0">
            <a:latin typeface="+mj-ea"/>
            <a:ea typeface="+mj-ea"/>
          </a:defRPr>
        </a:defPPr>
      </a:lstStyle>
    </a:txDef>
  </a:objectDefaults>
  <a:extraClrSchemeLst>
    <a:extraClrScheme>
      <a:clrScheme name="A000120140627A45KWBG 1">
        <a:dk1>
          <a:srgbClr val="000000"/>
        </a:dk1>
        <a:lt1>
          <a:srgbClr val="FFFFFF"/>
        </a:lt1>
        <a:dk2>
          <a:srgbClr val="39302A"/>
        </a:dk2>
        <a:lt2>
          <a:srgbClr val="FFFFFF"/>
        </a:lt2>
        <a:accent1>
          <a:srgbClr val="F8931D"/>
        </a:accent1>
        <a:accent2>
          <a:srgbClr val="FFCA08"/>
        </a:accent2>
        <a:accent3>
          <a:srgbClr val="FFFFFF"/>
        </a:accent3>
        <a:accent4>
          <a:srgbClr val="000000"/>
        </a:accent4>
        <a:accent5>
          <a:srgbClr val="FBC8AB"/>
        </a:accent5>
        <a:accent6>
          <a:srgbClr val="E7B706"/>
        </a:accent6>
        <a:hlink>
          <a:srgbClr val="2998E3"/>
        </a:hlink>
        <a:folHlink>
          <a:srgbClr val="7F723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麦子模板1</Template>
  <TotalTime>7106</TotalTime>
  <Words>663</Words>
  <Application>Microsoft Office PowerPoint</Application>
  <PresentationFormat>宽屏</PresentationFormat>
  <Paragraphs>117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等线</vt:lpstr>
      <vt:lpstr>黑体</vt:lpstr>
      <vt:lpstr>宋体</vt:lpstr>
      <vt:lpstr>微软雅黑</vt:lpstr>
      <vt:lpstr>幼圆</vt:lpstr>
      <vt:lpstr>Arial</vt:lpstr>
      <vt:lpstr>Arial Black</vt:lpstr>
      <vt:lpstr>Calibri</vt:lpstr>
      <vt:lpstr>Times New Roman</vt:lpstr>
      <vt:lpstr>Wingdings</vt:lpstr>
      <vt:lpstr>Wingdings 2</vt:lpstr>
      <vt:lpstr>麦子模板1</vt:lpstr>
      <vt:lpstr>Vintage交付说明</vt:lpstr>
      <vt:lpstr>数据流程</vt:lpstr>
      <vt:lpstr>Vintage维度说明</vt:lpstr>
      <vt:lpstr>维度 - 产品分类</vt:lpstr>
      <vt:lpstr>维度 - 区域分类</vt:lpstr>
      <vt:lpstr>如何使用 Saiku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Peter Cao</dc:creator>
  <cp:lastModifiedBy>黄威</cp:lastModifiedBy>
  <cp:revision>1010</cp:revision>
  <cp:lastPrinted>2017-11-27T05:08:00Z</cp:lastPrinted>
  <dcterms:created xsi:type="dcterms:W3CDTF">2017-05-03T04:04:00Z</dcterms:created>
  <dcterms:modified xsi:type="dcterms:W3CDTF">2018-12-06T07:06:55Z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2052-10.1.0.6929</vt:lpwstr>
  </property>
</Properties>
</file>