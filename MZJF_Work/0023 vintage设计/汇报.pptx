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402" r:id="rId2"/>
    <p:sldId id="434" r:id="rId3"/>
    <p:sldId id="436" r:id="rId4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  <a:srgbClr val="F8931D"/>
    <a:srgbClr val="FAAF54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5" autoAdjust="0"/>
    <p:restoredTop sz="93419" autoAdjust="0"/>
  </p:normalViewPr>
  <p:slideViewPr>
    <p:cSldViewPr snapToGrid="0">
      <p:cViewPr>
        <p:scale>
          <a:sx n="66" d="100"/>
          <a:sy n="66" d="100"/>
        </p:scale>
        <p:origin x="96" y="1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2018/11/29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27B8B-008C-46E6-9437-9D1EB543BB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84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5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Kylin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是一个开源的、基于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Hadoop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的多维数据分析引擎，能够实现大数据量的亚秒级响应。</a:t>
            </a:r>
            <a:endParaRPr lang="en-US" altLang="zh-CN" sz="105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05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核心思想是预计算（以空间换时间），即对多维分析可能用到的度量进行预计算，将计算好的结果保存成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Cube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存储在</a:t>
            </a:r>
            <a:r>
              <a:rPr lang="en-US" altLang="zh-CN" sz="105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HTable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，当查询到达时直接访问预计算的结果，省去对源数据的扫描和计算，极大减少在线计算和读写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I/O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的代价。</a:t>
            </a:r>
            <a:endParaRPr lang="en-US" altLang="zh-CN" sz="105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05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05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Kylin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主要有两个服务，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 Engine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Cube Build Engine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 Engine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负责接收查询请求，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Cube Build Engine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负责构建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Cube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，包括创建模型、创建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Cube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、刷新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Cube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等操作。</a:t>
            </a:r>
            <a:endParaRPr kumimoji="1" lang="zh-CN" altLang="en-US" sz="105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27B8B-008C-46E6-9437-9D1EB543BB7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75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27B8B-008C-46E6-9437-9D1EB543BB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04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2018/11/29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2018/11/29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2018/11/29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2018/11/29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2018/11/29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1870" y="906339"/>
            <a:ext cx="7683500" cy="1674629"/>
          </a:xfrm>
        </p:spPr>
        <p:txBody>
          <a:bodyPr/>
          <a:lstStyle/>
          <a:p>
            <a:r>
              <a:rPr lang="en-US" altLang="zh-CN" sz="2800" dirty="0" smtClean="0"/>
              <a:t>Vintage</a:t>
            </a:r>
            <a:r>
              <a:rPr lang="zh-CN" altLang="en-US" sz="2800" dirty="0" smtClean="0"/>
              <a:t>指标</a:t>
            </a:r>
            <a:r>
              <a:rPr lang="en-US" altLang="zh-CN" sz="2800" dirty="0"/>
              <a:t/>
            </a:r>
            <a:br>
              <a:rPr lang="en-US" altLang="zh-CN" sz="2800" dirty="0"/>
            </a:br>
            <a:endParaRPr lang="zh-CN" altLang="en-US" sz="2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373780" y="5946110"/>
            <a:ext cx="6638783" cy="606425"/>
          </a:xfrm>
        </p:spPr>
        <p:txBody>
          <a:bodyPr/>
          <a:lstStyle/>
          <a:p>
            <a:r>
              <a:rPr lang="en-US" altLang="zh-CN" sz="2400" dirty="0"/>
              <a:t>2018</a:t>
            </a:r>
            <a:r>
              <a:rPr lang="zh-CN" altLang="en-US" sz="2400" dirty="0" smtClean="0"/>
              <a:t>年</a:t>
            </a:r>
            <a:r>
              <a:rPr lang="en-US" altLang="zh-CN" sz="2400" dirty="0" smtClean="0"/>
              <a:t>11</a:t>
            </a:r>
            <a:r>
              <a:rPr lang="zh-CN" altLang="en-US" sz="2400" dirty="0" smtClean="0"/>
              <a:t>月</a:t>
            </a:r>
            <a:r>
              <a:rPr lang="en-US" altLang="zh-CN" sz="2400" dirty="0"/>
              <a:t>2</a:t>
            </a:r>
            <a:r>
              <a:rPr lang="en-US" altLang="zh-CN" sz="2400" dirty="0" smtClean="0"/>
              <a:t>9</a:t>
            </a:r>
            <a:r>
              <a:rPr lang="zh-CN" altLang="en-US" sz="2400" dirty="0" smtClean="0"/>
              <a:t>日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1301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数据流程</a:t>
            </a:r>
            <a:endParaRPr kumimoji="1" lang="zh-CN" altLang="en-US" dirty="0"/>
          </a:p>
        </p:txBody>
      </p:sp>
      <p:grpSp>
        <p:nvGrpSpPr>
          <p:cNvPr id="14" name="Group122"/>
          <p:cNvGrpSpPr/>
          <p:nvPr/>
        </p:nvGrpSpPr>
        <p:grpSpPr>
          <a:xfrm>
            <a:off x="9121401" y="2029166"/>
            <a:ext cx="3045199" cy="3544210"/>
            <a:chOff x="6059411" y="2631000"/>
            <a:chExt cx="1972387" cy="1767000"/>
          </a:xfrm>
        </p:grpSpPr>
        <p:sp>
          <p:nvSpPr>
            <p:cNvPr id="16" name="MMConnector"/>
            <p:cNvSpPr/>
            <p:nvPr/>
          </p:nvSpPr>
          <p:spPr>
            <a:xfrm>
              <a:off x="6059411" y="3106000"/>
              <a:ext cx="478800" cy="646000"/>
            </a:xfrm>
            <a:custGeom>
              <a:avLst/>
              <a:gdLst/>
              <a:ahLst/>
              <a:cxnLst/>
              <a:rect l="0" t="0" r="0" b="0"/>
              <a:pathLst>
                <a:path w="478800" h="646000" fill="none">
                  <a:moveTo>
                    <a:pt x="11586" y="323000"/>
                  </a:moveTo>
                  <a:lnTo>
                    <a:pt x="196266" y="323000"/>
                  </a:lnTo>
                  <a:cubicBezTo>
                    <a:pt x="208852" y="323000"/>
                    <a:pt x="219066" y="312786"/>
                    <a:pt x="219066" y="300200"/>
                  </a:cubicBezTo>
                  <a:lnTo>
                    <a:pt x="219066" y="-300200"/>
                  </a:lnTo>
                  <a:cubicBezTo>
                    <a:pt x="219066" y="-312786"/>
                    <a:pt x="229281" y="-323000"/>
                    <a:pt x="241866" y="-323000"/>
                  </a:cubicBezTo>
                  <a:lnTo>
                    <a:pt x="490386" y="-323000"/>
                  </a:lnTo>
                </a:path>
              </a:pathLst>
            </a:custGeom>
            <a:noFill/>
            <a:ln w="7600" cap="rnd">
              <a:solidFill>
                <a:srgbClr val="4486B1"/>
              </a:solidFill>
              <a:round/>
            </a:ln>
          </p:spPr>
        </p:sp>
        <p:sp>
          <p:nvSpPr>
            <p:cNvPr id="17" name="MMConnector"/>
            <p:cNvSpPr/>
            <p:nvPr/>
          </p:nvSpPr>
          <p:spPr>
            <a:xfrm>
              <a:off x="6059411" y="3429000"/>
              <a:ext cx="478800" cy="7600"/>
            </a:xfrm>
            <a:custGeom>
              <a:avLst/>
              <a:gdLst/>
              <a:ahLst/>
              <a:cxnLst/>
              <a:rect l="0" t="0" r="0" b="0"/>
              <a:pathLst>
                <a:path w="478800" h="7600" fill="none">
                  <a:moveTo>
                    <a:pt x="11586" y="0"/>
                  </a:moveTo>
                  <a:lnTo>
                    <a:pt x="219066" y="0"/>
                  </a:lnTo>
                  <a:lnTo>
                    <a:pt x="490386" y="0"/>
                  </a:lnTo>
                </a:path>
              </a:pathLst>
            </a:custGeom>
            <a:noFill/>
            <a:ln w="7600" cap="rnd">
              <a:solidFill>
                <a:srgbClr val="4486B1"/>
              </a:solidFill>
              <a:round/>
            </a:ln>
          </p:spPr>
        </p:sp>
        <p:sp>
          <p:nvSpPr>
            <p:cNvPr id="18" name="MMConnector"/>
            <p:cNvSpPr/>
            <p:nvPr/>
          </p:nvSpPr>
          <p:spPr>
            <a:xfrm>
              <a:off x="6059411" y="3752000"/>
              <a:ext cx="478800" cy="646000"/>
            </a:xfrm>
            <a:custGeom>
              <a:avLst/>
              <a:gdLst/>
              <a:ahLst/>
              <a:cxnLst/>
              <a:rect l="0" t="0" r="0" b="0"/>
              <a:pathLst>
                <a:path w="478800" h="646000" fill="none">
                  <a:moveTo>
                    <a:pt x="11586" y="-323000"/>
                  </a:moveTo>
                  <a:lnTo>
                    <a:pt x="196266" y="-323000"/>
                  </a:lnTo>
                  <a:cubicBezTo>
                    <a:pt x="208852" y="-323000"/>
                    <a:pt x="219066" y="-312786"/>
                    <a:pt x="219066" y="-300200"/>
                  </a:cubicBezTo>
                  <a:lnTo>
                    <a:pt x="219066" y="300200"/>
                  </a:lnTo>
                  <a:cubicBezTo>
                    <a:pt x="219066" y="312786"/>
                    <a:pt x="229281" y="323000"/>
                    <a:pt x="241866" y="323000"/>
                  </a:cubicBezTo>
                  <a:lnTo>
                    <a:pt x="490386" y="323000"/>
                  </a:lnTo>
                </a:path>
              </a:pathLst>
            </a:custGeom>
            <a:noFill/>
            <a:ln w="7600" cap="rnd">
              <a:solidFill>
                <a:srgbClr val="4486B1"/>
              </a:solidFill>
              <a:round/>
            </a:ln>
          </p:spPr>
        </p:sp>
        <p:sp>
          <p:nvSpPr>
            <p:cNvPr id="21" name="MainTopic"/>
            <p:cNvSpPr/>
            <p:nvPr/>
          </p:nvSpPr>
          <p:spPr>
            <a:xfrm>
              <a:off x="6549798" y="2631000"/>
              <a:ext cx="1482000" cy="304000"/>
            </a:xfrm>
            <a:custGeom>
              <a:avLst/>
              <a:gdLst>
                <a:gd name="rtl" fmla="*/ 136800 w 1178000"/>
                <a:gd name="rtt" fmla="*/ 87400 h 304000"/>
                <a:gd name="rtr" fmla="*/ 1048800 w 1178000"/>
                <a:gd name="rtb" fmla="*/ 224200 h 304000"/>
              </a:gdLst>
              <a:ahLst/>
              <a:cxnLst/>
              <a:rect l="rtl" t="rtt" r="rtr" b="rtb"/>
              <a:pathLst>
                <a:path w="1178000" h="304000">
                  <a:moveTo>
                    <a:pt x="30400" y="0"/>
                  </a:moveTo>
                  <a:lnTo>
                    <a:pt x="1147600" y="0"/>
                  </a:lnTo>
                  <a:cubicBezTo>
                    <a:pt x="1164381" y="0"/>
                    <a:pt x="1178000" y="13619"/>
                    <a:pt x="1178000" y="30400"/>
                  </a:cubicBezTo>
                  <a:lnTo>
                    <a:pt x="1178000" y="273600"/>
                  </a:lnTo>
                  <a:cubicBezTo>
                    <a:pt x="1178000" y="290381"/>
                    <a:pt x="1164381" y="304000"/>
                    <a:pt x="1147600" y="304000"/>
                  </a:cubicBezTo>
                  <a:lnTo>
                    <a:pt x="30400" y="304000"/>
                  </a:lnTo>
                  <a:cubicBezTo>
                    <a:pt x="13619" y="304000"/>
                    <a:pt x="0" y="290381"/>
                    <a:pt x="0" y="273600"/>
                  </a:cubicBezTo>
                  <a:lnTo>
                    <a:pt x="0" y="30400"/>
                  </a:lnTo>
                  <a:cubicBezTo>
                    <a:pt x="0" y="13619"/>
                    <a:pt x="13619" y="0"/>
                    <a:pt x="30400" y="0"/>
                  </a:cubicBezTo>
                  <a:close/>
                </a:path>
              </a:pathLst>
            </a:custGeom>
            <a:solidFill>
              <a:srgbClr val="F5F9FE"/>
            </a:solidFill>
            <a:ln w="7600" cap="flat">
              <a:solidFill>
                <a:srgbClr val="4486B1"/>
              </a:solidFill>
              <a:round/>
            </a:ln>
          </p:spPr>
          <p:txBody>
            <a:bodyPr wrap="square" lIns="0" tIns="0" rIns="0" bIns="0" rtlCol="0" anchor="ctr"/>
            <a:lstStyle/>
            <a:p>
              <a:r>
                <a:rPr lang="en-US" altLang="zh-CN" sz="1600" dirty="0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Superset </a:t>
              </a:r>
              <a:r>
                <a:rPr lang="zh-CN" altLang="en-US" sz="1600" dirty="0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多维分析</a:t>
              </a:r>
              <a:endParaRPr lang="zh-CN" altLang="en-US" sz="10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MainTopic"/>
            <p:cNvSpPr/>
            <p:nvPr/>
          </p:nvSpPr>
          <p:spPr>
            <a:xfrm>
              <a:off x="6549798" y="3277000"/>
              <a:ext cx="1178000" cy="304000"/>
            </a:xfrm>
            <a:custGeom>
              <a:avLst/>
              <a:gdLst>
                <a:gd name="rtl" fmla="*/ 136800 w 1178000"/>
                <a:gd name="rtt" fmla="*/ 87400 h 304000"/>
                <a:gd name="rtr" fmla="*/ 1048800 w 1178000"/>
                <a:gd name="rtb" fmla="*/ 224200 h 304000"/>
              </a:gdLst>
              <a:ahLst/>
              <a:cxnLst/>
              <a:rect l="rtl" t="rtt" r="rtr" b="rtb"/>
              <a:pathLst>
                <a:path w="1178000" h="304000">
                  <a:moveTo>
                    <a:pt x="30400" y="0"/>
                  </a:moveTo>
                  <a:lnTo>
                    <a:pt x="1147600" y="0"/>
                  </a:lnTo>
                  <a:cubicBezTo>
                    <a:pt x="1164381" y="0"/>
                    <a:pt x="1178000" y="13619"/>
                    <a:pt x="1178000" y="30400"/>
                  </a:cubicBezTo>
                  <a:lnTo>
                    <a:pt x="1178000" y="273600"/>
                  </a:lnTo>
                  <a:cubicBezTo>
                    <a:pt x="1178000" y="290381"/>
                    <a:pt x="1164381" y="304000"/>
                    <a:pt x="1147600" y="304000"/>
                  </a:cubicBezTo>
                  <a:lnTo>
                    <a:pt x="30400" y="304000"/>
                  </a:lnTo>
                  <a:cubicBezTo>
                    <a:pt x="13619" y="304000"/>
                    <a:pt x="0" y="290381"/>
                    <a:pt x="0" y="273600"/>
                  </a:cubicBezTo>
                  <a:lnTo>
                    <a:pt x="0" y="30400"/>
                  </a:lnTo>
                  <a:cubicBezTo>
                    <a:pt x="0" y="13619"/>
                    <a:pt x="13619" y="0"/>
                    <a:pt x="30400" y="0"/>
                  </a:cubicBezTo>
                  <a:close/>
                </a:path>
              </a:pathLst>
            </a:custGeom>
            <a:solidFill>
              <a:srgbClr val="F5F9FE"/>
            </a:solidFill>
            <a:ln w="7600" cap="flat">
              <a:solidFill>
                <a:srgbClr val="4486B1"/>
              </a:solidFill>
              <a:round/>
            </a:ln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r>
                <a:rPr sz="1600" dirty="0" smtClean="0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ableau </a:t>
              </a:r>
              <a:r>
                <a:rPr sz="1600" dirty="0" err="1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报表</a:t>
              </a:r>
              <a:endParaRPr sz="16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MainTopic"/>
            <p:cNvSpPr/>
            <p:nvPr/>
          </p:nvSpPr>
          <p:spPr>
            <a:xfrm>
              <a:off x="6549798" y="3923000"/>
              <a:ext cx="1482000" cy="304000"/>
            </a:xfrm>
            <a:custGeom>
              <a:avLst/>
              <a:gdLst>
                <a:gd name="rtl" fmla="*/ 136800 w 1482000"/>
                <a:gd name="rtt" fmla="*/ 87400 h 304000"/>
                <a:gd name="rtr" fmla="*/ 1352800 w 1482000"/>
                <a:gd name="rtb" fmla="*/ 224200 h 304000"/>
              </a:gdLst>
              <a:ahLst/>
              <a:cxnLst/>
              <a:rect l="rtl" t="rtt" r="rtr" b="rtb"/>
              <a:pathLst>
                <a:path w="1482000" h="304000">
                  <a:moveTo>
                    <a:pt x="30400" y="0"/>
                  </a:moveTo>
                  <a:lnTo>
                    <a:pt x="1451600" y="0"/>
                  </a:lnTo>
                  <a:cubicBezTo>
                    <a:pt x="1468381" y="0"/>
                    <a:pt x="1482000" y="13619"/>
                    <a:pt x="1482000" y="30400"/>
                  </a:cubicBezTo>
                  <a:lnTo>
                    <a:pt x="1482000" y="273600"/>
                  </a:lnTo>
                  <a:cubicBezTo>
                    <a:pt x="1482000" y="290381"/>
                    <a:pt x="1468381" y="304000"/>
                    <a:pt x="1451600" y="304000"/>
                  </a:cubicBezTo>
                  <a:lnTo>
                    <a:pt x="30400" y="304000"/>
                  </a:lnTo>
                  <a:cubicBezTo>
                    <a:pt x="13619" y="304000"/>
                    <a:pt x="0" y="290381"/>
                    <a:pt x="0" y="273600"/>
                  </a:cubicBezTo>
                  <a:lnTo>
                    <a:pt x="0" y="30400"/>
                  </a:lnTo>
                  <a:cubicBezTo>
                    <a:pt x="0" y="13619"/>
                    <a:pt x="13619" y="0"/>
                    <a:pt x="30400" y="0"/>
                  </a:cubicBezTo>
                  <a:close/>
                </a:path>
              </a:pathLst>
            </a:custGeom>
            <a:solidFill>
              <a:srgbClr val="F5F9FE"/>
            </a:solidFill>
            <a:ln w="7600" cap="flat">
              <a:solidFill>
                <a:srgbClr val="4486B1"/>
              </a:solidFill>
              <a:round/>
            </a:ln>
          </p:spPr>
          <p:txBody>
            <a:bodyPr wrap="square" lIns="0" tIns="0" rIns="0" bIns="0" rtlCol="0" anchor="ctr"/>
            <a:lstStyle/>
            <a:p>
              <a:r>
                <a:rPr lang="en-US" altLang="zh-CN" sz="1600" dirty="0" smtClean="0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Excel </a:t>
              </a:r>
              <a:r>
                <a:rPr lang="zh-CN" altLang="en-US" sz="1600" dirty="0" smtClean="0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透视表</a:t>
              </a:r>
              <a:endParaRPr sz="16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0" t="16278" r="21480" b="23478"/>
          <a:stretch/>
        </p:blipFill>
        <p:spPr>
          <a:xfrm>
            <a:off x="5324155" y="1050074"/>
            <a:ext cx="3425442" cy="2884582"/>
          </a:xfrm>
          <a:prstGeom prst="rect">
            <a:avLst/>
          </a:prstGeom>
        </p:spPr>
      </p:pic>
      <p:sp>
        <p:nvSpPr>
          <p:cNvPr id="35" name="流程图: 磁盘 34"/>
          <p:cNvSpPr/>
          <p:nvPr/>
        </p:nvSpPr>
        <p:spPr bwMode="auto">
          <a:xfrm>
            <a:off x="460829" y="1703752"/>
            <a:ext cx="1190172" cy="1069999"/>
          </a:xfrm>
          <a:prstGeom prst="flowChartMagneticDisk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1" i="0" u="none" strike="noStrike" normalizeH="0" baseline="0" dirty="0" smtClean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数据平台</a:t>
            </a:r>
            <a:endParaRPr kumimoji="0" lang="zh-CN" altLang="en-US" sz="1800" b="1" i="0" u="none" strike="noStrike" normalizeH="0" baseline="0" dirty="0" smtClean="0">
              <a:ln w="0"/>
              <a:solidFill>
                <a:schemeClr val="bg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465" y="3629777"/>
            <a:ext cx="2968925" cy="215056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cxnSp>
        <p:nvCxnSpPr>
          <p:cNvPr id="42" name="直接箭头连接符 41"/>
          <p:cNvCxnSpPr/>
          <p:nvPr/>
        </p:nvCxnSpPr>
        <p:spPr bwMode="auto">
          <a:xfrm>
            <a:off x="1549401" y="2831483"/>
            <a:ext cx="622464" cy="438309"/>
          </a:xfrm>
          <a:prstGeom prst="straightConnector1">
            <a:avLst/>
          </a:prstGeom>
          <a:ln w="76200">
            <a:solidFill>
              <a:srgbClr val="0070C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 bwMode="auto">
          <a:xfrm flipV="1">
            <a:off x="5373018" y="3849628"/>
            <a:ext cx="722982" cy="647868"/>
          </a:xfrm>
          <a:prstGeom prst="straightConnector1">
            <a:avLst/>
          </a:prstGeom>
          <a:ln w="76200">
            <a:solidFill>
              <a:srgbClr val="0070C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 bwMode="auto">
          <a:xfrm>
            <a:off x="8749597" y="3236361"/>
            <a:ext cx="622464" cy="438309"/>
          </a:xfrm>
          <a:prstGeom prst="straightConnector1">
            <a:avLst/>
          </a:prstGeom>
          <a:ln w="76200">
            <a:solidFill>
              <a:srgbClr val="0070C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2742264" y="589766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风险管理指标集市</a:t>
            </a:r>
            <a:endParaRPr kumimoji="1"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487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>
                <a:latin typeface="+mj-ea"/>
              </a:rPr>
              <a:t>OLAP</a:t>
            </a:r>
            <a:r>
              <a:rPr kumimoji="1" lang="zh-CN" altLang="en-US" dirty="0" smtClean="0">
                <a:latin typeface="+mj-ea"/>
              </a:rPr>
              <a:t>多维工具比较</a:t>
            </a:r>
            <a:endParaRPr kumimoji="1" lang="zh-CN" altLang="en-US" dirty="0">
              <a:latin typeface="+mj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71206"/>
              </p:ext>
            </p:extLst>
          </p:nvPr>
        </p:nvGraphicFramePr>
        <p:xfrm>
          <a:off x="1393371" y="1546980"/>
          <a:ext cx="8824686" cy="4802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1562">
                  <a:extLst>
                    <a:ext uri="{9D8B030D-6E8A-4147-A177-3AD203B41FA5}">
                      <a16:colId xmlns:a16="http://schemas.microsoft.com/office/drawing/2014/main" val="2004195094"/>
                    </a:ext>
                  </a:extLst>
                </a:gridCol>
                <a:gridCol w="2941562">
                  <a:extLst>
                    <a:ext uri="{9D8B030D-6E8A-4147-A177-3AD203B41FA5}">
                      <a16:colId xmlns:a16="http://schemas.microsoft.com/office/drawing/2014/main" val="1462822867"/>
                    </a:ext>
                  </a:extLst>
                </a:gridCol>
                <a:gridCol w="2941562">
                  <a:extLst>
                    <a:ext uri="{9D8B030D-6E8A-4147-A177-3AD203B41FA5}">
                      <a16:colId xmlns:a16="http://schemas.microsoft.com/office/drawing/2014/main" val="4035113862"/>
                    </a:ext>
                  </a:extLst>
                </a:gridCol>
              </a:tblGrid>
              <a:tr h="11590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solidFill>
                            <a:schemeClr val="bg2"/>
                          </a:solidFill>
                        </a:rPr>
                        <a:t>工具</a:t>
                      </a:r>
                      <a:endParaRPr lang="zh-CN" altLang="en-US" sz="24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 smtClean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优势</a:t>
                      </a:r>
                      <a:endParaRPr lang="en-US" altLang="zh-CN" sz="1800" b="0" i="0" kern="1200" dirty="0" smtClean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solidFill>
                            <a:schemeClr val="bg2"/>
                          </a:solidFill>
                        </a:rPr>
                        <a:t>缺点</a:t>
                      </a:r>
                      <a:endParaRPr lang="zh-CN" altLang="en-US" sz="18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1087219"/>
                  </a:ext>
                </a:extLst>
              </a:tr>
              <a:tr h="11590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4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Superset</a:t>
                      </a:r>
                      <a:endParaRPr lang="zh-CN" altLang="en-US" sz="2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i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开</a:t>
                      </a:r>
                      <a:r>
                        <a:rPr lang="zh-CN" altLang="en-US" sz="1800" b="0" i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源</a:t>
                      </a:r>
                      <a:r>
                        <a:rPr lang="en-US" altLang="zh-CN" sz="1800" b="0" i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</a:t>
                      </a:r>
                      <a:r>
                        <a:rPr lang="zh-CN" altLang="en-US" sz="1800" b="0" i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产品</a:t>
                      </a:r>
                      <a:endParaRPr lang="en-US" altLang="zh-CN" sz="1800" b="0" i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i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支持可视化</a:t>
                      </a:r>
                      <a:endParaRPr lang="en-US" altLang="zh-CN" sz="1800" b="0" i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i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多数据源</a:t>
                      </a:r>
                      <a:endParaRPr lang="en-US" altLang="zh-CN" sz="1800" b="0" i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开源功能不丰富</a:t>
                      </a:r>
                      <a:endParaRPr lang="en-US" altLang="zh-CN" sz="1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可升级为企业版</a:t>
                      </a:r>
                      <a:endParaRPr lang="en-US" altLang="zh-CN" sz="1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4660843"/>
                  </a:ext>
                </a:extLst>
              </a:tr>
              <a:tr h="11590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4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Tableau</a:t>
                      </a:r>
                      <a:endParaRPr lang="zh-CN" altLang="en-US" sz="2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简单快速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可视化分析</a:t>
                      </a:r>
                      <a:endParaRPr lang="en-US" altLang="zh-CN" sz="1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收费的商业软件</a:t>
                      </a:r>
                      <a:endParaRPr lang="en-US" altLang="zh-CN" sz="1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636254"/>
                  </a:ext>
                </a:extLst>
              </a:tr>
              <a:tr h="11590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4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Excel</a:t>
                      </a:r>
                      <a:endParaRPr lang="zh-CN" altLang="en-US" sz="2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简单通用</a:t>
                      </a:r>
                      <a:endParaRPr lang="en-US" altLang="zh-CN" sz="1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操作灵活</a:t>
                      </a:r>
                      <a:endParaRPr lang="en-US" altLang="zh-CN" sz="1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离线分析</a:t>
                      </a:r>
                      <a:endParaRPr lang="en-US" altLang="zh-CN" sz="1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数据变更繁琐</a:t>
                      </a:r>
                      <a:endParaRPr lang="en-US" altLang="zh-CN" sz="1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5910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2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6998</TotalTime>
  <Words>203</Words>
  <Application>Microsoft Office PowerPoint</Application>
  <PresentationFormat>宽屏</PresentationFormat>
  <Paragraphs>35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等线</vt:lpstr>
      <vt:lpstr>黑体</vt:lpstr>
      <vt:lpstr>宋体</vt:lpstr>
      <vt:lpstr>微软雅黑</vt:lpstr>
      <vt:lpstr>幼圆</vt:lpstr>
      <vt:lpstr>Arial</vt:lpstr>
      <vt:lpstr>Arial Black</vt:lpstr>
      <vt:lpstr>Calibri</vt:lpstr>
      <vt:lpstr>Wingdings</vt:lpstr>
      <vt:lpstr>Wingdings 2</vt:lpstr>
      <vt:lpstr>麦子模板1</vt:lpstr>
      <vt:lpstr>Vintage指标 </vt:lpstr>
      <vt:lpstr>数据流程</vt:lpstr>
      <vt:lpstr>OLAP多维工具比较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992</cp:revision>
  <cp:lastPrinted>2017-11-27T05:08:00Z</cp:lastPrinted>
  <dcterms:created xsi:type="dcterms:W3CDTF">2017-05-03T04:04:00Z</dcterms:created>
  <dcterms:modified xsi:type="dcterms:W3CDTF">2018-11-29T09:23:15Z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