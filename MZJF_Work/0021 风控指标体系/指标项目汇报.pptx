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02" r:id="rId2"/>
    <p:sldId id="440" r:id="rId3"/>
    <p:sldId id="442" r:id="rId4"/>
    <p:sldId id="434" r:id="rId5"/>
    <p:sldId id="443" r:id="rId6"/>
    <p:sldId id="446" r:id="rId7"/>
    <p:sldId id="449" r:id="rId8"/>
    <p:sldId id="450" r:id="rId9"/>
    <p:sldId id="444" r:id="rId10"/>
    <p:sldId id="452" r:id="rId11"/>
    <p:sldId id="453" r:id="rId12"/>
    <p:sldId id="447" r:id="rId13"/>
    <p:sldId id="454" r:id="rId14"/>
    <p:sldId id="445" r:id="rId15"/>
    <p:sldId id="448" r:id="rId16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05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5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2018/12/29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846638" y="2199562"/>
            <a:ext cx="8984798" cy="167462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4400" dirty="0" smtClean="0"/>
              <a:t>风控指标</a:t>
            </a:r>
            <a:r>
              <a:rPr lang="en-US" altLang="zh-CN" sz="3600" dirty="0" smtClean="0"/>
              <a:t/>
            </a:r>
            <a:br>
              <a:rPr lang="en-US" altLang="zh-CN" sz="3600" dirty="0" smtClean="0"/>
            </a:br>
            <a:r>
              <a:rPr lang="zh-CN" altLang="en-US" sz="3600" dirty="0" smtClean="0"/>
              <a:t>多维分析平台发布说明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3174" y="5110087"/>
            <a:ext cx="6638783" cy="606425"/>
          </a:xfrm>
        </p:spPr>
        <p:txBody>
          <a:bodyPr/>
          <a:lstStyle/>
          <a:p>
            <a:r>
              <a:rPr lang="en-US" altLang="zh-CN" sz="2400" dirty="0"/>
              <a:t>2018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29</a:t>
            </a:r>
            <a:r>
              <a:rPr lang="zh-CN" altLang="en-US" sz="2400" dirty="0" smtClean="0"/>
              <a:t>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301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197905-05D3-411C-B96F-F135D534C1BD}"/>
              </a:ext>
            </a:extLst>
          </p:cNvPr>
          <p:cNvGrpSpPr/>
          <p:nvPr/>
        </p:nvGrpSpPr>
        <p:grpSpPr>
          <a:xfrm>
            <a:off x="1627086" y="2102932"/>
            <a:ext cx="1610670" cy="1613928"/>
            <a:chOff x="1627086" y="1705794"/>
            <a:chExt cx="1610670" cy="1613928"/>
          </a:xfrm>
        </p:grpSpPr>
        <p:sp>
          <p:nvSpPr>
            <p:cNvPr id="5" name="任意多边形 82">
              <a:extLst>
                <a:ext uri="{FF2B5EF4-FFF2-40B4-BE49-F238E27FC236}">
                  <a16:creationId xmlns:a16="http://schemas.microsoft.com/office/drawing/2014/main" id="{03DFFA41-868C-4804-ABE6-CF91BB49F701}"/>
                </a:ext>
              </a:extLst>
            </p:cNvPr>
            <p:cNvSpPr/>
            <p:nvPr/>
          </p:nvSpPr>
          <p:spPr bwMode="auto">
            <a:xfrm rot="3738964">
              <a:off x="1625457" y="1707423"/>
              <a:ext cx="1613928" cy="161067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414C55">
                <a:lumMod val="20000"/>
                <a:lumOff val="80000"/>
                <a:alpha val="4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椭圆 80">
              <a:extLst>
                <a:ext uri="{FF2B5EF4-FFF2-40B4-BE49-F238E27FC236}">
                  <a16:creationId xmlns:a16="http://schemas.microsoft.com/office/drawing/2014/main" id="{BE38D5C0-00B3-418D-A648-B1F48655F85E}"/>
                </a:ext>
              </a:extLst>
            </p:cNvPr>
            <p:cNvSpPr/>
            <p:nvPr/>
          </p:nvSpPr>
          <p:spPr bwMode="auto">
            <a:xfrm>
              <a:off x="1850445" y="1929603"/>
              <a:ext cx="1163953" cy="1166311"/>
            </a:xfrm>
            <a:prstGeom prst="ellipse">
              <a:avLst/>
            </a:pr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57">
              <a:extLst>
                <a:ext uri="{FF2B5EF4-FFF2-40B4-BE49-F238E27FC236}">
                  <a16:creationId xmlns:a16="http://schemas.microsoft.com/office/drawing/2014/main" id="{35D5B298-E2C2-4A2F-A627-846CFC0D0F0D}"/>
                </a:ext>
              </a:extLst>
            </p:cNvPr>
            <p:cNvSpPr txBox="1"/>
            <p:nvPr/>
          </p:nvSpPr>
          <p:spPr>
            <a:xfrm>
              <a:off x="1964986" y="2258843"/>
              <a:ext cx="934871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85A63D5-6415-4051-8352-9D00950FC42F}"/>
              </a:ext>
            </a:extLst>
          </p:cNvPr>
          <p:cNvGrpSpPr/>
          <p:nvPr/>
        </p:nvGrpSpPr>
        <p:grpSpPr>
          <a:xfrm>
            <a:off x="3707904" y="1426618"/>
            <a:ext cx="545823" cy="596189"/>
            <a:chOff x="4339490" y="761746"/>
            <a:chExt cx="727764" cy="794920"/>
          </a:xfrm>
        </p:grpSpPr>
        <p:sp>
          <p:nvSpPr>
            <p:cNvPr id="9" name="任意多边形 82">
              <a:extLst>
                <a:ext uri="{FF2B5EF4-FFF2-40B4-BE49-F238E27FC236}">
                  <a16:creationId xmlns:a16="http://schemas.microsoft.com/office/drawing/2014/main" id="{346A00FE-556E-4E9C-8250-D4E88146FDBE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67">
              <a:extLst>
                <a:ext uri="{FF2B5EF4-FFF2-40B4-BE49-F238E27FC236}">
                  <a16:creationId xmlns:a16="http://schemas.microsoft.com/office/drawing/2014/main" id="{8141E691-94E0-4EE5-A9BE-50EDA45034A5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39">
            <a:extLst>
              <a:ext uri="{FF2B5EF4-FFF2-40B4-BE49-F238E27FC236}">
                <a16:creationId xmlns:a16="http://schemas.microsoft.com/office/drawing/2014/main" id="{FB80FC5A-F33E-44A7-A845-03248DDA3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2" y="1216659"/>
            <a:ext cx="5221167" cy="743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3200" b="1" kern="0" dirty="0" smtClean="0">
                <a:solidFill>
                  <a:srgbClr val="8B18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指标体系化的优势</a:t>
            </a:r>
            <a:endParaRPr lang="zh-CN" altLang="en-US" sz="3200" b="1" kern="0" dirty="0">
              <a:solidFill>
                <a:srgbClr val="8B181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39">
            <a:extLst>
              <a:ext uri="{FF2B5EF4-FFF2-40B4-BE49-F238E27FC236}">
                <a16:creationId xmlns:a16="http://schemas.microsoft.com/office/drawing/2014/main" id="{4C55AE36-DA23-4CBF-8DDE-1D0F7451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2399558"/>
            <a:ext cx="3705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指标的需求</a:t>
            </a: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</a:p>
        </p:txBody>
      </p:sp>
      <p:sp>
        <p:nvSpPr>
          <p:cNvPr id="13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7826" y="3431652"/>
            <a:ext cx="37066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指标体系的</a:t>
            </a: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EC0EA85-4431-40D8-9455-987284E399ED}"/>
              </a:ext>
            </a:extLst>
          </p:cNvPr>
          <p:cNvGrpSpPr/>
          <p:nvPr/>
        </p:nvGrpSpPr>
        <p:grpSpPr>
          <a:xfrm>
            <a:off x="3653415" y="2482661"/>
            <a:ext cx="545823" cy="596189"/>
            <a:chOff x="4339490" y="761746"/>
            <a:chExt cx="727764" cy="794920"/>
          </a:xfrm>
        </p:grpSpPr>
        <p:sp>
          <p:nvSpPr>
            <p:cNvPr id="15" name="任意多边形 82">
              <a:extLst>
                <a:ext uri="{FF2B5EF4-FFF2-40B4-BE49-F238E27FC236}">
                  <a16:creationId xmlns:a16="http://schemas.microsoft.com/office/drawing/2014/main" id="{81A18F38-B788-4173-B856-2F3FECC5E4B1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67">
              <a:extLst>
                <a:ext uri="{FF2B5EF4-FFF2-40B4-BE49-F238E27FC236}">
                  <a16:creationId xmlns:a16="http://schemas.microsoft.com/office/drawing/2014/main" id="{77FADB82-21E7-433C-9BA1-D90B289409DE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707904" y="3552719"/>
            <a:ext cx="545823" cy="596189"/>
            <a:chOff x="4339490" y="761746"/>
            <a:chExt cx="727764" cy="794920"/>
          </a:xfrm>
        </p:grpSpPr>
        <p:sp>
          <p:nvSpPr>
            <p:cNvPr id="18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408" y="4511515"/>
            <a:ext cx="35934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多维分析说明及演示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690486" y="4632582"/>
            <a:ext cx="545823" cy="596189"/>
            <a:chOff x="4339490" y="761746"/>
            <a:chExt cx="727764" cy="794920"/>
          </a:xfrm>
        </p:grpSpPr>
        <p:sp>
          <p:nvSpPr>
            <p:cNvPr id="22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28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/>
        </p:nvSpPr>
        <p:spPr>
          <a:xfrm>
            <a:off x="838200" y="1360028"/>
            <a:ext cx="10681118" cy="5275904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始终关注业务目标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分析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人员业务理解程度，或分析思路的不同，造成业务口径的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差异。以业务为重心，找出业务的痛点，得出优化的建议。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注重数据分析的思维</a:t>
            </a:r>
          </a:p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传统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分析手段只能使用固化的分析维度，不能随意组合或维度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转置。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endParaRPr lang="zh-CN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辅以高效的分析工具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采用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coding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的方式，或者使用固定报告，无法高效地完成分析</a:t>
            </a:r>
            <a:r>
              <a:rPr lang="zh-CN" altLang="en-US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工作。</a:t>
            </a:r>
            <a:endParaRPr lang="en-US" altLang="zh-CN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</p:spPr>
        <p:txBody>
          <a:bodyPr/>
          <a:lstStyle/>
          <a:p>
            <a:r>
              <a:rPr lang="zh-CN" altLang="en-US" dirty="0" smtClean="0"/>
              <a:t>数据分析的目标</a:t>
            </a:r>
            <a:endParaRPr lang="zh-CN" altLang="en-US" dirty="0"/>
          </a:p>
        </p:txBody>
      </p:sp>
      <p:pic>
        <p:nvPicPr>
          <p:cNvPr id="8" name="Picture 2" descr="https://timgsa.baidu.com/timg?image&amp;quality=80&amp;size=b9999_10000&amp;sec=1518062796970&amp;di=a7c9af1196514cf54420c5a884a729dd&amp;imgtype=0&amp;src=http%3A%2F%2Fimg.taopic.com%2Fuploads%2Fallimg%2F120309%2F8879-12030919153055.jpg">
            <a:extLst>
              <a:ext uri="{FF2B5EF4-FFF2-40B4-BE49-F238E27FC236}">
                <a16:creationId xmlns:a16="http://schemas.microsoft.com/office/drawing/2014/main" id="{3EE1AE84-3094-4442-939C-9FC85CB1DB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43" r="25512"/>
          <a:stretch/>
        </p:blipFill>
        <p:spPr bwMode="auto">
          <a:xfrm>
            <a:off x="8448103" y="2612574"/>
            <a:ext cx="2718518" cy="354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770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引入多维分析平台</a:t>
            </a:r>
            <a:endParaRPr kumimoji="1"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0" t="16278" r="21480" b="23478"/>
          <a:stretch/>
        </p:blipFill>
        <p:spPr>
          <a:xfrm>
            <a:off x="5004128" y="1473755"/>
            <a:ext cx="3224605" cy="2715456"/>
          </a:xfrm>
          <a:prstGeom prst="rect">
            <a:avLst/>
          </a:prstGeom>
        </p:spPr>
      </p:pic>
      <p:sp>
        <p:nvSpPr>
          <p:cNvPr id="35" name="流程图: 磁盘 34"/>
          <p:cNvSpPr/>
          <p:nvPr/>
        </p:nvSpPr>
        <p:spPr bwMode="auto">
          <a:xfrm>
            <a:off x="460829" y="1703752"/>
            <a:ext cx="1190172" cy="1069999"/>
          </a:xfrm>
          <a:prstGeom prst="flowChartMagneticDisk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normalizeH="0" baseline="0" dirty="0" smtClean="0">
                <a:ln w="0"/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数据平台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286" y="3456738"/>
            <a:ext cx="2650790" cy="192012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42" name="直接箭头连接符 41"/>
          <p:cNvCxnSpPr/>
          <p:nvPr/>
        </p:nvCxnSpPr>
        <p:spPr bwMode="auto">
          <a:xfrm>
            <a:off x="1549401" y="2831483"/>
            <a:ext cx="622464" cy="438309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 bwMode="auto">
          <a:xfrm flipV="1">
            <a:off x="4962664" y="3982196"/>
            <a:ext cx="722982" cy="647868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 bwMode="auto">
          <a:xfrm>
            <a:off x="7997373" y="3018429"/>
            <a:ext cx="622464" cy="438309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583198" y="578009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风险管理指标体系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909" y="3700904"/>
            <a:ext cx="3475971" cy="96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7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197905-05D3-411C-B96F-F135D534C1BD}"/>
              </a:ext>
            </a:extLst>
          </p:cNvPr>
          <p:cNvGrpSpPr/>
          <p:nvPr/>
        </p:nvGrpSpPr>
        <p:grpSpPr>
          <a:xfrm>
            <a:off x="1627086" y="2102932"/>
            <a:ext cx="1610670" cy="1613928"/>
            <a:chOff x="1627086" y="1705794"/>
            <a:chExt cx="1610670" cy="1613928"/>
          </a:xfrm>
        </p:grpSpPr>
        <p:sp>
          <p:nvSpPr>
            <p:cNvPr id="5" name="任意多边形 82">
              <a:extLst>
                <a:ext uri="{FF2B5EF4-FFF2-40B4-BE49-F238E27FC236}">
                  <a16:creationId xmlns:a16="http://schemas.microsoft.com/office/drawing/2014/main" id="{03DFFA41-868C-4804-ABE6-CF91BB49F701}"/>
                </a:ext>
              </a:extLst>
            </p:cNvPr>
            <p:cNvSpPr/>
            <p:nvPr/>
          </p:nvSpPr>
          <p:spPr bwMode="auto">
            <a:xfrm rot="3738964">
              <a:off x="1625457" y="1707423"/>
              <a:ext cx="1613928" cy="161067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414C55">
                <a:lumMod val="20000"/>
                <a:lumOff val="80000"/>
                <a:alpha val="4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椭圆 80">
              <a:extLst>
                <a:ext uri="{FF2B5EF4-FFF2-40B4-BE49-F238E27FC236}">
                  <a16:creationId xmlns:a16="http://schemas.microsoft.com/office/drawing/2014/main" id="{BE38D5C0-00B3-418D-A648-B1F48655F85E}"/>
                </a:ext>
              </a:extLst>
            </p:cNvPr>
            <p:cNvSpPr/>
            <p:nvPr/>
          </p:nvSpPr>
          <p:spPr bwMode="auto">
            <a:xfrm>
              <a:off x="1850445" y="1929603"/>
              <a:ext cx="1163953" cy="1166311"/>
            </a:xfrm>
            <a:prstGeom prst="ellipse">
              <a:avLst/>
            </a:pr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57">
              <a:extLst>
                <a:ext uri="{FF2B5EF4-FFF2-40B4-BE49-F238E27FC236}">
                  <a16:creationId xmlns:a16="http://schemas.microsoft.com/office/drawing/2014/main" id="{35D5B298-E2C2-4A2F-A627-846CFC0D0F0D}"/>
                </a:ext>
              </a:extLst>
            </p:cNvPr>
            <p:cNvSpPr txBox="1"/>
            <p:nvPr/>
          </p:nvSpPr>
          <p:spPr>
            <a:xfrm>
              <a:off x="1964986" y="2258843"/>
              <a:ext cx="934871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85A63D5-6415-4051-8352-9D00950FC42F}"/>
              </a:ext>
            </a:extLst>
          </p:cNvPr>
          <p:cNvGrpSpPr/>
          <p:nvPr/>
        </p:nvGrpSpPr>
        <p:grpSpPr>
          <a:xfrm>
            <a:off x="3707904" y="1426618"/>
            <a:ext cx="545823" cy="596189"/>
            <a:chOff x="4339490" y="761746"/>
            <a:chExt cx="727764" cy="794920"/>
          </a:xfrm>
        </p:grpSpPr>
        <p:sp>
          <p:nvSpPr>
            <p:cNvPr id="9" name="任意多边形 82">
              <a:extLst>
                <a:ext uri="{FF2B5EF4-FFF2-40B4-BE49-F238E27FC236}">
                  <a16:creationId xmlns:a16="http://schemas.microsoft.com/office/drawing/2014/main" id="{346A00FE-556E-4E9C-8250-D4E88146FDBE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67">
              <a:extLst>
                <a:ext uri="{FF2B5EF4-FFF2-40B4-BE49-F238E27FC236}">
                  <a16:creationId xmlns:a16="http://schemas.microsoft.com/office/drawing/2014/main" id="{8141E691-94E0-4EE5-A9BE-50EDA45034A5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39">
            <a:extLst>
              <a:ext uri="{FF2B5EF4-FFF2-40B4-BE49-F238E27FC236}">
                <a16:creationId xmlns:a16="http://schemas.microsoft.com/office/drawing/2014/main" id="{FB80FC5A-F33E-44A7-A845-03248DDA3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1412604"/>
            <a:ext cx="4450458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指标体系化的优势</a:t>
            </a:r>
          </a:p>
        </p:txBody>
      </p:sp>
      <p:sp>
        <p:nvSpPr>
          <p:cNvPr id="12" name="矩形 39">
            <a:extLst>
              <a:ext uri="{FF2B5EF4-FFF2-40B4-BE49-F238E27FC236}">
                <a16:creationId xmlns:a16="http://schemas.microsoft.com/office/drawing/2014/main" id="{4C55AE36-DA23-4CBF-8DDE-1D0F7451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2268928"/>
            <a:ext cx="528648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3200" b="1" kern="0" dirty="0">
                <a:solidFill>
                  <a:srgbClr val="8B18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风控指标的需求回顾</a:t>
            </a:r>
          </a:p>
        </p:txBody>
      </p:sp>
      <p:sp>
        <p:nvSpPr>
          <p:cNvPr id="13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7826" y="3431652"/>
            <a:ext cx="37066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指标体系的</a:t>
            </a: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EC0EA85-4431-40D8-9455-987284E399ED}"/>
              </a:ext>
            </a:extLst>
          </p:cNvPr>
          <p:cNvGrpSpPr/>
          <p:nvPr/>
        </p:nvGrpSpPr>
        <p:grpSpPr>
          <a:xfrm>
            <a:off x="3653415" y="2482661"/>
            <a:ext cx="545823" cy="596189"/>
            <a:chOff x="4339490" y="761746"/>
            <a:chExt cx="727764" cy="794920"/>
          </a:xfrm>
        </p:grpSpPr>
        <p:sp>
          <p:nvSpPr>
            <p:cNvPr id="15" name="任意多边形 82">
              <a:extLst>
                <a:ext uri="{FF2B5EF4-FFF2-40B4-BE49-F238E27FC236}">
                  <a16:creationId xmlns:a16="http://schemas.microsoft.com/office/drawing/2014/main" id="{81A18F38-B788-4173-B856-2F3FECC5E4B1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67">
              <a:extLst>
                <a:ext uri="{FF2B5EF4-FFF2-40B4-BE49-F238E27FC236}">
                  <a16:creationId xmlns:a16="http://schemas.microsoft.com/office/drawing/2014/main" id="{77FADB82-21E7-433C-9BA1-D90B289409DE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707904" y="3552719"/>
            <a:ext cx="545823" cy="596189"/>
            <a:chOff x="4339490" y="761746"/>
            <a:chExt cx="727764" cy="794920"/>
          </a:xfrm>
        </p:grpSpPr>
        <p:sp>
          <p:nvSpPr>
            <p:cNvPr id="18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408" y="4511515"/>
            <a:ext cx="35934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多维分析说明及演示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690486" y="4632582"/>
            <a:ext cx="545823" cy="596189"/>
            <a:chOff x="4339490" y="761746"/>
            <a:chExt cx="727764" cy="794920"/>
          </a:xfrm>
        </p:grpSpPr>
        <p:sp>
          <p:nvSpPr>
            <p:cNvPr id="22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42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需求 </a:t>
            </a:r>
            <a:r>
              <a:rPr lang="en-US" altLang="zh-CN" dirty="0" smtClean="0"/>
              <a:t>-</a:t>
            </a:r>
            <a:r>
              <a:rPr lang="zh-CN" altLang="en-US" dirty="0" smtClean="0"/>
              <a:t>业务指标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98584"/>
              </p:ext>
            </p:extLst>
          </p:nvPr>
        </p:nvGraphicFramePr>
        <p:xfrm>
          <a:off x="4021409" y="585835"/>
          <a:ext cx="6128431" cy="59385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5984">
                  <a:extLst>
                    <a:ext uri="{9D8B030D-6E8A-4147-A177-3AD203B41FA5}">
                      <a16:colId xmlns:a16="http://schemas.microsoft.com/office/drawing/2014/main" val="752345277"/>
                    </a:ext>
                  </a:extLst>
                </a:gridCol>
                <a:gridCol w="1293223">
                  <a:extLst>
                    <a:ext uri="{9D8B030D-6E8A-4147-A177-3AD203B41FA5}">
                      <a16:colId xmlns:a16="http://schemas.microsoft.com/office/drawing/2014/main" val="966187136"/>
                    </a:ext>
                  </a:extLst>
                </a:gridCol>
                <a:gridCol w="3579224">
                  <a:extLst>
                    <a:ext uri="{9D8B030D-6E8A-4147-A177-3AD203B41FA5}">
                      <a16:colId xmlns:a16="http://schemas.microsoft.com/office/drawing/2014/main" val="817786637"/>
                    </a:ext>
                  </a:extLst>
                </a:gridCol>
              </a:tblGrid>
              <a:tr h="17373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业务流程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业务模块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业务指标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0111194"/>
                  </a:ext>
                </a:extLst>
              </a:tr>
              <a:tr h="17373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申请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申请指标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5516583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金额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40217271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件均    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1426788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期限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45068666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平均期限</a:t>
                      </a:r>
                      <a:r>
                        <a:rPr lang="en-US" altLang="zh-CN" sz="1000" u="none" strike="noStrike" dirty="0">
                          <a:effectLst/>
                        </a:rPr>
                        <a:t>(</a:t>
                      </a:r>
                      <a:r>
                        <a:rPr lang="zh-CN" altLang="en-US" sz="1000" u="none" strike="noStrike" dirty="0">
                          <a:effectLst/>
                        </a:rPr>
                        <a:t>月</a:t>
                      </a:r>
                      <a:r>
                        <a:rPr lang="en-US" altLang="zh-CN" sz="1000" u="none" strike="noStrike" dirty="0">
                          <a:effectLst/>
                        </a:rPr>
                        <a:t>)  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8036199"/>
                  </a:ext>
                </a:extLst>
              </a:tr>
              <a:tr h="173730">
                <a:tc rowSpan="2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审批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 rowSpan="2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审批指标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拒绝</a:t>
                      </a:r>
                      <a:r>
                        <a:rPr lang="zh-CN" altLang="en-US" sz="1000" u="none" strike="noStrike" dirty="0">
                          <a:effectLst/>
                        </a:rPr>
                        <a:t>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61440961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自动</a:t>
                      </a:r>
                      <a:r>
                        <a:rPr lang="zh-CN" altLang="en-US" sz="1000" u="none" strike="noStrike" dirty="0">
                          <a:effectLst/>
                        </a:rPr>
                        <a:t>拒绝的申请数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73470935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人工</a:t>
                      </a:r>
                      <a:r>
                        <a:rPr lang="zh-CN" altLang="en-US" sz="1000" u="none" strike="noStrike" dirty="0">
                          <a:effectLst/>
                        </a:rPr>
                        <a:t>拒绝的申请数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92706562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通过</a:t>
                      </a:r>
                      <a:r>
                        <a:rPr lang="zh-CN" altLang="en-US" sz="1000" u="none" strike="noStrike" dirty="0">
                          <a:effectLst/>
                        </a:rPr>
                        <a:t>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23929971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自动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7129973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人工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2037512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取消</a:t>
                      </a:r>
                      <a:r>
                        <a:rPr lang="zh-CN" altLang="en-US" sz="1000" u="none" strike="noStrike" dirty="0">
                          <a:effectLst/>
                        </a:rPr>
                        <a:t>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7751876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欺诈</a:t>
                      </a:r>
                      <a:r>
                        <a:rPr lang="zh-CN" altLang="en-US" sz="1000" u="none" strike="noStrike" dirty="0">
                          <a:effectLst/>
                        </a:rPr>
                        <a:t>的申请数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0794491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自动</a:t>
                      </a:r>
                      <a:r>
                        <a:rPr lang="zh-CN" altLang="en-US" sz="1000" u="none" strike="noStrike" dirty="0">
                          <a:effectLst/>
                        </a:rPr>
                        <a:t>决策件数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8374236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信</a:t>
                      </a:r>
                      <a:r>
                        <a:rPr lang="zh-CN" altLang="en-US" sz="1000" u="none" strike="noStrike" dirty="0">
                          <a:effectLst/>
                        </a:rPr>
                        <a:t>审处理总数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586563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拒绝率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2506943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人工</a:t>
                      </a:r>
                      <a:r>
                        <a:rPr lang="zh-CN" altLang="en-US" sz="1000" u="none" strike="noStrike" dirty="0">
                          <a:effectLst/>
                        </a:rPr>
                        <a:t>拒绝率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77902984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自动</a:t>
                      </a:r>
                      <a:r>
                        <a:rPr lang="zh-CN" altLang="en-US" sz="1000" u="none" strike="noStrike" dirty="0">
                          <a:effectLst/>
                        </a:rPr>
                        <a:t>拒绝率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2076422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批</a:t>
                      </a:r>
                      <a:r>
                        <a:rPr lang="zh-CN" altLang="en-US" sz="1000" u="none" strike="noStrike" dirty="0">
                          <a:effectLst/>
                        </a:rPr>
                        <a:t>核率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9963205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19683564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人工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6290492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自动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1673257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通过件均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211252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通过平均期限</a:t>
                      </a:r>
                      <a:r>
                        <a:rPr lang="en-US" altLang="zh-CN" sz="1000" u="none" strike="noStrike" dirty="0">
                          <a:effectLst/>
                        </a:rPr>
                        <a:t>(</a:t>
                      </a:r>
                      <a:r>
                        <a:rPr lang="zh-CN" altLang="en-US" sz="1000" u="none" strike="noStrike" dirty="0">
                          <a:effectLst/>
                        </a:rPr>
                        <a:t>月</a:t>
                      </a:r>
                      <a:r>
                        <a:rPr lang="en-US" altLang="zh-CN" sz="1000" u="none" strike="noStrike" dirty="0">
                          <a:effectLst/>
                        </a:rPr>
                        <a:t>)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167259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取消率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52537245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申请</a:t>
                      </a:r>
                      <a:r>
                        <a:rPr lang="zh-CN" altLang="en-US" sz="1000" u="none" strike="noStrike" dirty="0">
                          <a:effectLst/>
                        </a:rPr>
                        <a:t>欺诈率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1757828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审批</a:t>
                      </a:r>
                      <a:r>
                        <a:rPr lang="zh-CN" altLang="en-US" sz="1000" u="none" strike="noStrike" dirty="0">
                          <a:effectLst/>
                        </a:rPr>
                        <a:t>状态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14114335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审批</a:t>
                      </a:r>
                      <a:r>
                        <a:rPr lang="zh-CN" altLang="en-US" sz="1000" u="none" strike="noStrike" dirty="0">
                          <a:effectLst/>
                        </a:rPr>
                        <a:t>时效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0293885"/>
                  </a:ext>
                </a:extLst>
              </a:tr>
              <a:tr h="173730"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放款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放款指标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新增</a:t>
                      </a:r>
                      <a:r>
                        <a:rPr lang="zh-CN" altLang="en-US" sz="1000" u="none" strike="noStrike" dirty="0">
                          <a:effectLst/>
                        </a:rPr>
                        <a:t>撮合借款个数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2958535"/>
                  </a:ext>
                </a:extLst>
              </a:tr>
              <a:tr h="1737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新增</a:t>
                      </a:r>
                      <a:r>
                        <a:rPr lang="zh-CN" altLang="en-US" sz="1000" u="none" strike="noStrike" dirty="0">
                          <a:effectLst/>
                        </a:rPr>
                        <a:t>撮合借款金额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3643817"/>
                  </a:ext>
                </a:extLst>
              </a:tr>
              <a:tr h="2566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新增</a:t>
                      </a:r>
                      <a:r>
                        <a:rPr lang="zh-CN" altLang="en-US" sz="1000" u="none" strike="noStrike" dirty="0">
                          <a:effectLst/>
                        </a:rPr>
                        <a:t>撮合借款平均期限 </a:t>
                      </a:r>
                      <a:r>
                        <a:rPr lang="en-US" altLang="zh-CN" sz="1000" u="none" strike="noStrike" dirty="0">
                          <a:effectLst/>
                        </a:rPr>
                        <a:t>(</a:t>
                      </a:r>
                      <a:r>
                        <a:rPr lang="zh-CN" altLang="en-US" sz="1000" u="none" strike="noStrike" dirty="0">
                          <a:effectLst/>
                        </a:rPr>
                        <a:t>当月</a:t>
                      </a:r>
                      <a:r>
                        <a:rPr lang="en-US" altLang="zh-CN" sz="1000" u="none" strike="noStrike" dirty="0">
                          <a:effectLst/>
                        </a:rPr>
                        <a:t>)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6398751"/>
                  </a:ext>
                </a:extLst>
              </a:tr>
              <a:tr h="2566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 smtClean="0">
                          <a:effectLst/>
                        </a:rPr>
                        <a:t> 新增</a:t>
                      </a:r>
                      <a:r>
                        <a:rPr lang="zh-CN" altLang="en-US" sz="1000" u="none" strike="noStrike" dirty="0">
                          <a:effectLst/>
                        </a:rPr>
                        <a:t>撮合借款平均金额 </a:t>
                      </a:r>
                      <a:r>
                        <a:rPr lang="en-US" altLang="zh-CN" sz="1000" u="none" strike="noStrike" dirty="0">
                          <a:effectLst/>
                        </a:rPr>
                        <a:t>(</a:t>
                      </a:r>
                      <a:r>
                        <a:rPr lang="zh-CN" altLang="en-US" sz="1000" u="none" strike="noStrike" dirty="0">
                          <a:effectLst/>
                        </a:rPr>
                        <a:t>当月</a:t>
                      </a:r>
                      <a:r>
                        <a:rPr lang="en-US" altLang="zh-CN" sz="1000" u="none" strike="noStrike" dirty="0">
                          <a:effectLst/>
                        </a:rPr>
                        <a:t>)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1817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25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需求</a:t>
            </a:r>
            <a:r>
              <a:rPr lang="en-US" altLang="zh-CN" dirty="0" smtClean="0"/>
              <a:t>-</a:t>
            </a:r>
            <a:r>
              <a:rPr lang="zh-CN" altLang="en-US" dirty="0" smtClean="0"/>
              <a:t>风险指标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204085"/>
              </p:ext>
            </p:extLst>
          </p:nvPr>
        </p:nvGraphicFramePr>
        <p:xfrm>
          <a:off x="3714750" y="933451"/>
          <a:ext cx="5937249" cy="53530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9083">
                  <a:extLst>
                    <a:ext uri="{9D8B030D-6E8A-4147-A177-3AD203B41FA5}">
                      <a16:colId xmlns:a16="http://schemas.microsoft.com/office/drawing/2014/main" val="2003682214"/>
                    </a:ext>
                  </a:extLst>
                </a:gridCol>
                <a:gridCol w="1979083">
                  <a:extLst>
                    <a:ext uri="{9D8B030D-6E8A-4147-A177-3AD203B41FA5}">
                      <a16:colId xmlns:a16="http://schemas.microsoft.com/office/drawing/2014/main" val="2821936231"/>
                    </a:ext>
                  </a:extLst>
                </a:gridCol>
                <a:gridCol w="1979083">
                  <a:extLst>
                    <a:ext uri="{9D8B030D-6E8A-4147-A177-3AD203B41FA5}">
                      <a16:colId xmlns:a16="http://schemas.microsoft.com/office/drawing/2014/main" val="3815306689"/>
                    </a:ext>
                  </a:extLst>
                </a:gridCol>
              </a:tblGrid>
              <a:tr h="146898">
                <a:tc rowSpan="35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风险指标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 rowSpan="7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　</a:t>
                      </a:r>
                      <a:r>
                        <a:rPr lang="zh-CN" altLang="en-US" sz="1400" u="none" strike="noStrike" dirty="0" smtClean="0">
                          <a:effectLst/>
                        </a:rPr>
                        <a:t>逾期率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M1</a:t>
                      </a:r>
                      <a:r>
                        <a:rPr lang="en-US" sz="800" u="none" strike="noStrike" dirty="0">
                          <a:effectLst/>
                        </a:rPr>
                        <a:t>%_amt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8719663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M2</a:t>
                      </a:r>
                      <a:r>
                        <a:rPr lang="en-US" sz="800" u="none" strike="noStrike" dirty="0">
                          <a:effectLst/>
                        </a:rPr>
                        <a:t>%_amt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4569600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M3</a:t>
                      </a:r>
                      <a:r>
                        <a:rPr lang="en-US" sz="800" u="none" strike="noStrike" dirty="0">
                          <a:effectLst/>
                        </a:rPr>
                        <a:t>%_amt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19516268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M2</a:t>
                      </a:r>
                      <a:r>
                        <a:rPr lang="en-US" sz="800" u="none" strike="noStrike" dirty="0">
                          <a:effectLst/>
                        </a:rPr>
                        <a:t>+%_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8143956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M4</a:t>
                      </a:r>
                      <a:r>
                        <a:rPr lang="en-US" sz="800" u="none" strike="noStrike" dirty="0">
                          <a:effectLst/>
                        </a:rPr>
                        <a:t>+%by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32980785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 smtClean="0">
                          <a:effectLst/>
                        </a:rPr>
                        <a:t> M2</a:t>
                      </a:r>
                      <a:r>
                        <a:rPr lang="en-US" altLang="zh-CN" sz="800" u="none" strike="noStrike" dirty="0">
                          <a:effectLst/>
                        </a:rPr>
                        <a:t>+%_</a:t>
                      </a:r>
                      <a:r>
                        <a:rPr lang="en-US" altLang="zh-CN" sz="800" u="none" strike="noStrike" dirty="0" err="1">
                          <a:effectLst/>
                        </a:rPr>
                        <a:t>amt</a:t>
                      </a:r>
                      <a:r>
                        <a:rPr lang="en-US" altLang="zh-CN" sz="800" u="none" strike="noStrike" dirty="0">
                          <a:effectLst/>
                        </a:rPr>
                        <a:t>_</a:t>
                      </a:r>
                      <a:r>
                        <a:rPr lang="zh-CN" altLang="en-US" sz="800" u="none" strike="noStrike" dirty="0">
                          <a:effectLst/>
                        </a:rPr>
                        <a:t>剔除损失</a:t>
                      </a:r>
                      <a:r>
                        <a:rPr lang="en-US" altLang="zh-CN" sz="800" u="none" strike="noStrike" dirty="0">
                          <a:effectLst/>
                        </a:rPr>
                        <a:t>&amp;</a:t>
                      </a:r>
                      <a:r>
                        <a:rPr lang="zh-CN" altLang="en-US" sz="800" u="none" strike="noStrike" dirty="0">
                          <a:effectLst/>
                        </a:rPr>
                        <a:t>结清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5734945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 dirty="0" smtClean="0">
                          <a:effectLst/>
                        </a:rPr>
                        <a:t> M4</a:t>
                      </a:r>
                      <a:r>
                        <a:rPr lang="en-US" altLang="zh-CN" sz="800" u="none" strike="noStrike" dirty="0">
                          <a:effectLst/>
                        </a:rPr>
                        <a:t>+%_</a:t>
                      </a:r>
                      <a:r>
                        <a:rPr lang="en-US" altLang="zh-CN" sz="800" u="none" strike="noStrike" dirty="0" err="1">
                          <a:effectLst/>
                        </a:rPr>
                        <a:t>amt</a:t>
                      </a:r>
                      <a:r>
                        <a:rPr lang="en-US" altLang="zh-CN" sz="800" u="none" strike="noStrike" dirty="0">
                          <a:effectLst/>
                        </a:rPr>
                        <a:t>_</a:t>
                      </a:r>
                      <a:r>
                        <a:rPr lang="zh-CN" altLang="en-US" sz="800" u="none" strike="noStrike" dirty="0">
                          <a:effectLst/>
                        </a:rPr>
                        <a:t>剔除损失</a:t>
                      </a:r>
                      <a:r>
                        <a:rPr lang="en-US" altLang="zh-CN" sz="800" u="none" strike="noStrike" dirty="0">
                          <a:effectLst/>
                        </a:rPr>
                        <a:t>&amp;</a:t>
                      </a:r>
                      <a:r>
                        <a:rPr lang="zh-CN" altLang="en-US" sz="800" u="none" strike="noStrike" dirty="0">
                          <a:effectLst/>
                        </a:rPr>
                        <a:t>结清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0266682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 smtClean="0">
                          <a:effectLst/>
                        </a:rPr>
                        <a:t>损失率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新增</a:t>
                      </a:r>
                      <a:r>
                        <a:rPr lang="zh-CN" altLang="en-US" sz="800" u="none" strike="noStrike" dirty="0">
                          <a:effectLst/>
                        </a:rPr>
                        <a:t>损失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09423736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欺诈</a:t>
                      </a:r>
                      <a:r>
                        <a:rPr lang="zh-CN" altLang="en-US" sz="800" u="none" strike="noStrike" dirty="0">
                          <a:effectLst/>
                        </a:rPr>
                        <a:t>损失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1003432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当月</a:t>
                      </a:r>
                      <a:r>
                        <a:rPr lang="zh-CN" altLang="en-US" sz="800" u="none" strike="noStrike" dirty="0">
                          <a:effectLst/>
                        </a:rPr>
                        <a:t>回收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30494858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年</a:t>
                      </a:r>
                      <a:r>
                        <a:rPr lang="zh-CN" altLang="en-US" sz="800" u="none" strike="noStrike" dirty="0">
                          <a:effectLst/>
                        </a:rPr>
                        <a:t>化毛损失率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91763594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净</a:t>
                      </a:r>
                      <a:r>
                        <a:rPr lang="zh-CN" altLang="en-US" sz="800" u="none" strike="noStrike" dirty="0">
                          <a:effectLst/>
                        </a:rPr>
                        <a:t>损失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5974794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年</a:t>
                      </a:r>
                      <a:r>
                        <a:rPr lang="zh-CN" altLang="en-US" sz="800" u="none" strike="noStrike" dirty="0">
                          <a:effectLst/>
                        </a:rPr>
                        <a:t>化净损失率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79204286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净</a:t>
                      </a:r>
                      <a:r>
                        <a:rPr lang="zh-CN" altLang="en-US" sz="800" u="none" strike="noStrike" dirty="0">
                          <a:effectLst/>
                        </a:rPr>
                        <a:t>欺诈损失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115619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年</a:t>
                      </a:r>
                      <a:r>
                        <a:rPr lang="zh-CN" altLang="en-US" sz="800" u="none" strike="noStrike" dirty="0">
                          <a:effectLst/>
                        </a:rPr>
                        <a:t>化净欺诈损失率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930848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FSTPD </a:t>
                      </a:r>
                      <a:r>
                        <a:rPr lang="zh-CN" altLang="en-US" sz="1400" u="none" strike="noStrike" dirty="0">
                          <a:effectLst/>
                        </a:rPr>
                        <a:t>指标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FPD_1_rate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3498223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FPD_3_rate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9711329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FPD_7_rate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3596922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FPD_15_rate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4397167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FPD_30_rate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7292447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SPD_30_rate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08933345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TPD_30_rate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7550170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FSTPD_30_rate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8459030"/>
                  </a:ext>
                </a:extLst>
              </a:tr>
              <a:tr h="2527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　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 smtClean="0">
                          <a:effectLst/>
                        </a:rPr>
                        <a:t> 撮合</a:t>
                      </a:r>
                      <a:r>
                        <a:rPr lang="zh-CN" altLang="en-US" sz="800" u="none" strike="noStrike" dirty="0">
                          <a:effectLst/>
                        </a:rPr>
                        <a:t>借贷余额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41762640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迁徙率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M0-M1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迁徙率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0114173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M1-M2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迁徙率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6642227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M2-M3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迁徙率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78161411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M3-M4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迁徙率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7651280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M0-M4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迁徙率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92199495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滚动率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M0-M1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滚动率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0436399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M1-M2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滚动率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8475093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M2-M3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滚动率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71572959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M3-M4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滚动率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14263864"/>
                  </a:ext>
                </a:extLst>
              </a:tr>
              <a:tr h="14689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smtClean="0">
                          <a:effectLst/>
                        </a:rPr>
                        <a:t> M0-M4</a:t>
                      </a:r>
                      <a:r>
                        <a:rPr lang="en-US" sz="800" u="none" strike="noStrike" dirty="0">
                          <a:effectLst/>
                        </a:rPr>
                        <a:t>% </a:t>
                      </a:r>
                      <a:r>
                        <a:rPr lang="zh-CN" altLang="en-US" sz="800" u="none" strike="noStrike" dirty="0">
                          <a:effectLst/>
                        </a:rPr>
                        <a:t>滚动率</a:t>
                      </a:r>
                      <a:r>
                        <a:rPr lang="en-US" altLang="zh-CN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by </a:t>
                      </a:r>
                      <a:r>
                        <a:rPr lang="en-US" sz="800" u="none" strike="noStrike" dirty="0" err="1">
                          <a:effectLst/>
                        </a:rPr>
                        <a:t>amt</a:t>
                      </a:r>
                      <a:r>
                        <a:rPr lang="en-US" sz="800" u="none" strike="noStrike" dirty="0">
                          <a:effectLst/>
                        </a:rPr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4549501"/>
                  </a:ext>
                </a:extLst>
              </a:tr>
              <a:tr h="2527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VINTAGE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 </a:t>
                      </a:r>
                      <a:r>
                        <a:rPr lang="en-US" sz="800" u="none" strike="noStrike" dirty="0">
                          <a:effectLst/>
                          <a:latin typeface="+mj-ea"/>
                          <a:ea typeface="+mj-ea"/>
                        </a:rPr>
                        <a:t>VINTAGE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9345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53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维</a:t>
            </a:r>
            <a:r>
              <a:rPr lang="zh-CN" altLang="en-US" dirty="0" smtClean="0"/>
              <a:t>度分类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81948"/>
              </p:ext>
            </p:extLst>
          </p:nvPr>
        </p:nvGraphicFramePr>
        <p:xfrm>
          <a:off x="1703070" y="1298298"/>
          <a:ext cx="9112250" cy="49149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01740">
                  <a:extLst>
                    <a:ext uri="{9D8B030D-6E8A-4147-A177-3AD203B41FA5}">
                      <a16:colId xmlns:a16="http://schemas.microsoft.com/office/drawing/2014/main" val="1523626185"/>
                    </a:ext>
                  </a:extLst>
                </a:gridCol>
                <a:gridCol w="1566535">
                  <a:extLst>
                    <a:ext uri="{9D8B030D-6E8A-4147-A177-3AD203B41FA5}">
                      <a16:colId xmlns:a16="http://schemas.microsoft.com/office/drawing/2014/main" val="2582346399"/>
                    </a:ext>
                  </a:extLst>
                </a:gridCol>
                <a:gridCol w="6443975">
                  <a:extLst>
                    <a:ext uri="{9D8B030D-6E8A-4147-A177-3AD203B41FA5}">
                      <a16:colId xmlns:a16="http://schemas.microsoft.com/office/drawing/2014/main" val="1691118811"/>
                    </a:ext>
                  </a:extLst>
                </a:gridCol>
              </a:tblGrid>
              <a:tr h="289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维度类型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维度名称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维度值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2340950"/>
                  </a:ext>
                </a:extLst>
              </a:tr>
              <a:tr h="289112">
                <a:tc rowSpan="9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客户属性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客户性别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男、女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7837381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客户类型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新客、老客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1663801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客户等级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A、B、C、D、E、F、</a:t>
                      </a:r>
                      <a:r>
                        <a:rPr lang="zh-CN" altLang="en-US" sz="1400" u="none" strike="noStrike" dirty="0">
                          <a:effectLst/>
                        </a:rPr>
                        <a:t>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9769265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学历分类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博士、硕士、本科、专科、专科以下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8172468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年龄分类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[0, 25]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35]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[36,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8689964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学校类型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本、</a:t>
                      </a:r>
                      <a:r>
                        <a:rPr lang="en-US" altLang="zh-CN" sz="1400" u="none" strike="noStrike" dirty="0">
                          <a:effectLst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</a:rPr>
                        <a:t>本、</a:t>
                      </a:r>
                      <a:r>
                        <a:rPr lang="en-US" altLang="zh-CN" sz="1400" u="none" strike="noStrike" dirty="0">
                          <a:effectLst/>
                        </a:rPr>
                        <a:t>3</a:t>
                      </a:r>
                      <a:r>
                        <a:rPr lang="zh-CN" altLang="en-US" sz="1400" u="none" strike="noStrike" dirty="0">
                          <a:effectLst/>
                        </a:rPr>
                        <a:t>本、专科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0295062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区域分类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华东、华南、华北、华中、西南、西北、东北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1313255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放款金额分类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[0, 1K]、(1K, 2K]、(2K, 3K]、(3K, 4K]、(4K, 5K]、(5K, 10K]、 …… (60K, +)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4823261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放款时间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年、月、季度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2278939"/>
                  </a:ext>
                </a:extLst>
              </a:tr>
              <a:tr h="28911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产品信息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产品类型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产品线、产品小类、产品大类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237098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产品期限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24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36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2814484"/>
                  </a:ext>
                </a:extLst>
              </a:tr>
              <a:tr h="289112"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征信数据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同盾分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[0,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   ……  [91, 100]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3893009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</a:t>
                      </a:r>
                      <a:r>
                        <a:rPr lang="en-US" altLang="zh-CN" sz="1400" u="none" strike="noStrike" dirty="0">
                          <a:effectLst/>
                        </a:rPr>
                        <a:t>7</a:t>
                      </a:r>
                      <a:r>
                        <a:rPr lang="en-US" sz="1400" u="none" strike="noStrike" dirty="0">
                          <a:effectLst/>
                        </a:rPr>
                        <a:t>D</a:t>
                      </a:r>
                      <a:r>
                        <a:rPr lang="zh-CN" altLang="en-US" sz="1400" u="none" strike="noStrike" dirty="0">
                          <a:effectLst/>
                        </a:rPr>
                        <a:t>多头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8297783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</a:t>
                      </a:r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en-US" sz="1400" u="none" strike="noStrike" dirty="0">
                          <a:effectLst/>
                        </a:rPr>
                        <a:t>M</a:t>
                      </a:r>
                      <a:r>
                        <a:rPr lang="zh-CN" altLang="en-US" sz="1400" u="none" strike="noStrike" dirty="0">
                          <a:effectLst/>
                        </a:rPr>
                        <a:t>多头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957517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同盾</a:t>
                      </a:r>
                      <a:r>
                        <a:rPr lang="en-US" altLang="zh-CN" sz="1400" u="none" strike="noStrike">
                          <a:effectLst/>
                        </a:rPr>
                        <a:t>3</a:t>
                      </a:r>
                      <a:r>
                        <a:rPr lang="en-US" sz="1400" u="none" strike="noStrike">
                          <a:effectLst/>
                        </a:rPr>
                        <a:t>M</a:t>
                      </a:r>
                      <a:r>
                        <a:rPr lang="zh-CN" altLang="en-US" sz="1400" u="none" strike="noStrike">
                          <a:effectLst/>
                        </a:rPr>
                        <a:t>多头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4268518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</a:t>
                      </a:r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r>
                        <a:rPr lang="en-US" sz="1400" u="none" strike="noStrike" dirty="0">
                          <a:effectLst/>
                        </a:rPr>
                        <a:t>M</a:t>
                      </a:r>
                      <a:r>
                        <a:rPr lang="zh-CN" altLang="en-US" sz="1400" u="none" strike="noStrike" dirty="0">
                          <a:effectLst/>
                        </a:rPr>
                        <a:t>多头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432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54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197905-05D3-411C-B96F-F135D534C1BD}"/>
              </a:ext>
            </a:extLst>
          </p:cNvPr>
          <p:cNvGrpSpPr/>
          <p:nvPr/>
        </p:nvGrpSpPr>
        <p:grpSpPr>
          <a:xfrm>
            <a:off x="1627086" y="2102932"/>
            <a:ext cx="1610670" cy="1613928"/>
            <a:chOff x="1627086" y="1705794"/>
            <a:chExt cx="1610670" cy="1613928"/>
          </a:xfrm>
        </p:grpSpPr>
        <p:sp>
          <p:nvSpPr>
            <p:cNvPr id="5" name="任意多边形 82">
              <a:extLst>
                <a:ext uri="{FF2B5EF4-FFF2-40B4-BE49-F238E27FC236}">
                  <a16:creationId xmlns:a16="http://schemas.microsoft.com/office/drawing/2014/main" id="{03DFFA41-868C-4804-ABE6-CF91BB49F701}"/>
                </a:ext>
              </a:extLst>
            </p:cNvPr>
            <p:cNvSpPr/>
            <p:nvPr/>
          </p:nvSpPr>
          <p:spPr bwMode="auto">
            <a:xfrm rot="3738964">
              <a:off x="1625457" y="1707423"/>
              <a:ext cx="1613928" cy="161067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414C55">
                <a:lumMod val="20000"/>
                <a:lumOff val="80000"/>
                <a:alpha val="4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椭圆 80">
              <a:extLst>
                <a:ext uri="{FF2B5EF4-FFF2-40B4-BE49-F238E27FC236}">
                  <a16:creationId xmlns:a16="http://schemas.microsoft.com/office/drawing/2014/main" id="{BE38D5C0-00B3-418D-A648-B1F48655F85E}"/>
                </a:ext>
              </a:extLst>
            </p:cNvPr>
            <p:cNvSpPr/>
            <p:nvPr/>
          </p:nvSpPr>
          <p:spPr bwMode="auto">
            <a:xfrm>
              <a:off x="1850445" y="1929603"/>
              <a:ext cx="1163953" cy="1166311"/>
            </a:xfrm>
            <a:prstGeom prst="ellipse">
              <a:avLst/>
            </a:pr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57">
              <a:extLst>
                <a:ext uri="{FF2B5EF4-FFF2-40B4-BE49-F238E27FC236}">
                  <a16:creationId xmlns:a16="http://schemas.microsoft.com/office/drawing/2014/main" id="{35D5B298-E2C2-4A2F-A627-846CFC0D0F0D}"/>
                </a:ext>
              </a:extLst>
            </p:cNvPr>
            <p:cNvSpPr txBox="1"/>
            <p:nvPr/>
          </p:nvSpPr>
          <p:spPr>
            <a:xfrm>
              <a:off x="1964986" y="2258843"/>
              <a:ext cx="934871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85A63D5-6415-4051-8352-9D00950FC42F}"/>
              </a:ext>
            </a:extLst>
          </p:cNvPr>
          <p:cNvGrpSpPr/>
          <p:nvPr/>
        </p:nvGrpSpPr>
        <p:grpSpPr>
          <a:xfrm>
            <a:off x="3707904" y="1426618"/>
            <a:ext cx="545823" cy="596189"/>
            <a:chOff x="4339490" y="761746"/>
            <a:chExt cx="727764" cy="794920"/>
          </a:xfrm>
        </p:grpSpPr>
        <p:sp>
          <p:nvSpPr>
            <p:cNvPr id="9" name="任意多边形 82">
              <a:extLst>
                <a:ext uri="{FF2B5EF4-FFF2-40B4-BE49-F238E27FC236}">
                  <a16:creationId xmlns:a16="http://schemas.microsoft.com/office/drawing/2014/main" id="{346A00FE-556E-4E9C-8250-D4E88146FDBE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67">
              <a:extLst>
                <a:ext uri="{FF2B5EF4-FFF2-40B4-BE49-F238E27FC236}">
                  <a16:creationId xmlns:a16="http://schemas.microsoft.com/office/drawing/2014/main" id="{8141E691-94E0-4EE5-A9BE-50EDA45034A5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39">
            <a:extLst>
              <a:ext uri="{FF2B5EF4-FFF2-40B4-BE49-F238E27FC236}">
                <a16:creationId xmlns:a16="http://schemas.microsoft.com/office/drawing/2014/main" id="{FB80FC5A-F33E-44A7-A845-03248DDA3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1412604"/>
            <a:ext cx="4450458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指标体系化的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39">
            <a:extLst>
              <a:ext uri="{FF2B5EF4-FFF2-40B4-BE49-F238E27FC236}">
                <a16:creationId xmlns:a16="http://schemas.microsoft.com/office/drawing/2014/main" id="{4C55AE36-DA23-4CBF-8DDE-1D0F7451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2399558"/>
            <a:ext cx="3705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指标的需求</a:t>
            </a: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</a:p>
        </p:txBody>
      </p:sp>
      <p:sp>
        <p:nvSpPr>
          <p:cNvPr id="13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7825" y="3366337"/>
            <a:ext cx="566607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3200" b="1" kern="0" dirty="0">
                <a:solidFill>
                  <a:srgbClr val="8B18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指标体系的开发进程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EC0EA85-4431-40D8-9455-987284E399ED}"/>
              </a:ext>
            </a:extLst>
          </p:cNvPr>
          <p:cNvGrpSpPr/>
          <p:nvPr/>
        </p:nvGrpSpPr>
        <p:grpSpPr>
          <a:xfrm>
            <a:off x="3653415" y="2482661"/>
            <a:ext cx="545823" cy="596189"/>
            <a:chOff x="4339490" y="761746"/>
            <a:chExt cx="727764" cy="794920"/>
          </a:xfrm>
        </p:grpSpPr>
        <p:sp>
          <p:nvSpPr>
            <p:cNvPr id="15" name="任意多边形 82">
              <a:extLst>
                <a:ext uri="{FF2B5EF4-FFF2-40B4-BE49-F238E27FC236}">
                  <a16:creationId xmlns:a16="http://schemas.microsoft.com/office/drawing/2014/main" id="{81A18F38-B788-4173-B856-2F3FECC5E4B1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67">
              <a:extLst>
                <a:ext uri="{FF2B5EF4-FFF2-40B4-BE49-F238E27FC236}">
                  <a16:creationId xmlns:a16="http://schemas.microsoft.com/office/drawing/2014/main" id="{77FADB82-21E7-433C-9BA1-D90B289409DE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707904" y="3552719"/>
            <a:ext cx="545823" cy="596189"/>
            <a:chOff x="4339490" y="761746"/>
            <a:chExt cx="727764" cy="794920"/>
          </a:xfrm>
        </p:grpSpPr>
        <p:sp>
          <p:nvSpPr>
            <p:cNvPr id="18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408" y="4511515"/>
            <a:ext cx="35934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多维分析说明及演示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690486" y="4632582"/>
            <a:ext cx="545823" cy="596189"/>
            <a:chOff x="4339490" y="761746"/>
            <a:chExt cx="727764" cy="794920"/>
          </a:xfrm>
        </p:grpSpPr>
        <p:sp>
          <p:nvSpPr>
            <p:cNvPr id="22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56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项目周期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3A18CC-B5AA-4BD0-9B94-AB43CC50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481" y="3355833"/>
            <a:ext cx="2174064" cy="3003798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379169"/>
              </p:ext>
            </p:extLst>
          </p:nvPr>
        </p:nvGraphicFramePr>
        <p:xfrm>
          <a:off x="1138645" y="1763350"/>
          <a:ext cx="6984820" cy="399737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71357">
                  <a:extLst>
                    <a:ext uri="{9D8B030D-6E8A-4147-A177-3AD203B41FA5}">
                      <a16:colId xmlns:a16="http://schemas.microsoft.com/office/drawing/2014/main" val="2936755813"/>
                    </a:ext>
                  </a:extLst>
                </a:gridCol>
                <a:gridCol w="3213463">
                  <a:extLst>
                    <a:ext uri="{9D8B030D-6E8A-4147-A177-3AD203B41FA5}">
                      <a16:colId xmlns:a16="http://schemas.microsoft.com/office/drawing/2014/main" val="167019421"/>
                    </a:ext>
                  </a:extLst>
                </a:gridCol>
              </a:tblGrid>
              <a:tr h="665991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dirty="0"/>
                        <a:t>工作项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dirty="0"/>
                        <a:t>时间安排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7052621"/>
                  </a:ext>
                </a:extLst>
              </a:tr>
              <a:tr h="455094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400" u="none" strike="noStrike" dirty="0">
                          <a:effectLst/>
                        </a:rPr>
                        <a:t>项目启动会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>
                          <a:effectLst/>
                        </a:rPr>
                        <a:t>2018</a:t>
                      </a:r>
                      <a:r>
                        <a:rPr lang="zh-CN" altLang="en-US" sz="1400" u="none" strike="noStrike">
                          <a:effectLst/>
                        </a:rPr>
                        <a:t>年</a:t>
                      </a:r>
                      <a:r>
                        <a:rPr lang="en-US" altLang="zh-CN" sz="1400" u="none" strike="noStrike">
                          <a:effectLst/>
                        </a:rPr>
                        <a:t>11</a:t>
                      </a:r>
                      <a:r>
                        <a:rPr lang="zh-CN" altLang="en-US" sz="1400" u="none" strike="noStrike">
                          <a:effectLst/>
                        </a:rPr>
                        <a:t>月</a:t>
                      </a:r>
                      <a:r>
                        <a:rPr lang="en-US" altLang="zh-CN" sz="1400" u="none" strike="noStrike">
                          <a:effectLst/>
                        </a:rPr>
                        <a:t>18</a:t>
                      </a:r>
                      <a:r>
                        <a:rPr lang="zh-CN" altLang="en-US" sz="1400" u="none" strike="noStrike">
                          <a:effectLst/>
                        </a:rPr>
                        <a:t>日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9212563"/>
                  </a:ext>
                </a:extLst>
              </a:tr>
              <a:tr h="45509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VINTAGE</a:t>
                      </a:r>
                      <a:r>
                        <a:rPr lang="zh-CN" altLang="en-US" sz="1400" u="none" strike="noStrike" dirty="0">
                          <a:effectLst/>
                        </a:rPr>
                        <a:t>指标需求讨论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21</a:t>
                      </a:r>
                      <a:r>
                        <a:rPr lang="zh-CN" altLang="en-US" sz="1400" u="none" strike="noStrike" dirty="0">
                          <a:effectLst/>
                        </a:rPr>
                        <a:t>日 </a:t>
                      </a:r>
                      <a:r>
                        <a:rPr lang="en-US" altLang="zh-CN" sz="1400" u="none" strike="noStrike" dirty="0">
                          <a:effectLst/>
                        </a:rPr>
                        <a:t>- 2018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22</a:t>
                      </a:r>
                      <a:r>
                        <a:rPr lang="zh-CN" altLang="en-US" sz="1400" u="none" strike="noStrike" dirty="0">
                          <a:effectLst/>
                        </a:rPr>
                        <a:t>日 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982004"/>
                  </a:ext>
                </a:extLst>
              </a:tr>
              <a:tr h="60081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VINTAGE</a:t>
                      </a:r>
                      <a:r>
                        <a:rPr lang="zh-CN" altLang="en-US" sz="1400" u="none" strike="noStrike" dirty="0">
                          <a:effectLst/>
                        </a:rPr>
                        <a:t>指标开发和验证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23</a:t>
                      </a:r>
                      <a:r>
                        <a:rPr lang="zh-CN" altLang="en-US" sz="1400" u="none" strike="noStrike" dirty="0">
                          <a:effectLst/>
                        </a:rPr>
                        <a:t>日 </a:t>
                      </a:r>
                      <a:r>
                        <a:rPr lang="en-US" altLang="zh-CN" sz="1400" u="none" strike="noStrike" dirty="0">
                          <a:effectLst/>
                        </a:rPr>
                        <a:t>- 2018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29</a:t>
                      </a:r>
                      <a:r>
                        <a:rPr lang="zh-CN" altLang="en-US" sz="1400" u="none" strike="noStrike" dirty="0">
                          <a:effectLst/>
                        </a:rPr>
                        <a:t>日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9810826"/>
                  </a:ext>
                </a:extLst>
              </a:tr>
              <a:tr h="45509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400" u="none" strike="noStrike" dirty="0">
                          <a:effectLst/>
                        </a:rPr>
                        <a:t>VINTAGE</a:t>
                      </a:r>
                      <a:r>
                        <a:rPr lang="zh-CN" altLang="en-US" sz="1400" u="none" strike="noStrike" dirty="0">
                          <a:effectLst/>
                        </a:rPr>
                        <a:t>交付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11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30</a:t>
                      </a:r>
                      <a:r>
                        <a:rPr lang="zh-CN" altLang="en-US" sz="1400" u="none" strike="noStrike" dirty="0">
                          <a:effectLst/>
                        </a:rPr>
                        <a:t>日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2392828"/>
                  </a:ext>
                </a:extLst>
              </a:tr>
              <a:tr h="455094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400" u="none" strike="noStrike" dirty="0">
                          <a:effectLst/>
                        </a:rPr>
                        <a:t>风控业务指标、逾期率、</a:t>
                      </a:r>
                      <a:r>
                        <a:rPr lang="en-US" altLang="zh-CN" sz="1400" u="none" strike="noStrike" dirty="0">
                          <a:effectLst/>
                        </a:rPr>
                        <a:t>FSTPD</a:t>
                      </a:r>
                      <a:r>
                        <a:rPr lang="zh-CN" altLang="en-US" sz="1400" u="none" strike="noStrike" dirty="0">
                          <a:effectLst/>
                        </a:rPr>
                        <a:t>等需求讨论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3</a:t>
                      </a:r>
                      <a:r>
                        <a:rPr lang="zh-CN" altLang="en-US" sz="1400" u="none" strike="noStrike" dirty="0">
                          <a:effectLst/>
                        </a:rPr>
                        <a:t>日 </a:t>
                      </a:r>
                      <a:r>
                        <a:rPr lang="en-US" altLang="zh-CN" sz="1400" u="none" strike="noStrike" dirty="0">
                          <a:effectLst/>
                        </a:rPr>
                        <a:t>- 2018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7</a:t>
                      </a:r>
                      <a:r>
                        <a:rPr lang="zh-CN" altLang="en-US" sz="1400" u="none" strike="noStrike" dirty="0">
                          <a:effectLst/>
                        </a:rPr>
                        <a:t>日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5065599"/>
                  </a:ext>
                </a:extLst>
              </a:tr>
              <a:tr h="455094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400" u="none" strike="noStrike">
                          <a:effectLst/>
                        </a:rPr>
                        <a:t>风控业务指标、逾期率、</a:t>
                      </a:r>
                      <a:r>
                        <a:rPr lang="en-US" altLang="zh-CN" sz="1400" u="none" strike="noStrike">
                          <a:effectLst/>
                        </a:rPr>
                        <a:t>FSTPD</a:t>
                      </a:r>
                      <a:r>
                        <a:rPr lang="zh-CN" altLang="en-US" sz="1400" u="none" strike="noStrike">
                          <a:effectLst/>
                        </a:rPr>
                        <a:t>等开发和验证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10</a:t>
                      </a:r>
                      <a:r>
                        <a:rPr lang="zh-CN" altLang="en-US" sz="1400" u="none" strike="noStrike" dirty="0">
                          <a:effectLst/>
                        </a:rPr>
                        <a:t>日</a:t>
                      </a:r>
                      <a:r>
                        <a:rPr lang="en-US" altLang="zh-CN" sz="1400" u="none" strike="noStrike" dirty="0">
                          <a:effectLst/>
                        </a:rPr>
                        <a:t>-2018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28</a:t>
                      </a:r>
                      <a:r>
                        <a:rPr lang="zh-CN" altLang="en-US" sz="1400" u="none" strike="noStrike" dirty="0">
                          <a:effectLst/>
                        </a:rPr>
                        <a:t>日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73392299"/>
                  </a:ext>
                </a:extLst>
              </a:tr>
              <a:tr h="455094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400" u="none" strike="noStrike">
                          <a:effectLst/>
                        </a:rPr>
                        <a:t>风控指标整体交付、多维分析平台发布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400" u="none" strike="noStrike" dirty="0">
                          <a:effectLst/>
                        </a:rPr>
                        <a:t>2018</a:t>
                      </a:r>
                      <a:r>
                        <a:rPr lang="zh-CN" altLang="en-US" sz="1400" u="none" strike="noStrike" dirty="0">
                          <a:effectLst/>
                        </a:rPr>
                        <a:t>年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月</a:t>
                      </a:r>
                      <a:r>
                        <a:rPr lang="en-US" altLang="zh-CN" sz="1400" u="none" strike="noStrike" dirty="0">
                          <a:effectLst/>
                        </a:rPr>
                        <a:t>29</a:t>
                      </a:r>
                      <a:r>
                        <a:rPr lang="zh-CN" altLang="en-US" sz="1400" u="none" strike="noStrike" dirty="0">
                          <a:effectLst/>
                        </a:rPr>
                        <a:t>日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8415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28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高效的团队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435" y="2304489"/>
            <a:ext cx="6855199" cy="348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实现方法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</p:spPr>
        <p:txBody>
          <a:bodyPr/>
          <a:lstStyle/>
          <a:p>
            <a:r>
              <a:rPr lang="zh-CN" altLang="en-US" dirty="0" smtClean="0"/>
              <a:t>多维分析平台中创建四个</a:t>
            </a:r>
            <a:r>
              <a:rPr lang="en-US" altLang="zh-CN" dirty="0" smtClean="0"/>
              <a:t>Cube</a:t>
            </a:r>
            <a:r>
              <a:rPr lang="zh-CN" altLang="en-US" dirty="0" smtClean="0"/>
              <a:t>来涵盖所有风控指标</a:t>
            </a:r>
            <a:endParaRPr lang="en-US" altLang="zh-CN" dirty="0" smtClean="0"/>
          </a:p>
          <a:p>
            <a:r>
              <a:rPr lang="en-US" altLang="zh-CN" dirty="0" smtClean="0"/>
              <a:t>1. VINTAGE</a:t>
            </a:r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风控业务指标</a:t>
            </a:r>
            <a:endParaRPr lang="en-US" altLang="zh-CN" dirty="0" smtClean="0"/>
          </a:p>
          <a:p>
            <a:r>
              <a:rPr lang="en-US" altLang="zh-CN" dirty="0"/>
              <a:t>3</a:t>
            </a:r>
            <a:r>
              <a:rPr lang="en-US" altLang="zh-CN" dirty="0" smtClean="0"/>
              <a:t>.</a:t>
            </a:r>
            <a:r>
              <a:rPr lang="zh-CN" altLang="en-US" dirty="0" smtClean="0"/>
              <a:t>逾期率、滚动率、迁徙率、损失率等</a:t>
            </a:r>
            <a:endParaRPr lang="en-US" altLang="zh-CN" dirty="0" smtClean="0"/>
          </a:p>
          <a:p>
            <a:r>
              <a:rPr lang="en-US" altLang="zh-CN" dirty="0" smtClean="0"/>
              <a:t>4.FSTPD</a:t>
            </a:r>
            <a:r>
              <a:rPr lang="zh-CN" altLang="en-US" dirty="0" smtClean="0"/>
              <a:t>指标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181" y="1334794"/>
            <a:ext cx="6655288" cy="47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5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/>
        </p:nvSpPr>
        <p:spPr>
          <a:xfrm>
            <a:off x="1373778" y="1399216"/>
            <a:ext cx="10681118" cy="5275904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场讨论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</a:t>
            </a: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多次头脑风暴</a:t>
            </a: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天的开发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千万级数据量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种维度</a:t>
            </a:r>
            <a:endParaRPr lang="zh-CN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个风控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套多维分析平台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</p:spPr>
        <p:txBody>
          <a:bodyPr/>
          <a:lstStyle/>
          <a:p>
            <a:r>
              <a:rPr lang="zh-CN" altLang="en-US" dirty="0"/>
              <a:t>过程</a:t>
            </a:r>
            <a:r>
              <a:rPr lang="zh-CN" altLang="en-US" dirty="0" smtClean="0"/>
              <a:t>量化</a:t>
            </a:r>
            <a:endParaRPr lang="zh-CN" altLang="en-US" dirty="0"/>
          </a:p>
        </p:txBody>
      </p:sp>
      <p:pic>
        <p:nvPicPr>
          <p:cNvPr id="9" name="Picture 4" descr="https://timgsa.baidu.com/timg?image&amp;quality=80&amp;size=b9999_10000&amp;sec=1518063177305&amp;di=0e52adf0abd8d1c42f31d6de3dc0dfe4&amp;imgtype=0&amp;src=http%3A%2F%2Fscimg.jb51.net%2Fallimg%2F150622%2F14-150622150TXQ.jpg">
            <a:extLst>
              <a:ext uri="{FF2B5EF4-FFF2-40B4-BE49-F238E27FC236}">
                <a16:creationId xmlns:a16="http://schemas.microsoft.com/office/drawing/2014/main" id="{8281E462-4850-4E83-8A52-6CD4822D0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621" y="2784203"/>
            <a:ext cx="2730304" cy="300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79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197905-05D3-411C-B96F-F135D534C1BD}"/>
              </a:ext>
            </a:extLst>
          </p:cNvPr>
          <p:cNvGrpSpPr/>
          <p:nvPr/>
        </p:nvGrpSpPr>
        <p:grpSpPr>
          <a:xfrm>
            <a:off x="1627086" y="2102932"/>
            <a:ext cx="1610670" cy="1613928"/>
            <a:chOff x="1627086" y="1705794"/>
            <a:chExt cx="1610670" cy="1613928"/>
          </a:xfrm>
        </p:grpSpPr>
        <p:sp>
          <p:nvSpPr>
            <p:cNvPr id="5" name="任意多边形 82">
              <a:extLst>
                <a:ext uri="{FF2B5EF4-FFF2-40B4-BE49-F238E27FC236}">
                  <a16:creationId xmlns:a16="http://schemas.microsoft.com/office/drawing/2014/main" id="{03DFFA41-868C-4804-ABE6-CF91BB49F701}"/>
                </a:ext>
              </a:extLst>
            </p:cNvPr>
            <p:cNvSpPr/>
            <p:nvPr/>
          </p:nvSpPr>
          <p:spPr bwMode="auto">
            <a:xfrm rot="3738964">
              <a:off x="1625457" y="1707423"/>
              <a:ext cx="1613928" cy="1610670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414C55">
                <a:lumMod val="20000"/>
                <a:lumOff val="80000"/>
                <a:alpha val="45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椭圆 80">
              <a:extLst>
                <a:ext uri="{FF2B5EF4-FFF2-40B4-BE49-F238E27FC236}">
                  <a16:creationId xmlns:a16="http://schemas.microsoft.com/office/drawing/2014/main" id="{BE38D5C0-00B3-418D-A648-B1F48655F85E}"/>
                </a:ext>
              </a:extLst>
            </p:cNvPr>
            <p:cNvSpPr/>
            <p:nvPr/>
          </p:nvSpPr>
          <p:spPr bwMode="auto">
            <a:xfrm>
              <a:off x="1850445" y="1929603"/>
              <a:ext cx="1163953" cy="1166311"/>
            </a:xfrm>
            <a:prstGeom prst="ellipse">
              <a:avLst/>
            </a:pr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Box 57">
              <a:extLst>
                <a:ext uri="{FF2B5EF4-FFF2-40B4-BE49-F238E27FC236}">
                  <a16:creationId xmlns:a16="http://schemas.microsoft.com/office/drawing/2014/main" id="{35D5B298-E2C2-4A2F-A627-846CFC0D0F0D}"/>
                </a:ext>
              </a:extLst>
            </p:cNvPr>
            <p:cNvSpPr txBox="1"/>
            <p:nvPr/>
          </p:nvSpPr>
          <p:spPr>
            <a:xfrm>
              <a:off x="1964986" y="2258843"/>
              <a:ext cx="934871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85A63D5-6415-4051-8352-9D00950FC42F}"/>
              </a:ext>
            </a:extLst>
          </p:cNvPr>
          <p:cNvGrpSpPr/>
          <p:nvPr/>
        </p:nvGrpSpPr>
        <p:grpSpPr>
          <a:xfrm>
            <a:off x="3707904" y="1426618"/>
            <a:ext cx="545823" cy="596189"/>
            <a:chOff x="4339490" y="761746"/>
            <a:chExt cx="727764" cy="794920"/>
          </a:xfrm>
        </p:grpSpPr>
        <p:sp>
          <p:nvSpPr>
            <p:cNvPr id="9" name="任意多边形 82">
              <a:extLst>
                <a:ext uri="{FF2B5EF4-FFF2-40B4-BE49-F238E27FC236}">
                  <a16:creationId xmlns:a16="http://schemas.microsoft.com/office/drawing/2014/main" id="{346A00FE-556E-4E9C-8250-D4E88146FDBE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Box 67">
              <a:extLst>
                <a:ext uri="{FF2B5EF4-FFF2-40B4-BE49-F238E27FC236}">
                  <a16:creationId xmlns:a16="http://schemas.microsoft.com/office/drawing/2014/main" id="{8141E691-94E0-4EE5-A9BE-50EDA45034A5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39">
            <a:extLst>
              <a:ext uri="{FF2B5EF4-FFF2-40B4-BE49-F238E27FC236}">
                <a16:creationId xmlns:a16="http://schemas.microsoft.com/office/drawing/2014/main" id="{FB80FC5A-F33E-44A7-A845-03248DDA3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1412604"/>
            <a:ext cx="4450458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多维分析平台的价值</a:t>
            </a:r>
          </a:p>
        </p:txBody>
      </p:sp>
      <p:sp>
        <p:nvSpPr>
          <p:cNvPr id="12" name="矩形 39">
            <a:extLst>
              <a:ext uri="{FF2B5EF4-FFF2-40B4-BE49-F238E27FC236}">
                <a16:creationId xmlns:a16="http://schemas.microsoft.com/office/drawing/2014/main" id="{4C55AE36-DA23-4CBF-8DDE-1D0F7451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8593" y="2399558"/>
            <a:ext cx="3705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指标的需求</a:t>
            </a: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</a:p>
        </p:txBody>
      </p:sp>
      <p:sp>
        <p:nvSpPr>
          <p:cNvPr id="13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7826" y="3431652"/>
            <a:ext cx="370664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指标体系的</a:t>
            </a:r>
            <a:r>
              <a:rPr lang="zh-CN" altLang="en-US" sz="2400" kern="0" dirty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r>
              <a:rPr lang="zh-CN" altLang="en-US" sz="2400" kern="0" dirty="0" smtClean="0">
                <a:solidFill>
                  <a:srgbClr val="414C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endParaRPr lang="zh-CN" altLang="en-US" sz="2400" kern="0" dirty="0">
              <a:solidFill>
                <a:srgbClr val="414C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EC0EA85-4431-40D8-9455-987284E399ED}"/>
              </a:ext>
            </a:extLst>
          </p:cNvPr>
          <p:cNvGrpSpPr/>
          <p:nvPr/>
        </p:nvGrpSpPr>
        <p:grpSpPr>
          <a:xfrm>
            <a:off x="3653415" y="2482661"/>
            <a:ext cx="545823" cy="596189"/>
            <a:chOff x="4339490" y="761746"/>
            <a:chExt cx="727764" cy="794920"/>
          </a:xfrm>
        </p:grpSpPr>
        <p:sp>
          <p:nvSpPr>
            <p:cNvPr id="15" name="任意多边形 82">
              <a:extLst>
                <a:ext uri="{FF2B5EF4-FFF2-40B4-BE49-F238E27FC236}">
                  <a16:creationId xmlns:a16="http://schemas.microsoft.com/office/drawing/2014/main" id="{81A18F38-B788-4173-B856-2F3FECC5E4B1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67">
              <a:extLst>
                <a:ext uri="{FF2B5EF4-FFF2-40B4-BE49-F238E27FC236}">
                  <a16:creationId xmlns:a16="http://schemas.microsoft.com/office/drawing/2014/main" id="{77FADB82-21E7-433C-9BA1-D90B289409DE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707904" y="3552719"/>
            <a:ext cx="545823" cy="596189"/>
            <a:chOff x="4339490" y="761746"/>
            <a:chExt cx="727764" cy="794920"/>
          </a:xfrm>
        </p:grpSpPr>
        <p:sp>
          <p:nvSpPr>
            <p:cNvPr id="18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39">
            <a:extLst>
              <a:ext uri="{FF2B5EF4-FFF2-40B4-BE49-F238E27FC236}">
                <a16:creationId xmlns:a16="http://schemas.microsoft.com/office/drawing/2014/main" id="{1F921F94-DE80-4457-B17D-0B5EE01BA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407" y="4472326"/>
            <a:ext cx="520016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50000"/>
              </a:lnSpc>
              <a:spcBef>
                <a:spcPts val="750"/>
              </a:spcBef>
            </a:pPr>
            <a:r>
              <a:rPr lang="zh-CN" altLang="en-US" sz="3200" b="1" kern="0" dirty="0" smtClean="0">
                <a:solidFill>
                  <a:srgbClr val="8B18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多维分析说明</a:t>
            </a:r>
            <a:r>
              <a:rPr lang="zh-CN" altLang="en-US" sz="3200" b="1" kern="0" dirty="0">
                <a:solidFill>
                  <a:srgbClr val="8B18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及演示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FD330F2-F185-4AB4-94A2-F6C8ED734418}"/>
              </a:ext>
            </a:extLst>
          </p:cNvPr>
          <p:cNvGrpSpPr/>
          <p:nvPr/>
        </p:nvGrpSpPr>
        <p:grpSpPr>
          <a:xfrm>
            <a:off x="3690486" y="4632582"/>
            <a:ext cx="545823" cy="596189"/>
            <a:chOff x="4339490" y="761746"/>
            <a:chExt cx="727764" cy="794920"/>
          </a:xfrm>
        </p:grpSpPr>
        <p:sp>
          <p:nvSpPr>
            <p:cNvPr id="22" name="任意多边形 82">
              <a:extLst>
                <a:ext uri="{FF2B5EF4-FFF2-40B4-BE49-F238E27FC236}">
                  <a16:creationId xmlns:a16="http://schemas.microsoft.com/office/drawing/2014/main" id="{DBB6BA0A-2F6C-49A4-AE8B-E0EB0364A32B}"/>
                </a:ext>
              </a:extLst>
            </p:cNvPr>
            <p:cNvSpPr/>
            <p:nvPr/>
          </p:nvSpPr>
          <p:spPr bwMode="auto">
            <a:xfrm rot="3738964">
              <a:off x="4338753" y="762483"/>
              <a:ext cx="729238" cy="727764"/>
            </a:xfrm>
            <a:custGeom>
              <a:avLst/>
              <a:gdLst>
                <a:gd name="connsiteX0" fmla="*/ 0 w 1800200"/>
                <a:gd name="connsiteY0" fmla="*/ 900100 h 1800200"/>
                <a:gd name="connsiteX1" fmla="*/ 263634 w 1800200"/>
                <a:gd name="connsiteY1" fmla="*/ 263633 h 1800200"/>
                <a:gd name="connsiteX2" fmla="*/ 900101 w 1800200"/>
                <a:gd name="connsiteY2" fmla="*/ 1 h 1800200"/>
                <a:gd name="connsiteX3" fmla="*/ 1536568 w 1800200"/>
                <a:gd name="connsiteY3" fmla="*/ 263635 h 1800200"/>
                <a:gd name="connsiteX4" fmla="*/ 1800200 w 1800200"/>
                <a:gd name="connsiteY4" fmla="*/ 900102 h 1800200"/>
                <a:gd name="connsiteX5" fmla="*/ 1536567 w 1800200"/>
                <a:gd name="connsiteY5" fmla="*/ 1536569 h 1800200"/>
                <a:gd name="connsiteX6" fmla="*/ 900100 w 1800200"/>
                <a:gd name="connsiteY6" fmla="*/ 1800202 h 1800200"/>
                <a:gd name="connsiteX7" fmla="*/ 263633 w 1800200"/>
                <a:gd name="connsiteY7" fmla="*/ 1536568 h 1800200"/>
                <a:gd name="connsiteX8" fmla="*/ 0 w 1800200"/>
                <a:gd name="connsiteY8" fmla="*/ 900101 h 1800200"/>
                <a:gd name="connsiteX9" fmla="*/ 0 w 1800200"/>
                <a:gd name="connsiteY9" fmla="*/ 900100 h 180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00200" h="1800200">
                  <a:moveTo>
                    <a:pt x="0" y="900100"/>
                  </a:moveTo>
                  <a:cubicBezTo>
                    <a:pt x="0" y="661379"/>
                    <a:pt x="94832" y="432435"/>
                    <a:pt x="263634" y="263633"/>
                  </a:cubicBezTo>
                  <a:cubicBezTo>
                    <a:pt x="432436" y="94832"/>
                    <a:pt x="661380" y="0"/>
                    <a:pt x="900101" y="1"/>
                  </a:cubicBezTo>
                  <a:cubicBezTo>
                    <a:pt x="1138822" y="1"/>
                    <a:pt x="1367766" y="94833"/>
                    <a:pt x="1536568" y="263635"/>
                  </a:cubicBezTo>
                  <a:cubicBezTo>
                    <a:pt x="1705369" y="432437"/>
                    <a:pt x="1800201" y="661381"/>
                    <a:pt x="1800200" y="900102"/>
                  </a:cubicBezTo>
                  <a:cubicBezTo>
                    <a:pt x="1800200" y="1138823"/>
                    <a:pt x="1705368" y="1367767"/>
                    <a:pt x="1536567" y="1536569"/>
                  </a:cubicBezTo>
                  <a:cubicBezTo>
                    <a:pt x="1367765" y="1705371"/>
                    <a:pt x="1138821" y="1800202"/>
                    <a:pt x="900100" y="1800202"/>
                  </a:cubicBezTo>
                  <a:cubicBezTo>
                    <a:pt x="661379" y="1800202"/>
                    <a:pt x="432435" y="1705370"/>
                    <a:pt x="263633" y="1536568"/>
                  </a:cubicBezTo>
                  <a:cubicBezTo>
                    <a:pt x="94832" y="1367766"/>
                    <a:pt x="0" y="1138822"/>
                    <a:pt x="0" y="900101"/>
                  </a:cubicBezTo>
                  <a:lnTo>
                    <a:pt x="0" y="900100"/>
                  </a:lnTo>
                  <a:close/>
                </a:path>
              </a:pathLst>
            </a:custGeom>
            <a:solidFill>
              <a:srgbClr val="8B181B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67">
              <a:extLst>
                <a:ext uri="{FF2B5EF4-FFF2-40B4-BE49-F238E27FC236}">
                  <a16:creationId xmlns:a16="http://schemas.microsoft.com/office/drawing/2014/main" id="{DB61DD44-70B7-4E52-A99B-62364C9083E9}"/>
                </a:ext>
              </a:extLst>
            </p:cNvPr>
            <p:cNvSpPr txBox="1"/>
            <p:nvPr/>
          </p:nvSpPr>
          <p:spPr>
            <a:xfrm>
              <a:off x="4400469" y="776965"/>
              <a:ext cx="605293" cy="7797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0" i="0" u="none" strike="noStrike" kern="0" cap="none" spc="225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3200" b="0" i="0" u="none" strike="noStrike" kern="0" cap="none" spc="2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793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演示</a:t>
            </a:r>
            <a:r>
              <a:rPr lang="zh-CN" altLang="en-US" dirty="0"/>
              <a:t>说明</a:t>
            </a:r>
          </a:p>
        </p:txBody>
      </p:sp>
      <p:sp>
        <p:nvSpPr>
          <p:cNvPr id="6" name="TextBox 2"/>
          <p:cNvSpPr txBox="1"/>
          <p:nvPr/>
        </p:nvSpPr>
        <p:spPr>
          <a:xfrm>
            <a:off x="1073332" y="1438405"/>
            <a:ext cx="10681118" cy="5275904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多维分析平台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saiku.nonobank.com:8091</a:t>
            </a: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访问登录方式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域名登录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8721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7597</TotalTime>
  <Words>1136</Words>
  <Application>Microsoft Office PowerPoint</Application>
  <PresentationFormat>宽屏</PresentationFormat>
  <Paragraphs>220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黑体</vt:lpstr>
      <vt:lpstr>宋体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风控指标 多维分析平台发布说明</vt:lpstr>
      <vt:lpstr>目录</vt:lpstr>
      <vt:lpstr>数据分析的目标</vt:lpstr>
      <vt:lpstr>引入多维分析平台</vt:lpstr>
      <vt:lpstr>目录</vt:lpstr>
      <vt:lpstr>需求 -业务指标 </vt:lpstr>
      <vt:lpstr>需求-风险指标</vt:lpstr>
      <vt:lpstr>维度分类</vt:lpstr>
      <vt:lpstr>目录</vt:lpstr>
      <vt:lpstr>项目周期</vt:lpstr>
      <vt:lpstr>高效的团队</vt:lpstr>
      <vt:lpstr>实现方法</vt:lpstr>
      <vt:lpstr>过程量化</vt:lpstr>
      <vt:lpstr>目录</vt:lpstr>
      <vt:lpstr>演示说明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1097</cp:revision>
  <cp:lastPrinted>2017-11-27T05:08:00Z</cp:lastPrinted>
  <dcterms:created xsi:type="dcterms:W3CDTF">2017-05-03T04:04:00Z</dcterms:created>
  <dcterms:modified xsi:type="dcterms:W3CDTF">2018-12-29T01:57:04Z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