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40" r:id="rId3"/>
    <p:sldId id="342" r:id="rId4"/>
    <p:sldId id="336" r:id="rId5"/>
    <p:sldId id="326" r:id="rId6"/>
    <p:sldId id="335" r:id="rId7"/>
    <p:sldId id="339" r:id="rId8"/>
    <p:sldId id="343" r:id="rId9"/>
    <p:sldId id="334" r:id="rId10"/>
    <p:sldId id="344" r:id="rId11"/>
    <p:sldId id="338" r:id="rId12"/>
    <p:sldId id="314" r:id="rId13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7"/>
    <p:restoredTop sz="94825"/>
  </p:normalViewPr>
  <p:slideViewPr>
    <p:cSldViewPr>
      <p:cViewPr>
        <p:scale>
          <a:sx n="102" d="100"/>
          <a:sy n="102" d="100"/>
        </p:scale>
        <p:origin x="400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686605-3DFE-7B43-8C5C-EAFBB5F65FF3}" type="doc">
      <dgm:prSet loTypeId="urn:microsoft.com/office/officeart/2008/layout/VerticalCurvedList" loCatId="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zh-CN" altLang="en-US"/>
        </a:p>
      </dgm:t>
    </dgm:pt>
    <dgm:pt modelId="{4A3E575C-3C0A-7540-B467-10339335E95F}">
      <dgm:prSet phldrT="[文本]"/>
      <dgm:spPr/>
      <dgm:t>
        <a:bodyPr/>
        <a:lstStyle/>
        <a:p>
          <a:r>
            <a:rPr lang="zh-CN" altLang="en-US" dirty="0" smtClean="0"/>
            <a:t>架构</a:t>
          </a:r>
          <a:endParaRPr lang="zh-CN" altLang="en-US" dirty="0"/>
        </a:p>
      </dgm:t>
    </dgm:pt>
    <dgm:pt modelId="{2363A742-16D9-AE4D-8183-29B78652BCF1}" type="parTrans" cxnId="{FFA26A3A-C4CF-4549-8612-BB97E83ABAB9}">
      <dgm:prSet/>
      <dgm:spPr/>
      <dgm:t>
        <a:bodyPr/>
        <a:lstStyle/>
        <a:p>
          <a:endParaRPr lang="zh-CN" altLang="en-US"/>
        </a:p>
      </dgm:t>
    </dgm:pt>
    <dgm:pt modelId="{270DDC9A-F6D7-D445-894B-587B354031C3}" type="sibTrans" cxnId="{FFA26A3A-C4CF-4549-8612-BB97E83ABAB9}">
      <dgm:prSet/>
      <dgm:spPr/>
      <dgm:t>
        <a:bodyPr/>
        <a:lstStyle/>
        <a:p>
          <a:endParaRPr lang="zh-CN" altLang="en-US"/>
        </a:p>
      </dgm:t>
    </dgm:pt>
    <dgm:pt modelId="{7D46DC19-A45B-2444-8768-68F6F742E91A}">
      <dgm:prSet/>
      <dgm:spPr/>
      <dgm:t>
        <a:bodyPr/>
        <a:lstStyle/>
        <a:p>
          <a:r>
            <a:rPr lang="en-US" altLang="zh-CN" dirty="0" err="1" smtClean="0"/>
            <a:t>Kylin</a:t>
          </a:r>
          <a:endParaRPr lang="zh-CN" altLang="en-US" dirty="0"/>
        </a:p>
      </dgm:t>
    </dgm:pt>
    <dgm:pt modelId="{1D4F9F10-AC9A-374E-BB7B-EC98BB4D48F0}" type="parTrans" cxnId="{4E9DB622-7912-FE45-8FD8-59D950AA09F6}">
      <dgm:prSet/>
      <dgm:spPr/>
      <dgm:t>
        <a:bodyPr/>
        <a:lstStyle/>
        <a:p>
          <a:endParaRPr lang="zh-CN" altLang="en-US"/>
        </a:p>
      </dgm:t>
    </dgm:pt>
    <dgm:pt modelId="{BC797760-F65E-DB42-9D73-B612C09E6F08}" type="sibTrans" cxnId="{4E9DB622-7912-FE45-8FD8-59D950AA09F6}">
      <dgm:prSet/>
      <dgm:spPr/>
      <dgm:t>
        <a:bodyPr/>
        <a:lstStyle/>
        <a:p>
          <a:endParaRPr lang="zh-CN" altLang="en-US"/>
        </a:p>
      </dgm:t>
    </dgm:pt>
    <dgm:pt modelId="{F2EBCF8A-FBEC-C641-920D-9990A8714AC8}">
      <dgm:prSet/>
      <dgm:spPr/>
      <dgm:t>
        <a:bodyPr/>
        <a:lstStyle/>
        <a:p>
          <a:r>
            <a:rPr lang="en-US" altLang="zh-CN" dirty="0" err="1" smtClean="0"/>
            <a:t>Saiku</a:t>
          </a:r>
          <a:endParaRPr lang="zh-CN" altLang="en-US" dirty="0"/>
        </a:p>
      </dgm:t>
    </dgm:pt>
    <dgm:pt modelId="{87D4DB07-5878-9849-8F05-0A29D8509686}" type="parTrans" cxnId="{AB859620-23EE-9742-A8CF-CF4FC2652D7F}">
      <dgm:prSet/>
      <dgm:spPr/>
      <dgm:t>
        <a:bodyPr/>
        <a:lstStyle/>
        <a:p>
          <a:endParaRPr lang="zh-CN" altLang="en-US"/>
        </a:p>
      </dgm:t>
    </dgm:pt>
    <dgm:pt modelId="{26B265B4-DE5F-D648-9B81-3829DCA64425}" type="sibTrans" cxnId="{AB859620-23EE-9742-A8CF-CF4FC2652D7F}">
      <dgm:prSet/>
      <dgm:spPr/>
      <dgm:t>
        <a:bodyPr/>
        <a:lstStyle/>
        <a:p>
          <a:endParaRPr lang="zh-CN" altLang="en-US"/>
        </a:p>
      </dgm:t>
    </dgm:pt>
    <dgm:pt modelId="{45BC9F75-9152-6641-B53C-80FA9CC8AC0C}">
      <dgm:prSet/>
      <dgm:spPr/>
      <dgm:t>
        <a:bodyPr/>
        <a:lstStyle/>
        <a:p>
          <a:r>
            <a:rPr lang="en-US" altLang="zh-CN" dirty="0" err="1" smtClean="0"/>
            <a:t>Mondrain</a:t>
          </a:r>
          <a:endParaRPr lang="zh-CN" altLang="en-US" dirty="0"/>
        </a:p>
      </dgm:t>
    </dgm:pt>
    <dgm:pt modelId="{BA79384F-348A-5E4F-A23D-F2D036D143D3}" type="parTrans" cxnId="{BB9046D7-53A8-244E-B20E-E4BC6F2EEC41}">
      <dgm:prSet/>
      <dgm:spPr/>
      <dgm:t>
        <a:bodyPr/>
        <a:lstStyle/>
        <a:p>
          <a:endParaRPr lang="zh-CN" altLang="en-US"/>
        </a:p>
      </dgm:t>
    </dgm:pt>
    <dgm:pt modelId="{F9402E09-C1CA-BA49-A99E-64D292C8774F}" type="sibTrans" cxnId="{BB9046D7-53A8-244E-B20E-E4BC6F2EEC41}">
      <dgm:prSet/>
      <dgm:spPr/>
      <dgm:t>
        <a:bodyPr/>
        <a:lstStyle/>
        <a:p>
          <a:endParaRPr lang="zh-CN" altLang="en-US"/>
        </a:p>
      </dgm:t>
    </dgm:pt>
    <dgm:pt modelId="{DF9FFC4C-302B-5943-8782-5031906B45D0}" type="pres">
      <dgm:prSet presAssocID="{EE686605-3DFE-7B43-8C5C-EAFBB5F65FF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6EE619CD-8EDA-5F4F-8E2C-17CCE4A715C0}" type="pres">
      <dgm:prSet presAssocID="{EE686605-3DFE-7B43-8C5C-EAFBB5F65FF3}" presName="Name1" presStyleCnt="0"/>
      <dgm:spPr/>
    </dgm:pt>
    <dgm:pt modelId="{EF7D105E-F333-1F46-9634-4D70D6455DC1}" type="pres">
      <dgm:prSet presAssocID="{EE686605-3DFE-7B43-8C5C-EAFBB5F65FF3}" presName="cycle" presStyleCnt="0"/>
      <dgm:spPr/>
    </dgm:pt>
    <dgm:pt modelId="{76FA0DF3-FC4F-1E4B-A792-016F3587F681}" type="pres">
      <dgm:prSet presAssocID="{EE686605-3DFE-7B43-8C5C-EAFBB5F65FF3}" presName="srcNode" presStyleLbl="node1" presStyleIdx="0" presStyleCnt="4"/>
      <dgm:spPr/>
    </dgm:pt>
    <dgm:pt modelId="{A47305D5-7AF5-AE45-8914-28C7A56FC680}" type="pres">
      <dgm:prSet presAssocID="{EE686605-3DFE-7B43-8C5C-EAFBB5F65FF3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C26C11A7-A4A4-9440-BCFF-8FF36CAF23F6}" type="pres">
      <dgm:prSet presAssocID="{EE686605-3DFE-7B43-8C5C-EAFBB5F65FF3}" presName="extraNode" presStyleLbl="node1" presStyleIdx="0" presStyleCnt="4"/>
      <dgm:spPr/>
    </dgm:pt>
    <dgm:pt modelId="{9415C2B8-4C18-3A44-9BE3-E5D9422254E6}" type="pres">
      <dgm:prSet presAssocID="{EE686605-3DFE-7B43-8C5C-EAFBB5F65FF3}" presName="dstNode" presStyleLbl="node1" presStyleIdx="0" presStyleCnt="4"/>
      <dgm:spPr/>
    </dgm:pt>
    <dgm:pt modelId="{6330C7BA-2B2D-CF47-AE9E-256D2772EB9C}" type="pres">
      <dgm:prSet presAssocID="{4A3E575C-3C0A-7540-B467-10339335E95F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6A1C2F-4DD8-0C4C-9CA5-67D5F0B08CAE}" type="pres">
      <dgm:prSet presAssocID="{4A3E575C-3C0A-7540-B467-10339335E95F}" presName="accent_1" presStyleCnt="0"/>
      <dgm:spPr/>
    </dgm:pt>
    <dgm:pt modelId="{34D46EE3-6E15-2A4A-A947-7639CC9E53F1}" type="pres">
      <dgm:prSet presAssocID="{4A3E575C-3C0A-7540-B467-10339335E95F}" presName="accentRepeatNode" presStyleLbl="solidFgAcc1" presStyleIdx="0" presStyleCnt="4"/>
      <dgm:spPr/>
    </dgm:pt>
    <dgm:pt modelId="{548A823F-6AFE-D841-9133-F138C2829217}" type="pres">
      <dgm:prSet presAssocID="{7D46DC19-A45B-2444-8768-68F6F742E91A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94A3A9-74F4-934B-91B2-8BC27B8A1B58}" type="pres">
      <dgm:prSet presAssocID="{7D46DC19-A45B-2444-8768-68F6F742E91A}" presName="accent_2" presStyleCnt="0"/>
      <dgm:spPr/>
    </dgm:pt>
    <dgm:pt modelId="{C1BBD075-A8A4-1645-9387-F6EB3D61B5F1}" type="pres">
      <dgm:prSet presAssocID="{7D46DC19-A45B-2444-8768-68F6F742E91A}" presName="accentRepeatNode" presStyleLbl="solidFgAcc1" presStyleIdx="1" presStyleCnt="4"/>
      <dgm:spPr/>
    </dgm:pt>
    <dgm:pt modelId="{ED5F3BAA-0E0B-1044-A371-9DB26FD32E7D}" type="pres">
      <dgm:prSet presAssocID="{F2EBCF8A-FBEC-C641-920D-9990A8714AC8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03F9115-85EF-094F-B312-D8DBF36617E4}" type="pres">
      <dgm:prSet presAssocID="{F2EBCF8A-FBEC-C641-920D-9990A8714AC8}" presName="accent_3" presStyleCnt="0"/>
      <dgm:spPr/>
    </dgm:pt>
    <dgm:pt modelId="{E4412BEC-578C-0142-B59B-9A80D8234A5C}" type="pres">
      <dgm:prSet presAssocID="{F2EBCF8A-FBEC-C641-920D-9990A8714AC8}" presName="accentRepeatNode" presStyleLbl="solidFgAcc1" presStyleIdx="2" presStyleCnt="4"/>
      <dgm:spPr/>
    </dgm:pt>
    <dgm:pt modelId="{D40091C7-52E0-C54C-886B-8E62A3539CE9}" type="pres">
      <dgm:prSet presAssocID="{45BC9F75-9152-6641-B53C-80FA9CC8AC0C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A13B00-AB0D-0E4D-A1B6-3B6AF2016E40}" type="pres">
      <dgm:prSet presAssocID="{45BC9F75-9152-6641-B53C-80FA9CC8AC0C}" presName="accent_4" presStyleCnt="0"/>
      <dgm:spPr/>
    </dgm:pt>
    <dgm:pt modelId="{D628C852-D0F6-D54A-9952-74C46E30580F}" type="pres">
      <dgm:prSet presAssocID="{45BC9F75-9152-6641-B53C-80FA9CC8AC0C}" presName="accentRepeatNode" presStyleLbl="solidFgAcc1" presStyleIdx="3" presStyleCnt="4"/>
      <dgm:spPr/>
    </dgm:pt>
  </dgm:ptLst>
  <dgm:cxnLst>
    <dgm:cxn modelId="{FFA26A3A-C4CF-4549-8612-BB97E83ABAB9}" srcId="{EE686605-3DFE-7B43-8C5C-EAFBB5F65FF3}" destId="{4A3E575C-3C0A-7540-B467-10339335E95F}" srcOrd="0" destOrd="0" parTransId="{2363A742-16D9-AE4D-8183-29B78652BCF1}" sibTransId="{270DDC9A-F6D7-D445-894B-587B354031C3}"/>
    <dgm:cxn modelId="{C3CACC32-3F25-9649-AB06-572BDC841C9B}" type="presOf" srcId="{4A3E575C-3C0A-7540-B467-10339335E95F}" destId="{6330C7BA-2B2D-CF47-AE9E-256D2772EB9C}" srcOrd="0" destOrd="0" presId="urn:microsoft.com/office/officeart/2008/layout/VerticalCurvedList"/>
    <dgm:cxn modelId="{99FC7A28-BF45-8344-8124-8A0D9A5BD9AF}" type="presOf" srcId="{F2EBCF8A-FBEC-C641-920D-9990A8714AC8}" destId="{ED5F3BAA-0E0B-1044-A371-9DB26FD32E7D}" srcOrd="0" destOrd="0" presId="urn:microsoft.com/office/officeart/2008/layout/VerticalCurvedList"/>
    <dgm:cxn modelId="{408102E4-F67E-4C40-BA38-C59AF2EC32DE}" type="presOf" srcId="{7D46DC19-A45B-2444-8768-68F6F742E91A}" destId="{548A823F-6AFE-D841-9133-F138C2829217}" srcOrd="0" destOrd="0" presId="urn:microsoft.com/office/officeart/2008/layout/VerticalCurvedList"/>
    <dgm:cxn modelId="{AB859620-23EE-9742-A8CF-CF4FC2652D7F}" srcId="{EE686605-3DFE-7B43-8C5C-EAFBB5F65FF3}" destId="{F2EBCF8A-FBEC-C641-920D-9990A8714AC8}" srcOrd="2" destOrd="0" parTransId="{87D4DB07-5878-9849-8F05-0A29D8509686}" sibTransId="{26B265B4-DE5F-D648-9B81-3829DCA64425}"/>
    <dgm:cxn modelId="{BB9046D7-53A8-244E-B20E-E4BC6F2EEC41}" srcId="{EE686605-3DFE-7B43-8C5C-EAFBB5F65FF3}" destId="{45BC9F75-9152-6641-B53C-80FA9CC8AC0C}" srcOrd="3" destOrd="0" parTransId="{BA79384F-348A-5E4F-A23D-F2D036D143D3}" sibTransId="{F9402E09-C1CA-BA49-A99E-64D292C8774F}"/>
    <dgm:cxn modelId="{4E9DB622-7912-FE45-8FD8-59D950AA09F6}" srcId="{EE686605-3DFE-7B43-8C5C-EAFBB5F65FF3}" destId="{7D46DC19-A45B-2444-8768-68F6F742E91A}" srcOrd="1" destOrd="0" parTransId="{1D4F9F10-AC9A-374E-BB7B-EC98BB4D48F0}" sibTransId="{BC797760-F65E-DB42-9D73-B612C09E6F08}"/>
    <dgm:cxn modelId="{A454BE04-248A-5E4A-9541-720D388DB983}" type="presOf" srcId="{EE686605-3DFE-7B43-8C5C-EAFBB5F65FF3}" destId="{DF9FFC4C-302B-5943-8782-5031906B45D0}" srcOrd="0" destOrd="0" presId="urn:microsoft.com/office/officeart/2008/layout/VerticalCurvedList"/>
    <dgm:cxn modelId="{3FFC6A31-E804-E94B-88CB-922D74EA53B9}" type="presOf" srcId="{45BC9F75-9152-6641-B53C-80FA9CC8AC0C}" destId="{D40091C7-52E0-C54C-886B-8E62A3539CE9}" srcOrd="0" destOrd="0" presId="urn:microsoft.com/office/officeart/2008/layout/VerticalCurvedList"/>
    <dgm:cxn modelId="{F8560BF1-CBBE-C34D-8409-D09A7AECC83D}" type="presOf" srcId="{270DDC9A-F6D7-D445-894B-587B354031C3}" destId="{A47305D5-7AF5-AE45-8914-28C7A56FC680}" srcOrd="0" destOrd="0" presId="urn:microsoft.com/office/officeart/2008/layout/VerticalCurvedList"/>
    <dgm:cxn modelId="{E1BD4ACF-5688-8A43-89C9-9E7A9C44DE28}" type="presParOf" srcId="{DF9FFC4C-302B-5943-8782-5031906B45D0}" destId="{6EE619CD-8EDA-5F4F-8E2C-17CCE4A715C0}" srcOrd="0" destOrd="0" presId="urn:microsoft.com/office/officeart/2008/layout/VerticalCurvedList"/>
    <dgm:cxn modelId="{3BA62753-2311-794E-AAF2-A7C69932854D}" type="presParOf" srcId="{6EE619CD-8EDA-5F4F-8E2C-17CCE4A715C0}" destId="{EF7D105E-F333-1F46-9634-4D70D6455DC1}" srcOrd="0" destOrd="0" presId="urn:microsoft.com/office/officeart/2008/layout/VerticalCurvedList"/>
    <dgm:cxn modelId="{1227C64C-8A59-0A42-B640-C6ED159CFE7D}" type="presParOf" srcId="{EF7D105E-F333-1F46-9634-4D70D6455DC1}" destId="{76FA0DF3-FC4F-1E4B-A792-016F3587F681}" srcOrd="0" destOrd="0" presId="urn:microsoft.com/office/officeart/2008/layout/VerticalCurvedList"/>
    <dgm:cxn modelId="{0DC183CD-11A3-4A45-B3F1-56DB0DD501A5}" type="presParOf" srcId="{EF7D105E-F333-1F46-9634-4D70D6455DC1}" destId="{A47305D5-7AF5-AE45-8914-28C7A56FC680}" srcOrd="1" destOrd="0" presId="urn:microsoft.com/office/officeart/2008/layout/VerticalCurvedList"/>
    <dgm:cxn modelId="{77D58439-C821-2448-BDB7-619311E0AEEF}" type="presParOf" srcId="{EF7D105E-F333-1F46-9634-4D70D6455DC1}" destId="{C26C11A7-A4A4-9440-BCFF-8FF36CAF23F6}" srcOrd="2" destOrd="0" presId="urn:microsoft.com/office/officeart/2008/layout/VerticalCurvedList"/>
    <dgm:cxn modelId="{1FB56DFF-E70D-C44C-BAAA-1AB3FC548ADE}" type="presParOf" srcId="{EF7D105E-F333-1F46-9634-4D70D6455DC1}" destId="{9415C2B8-4C18-3A44-9BE3-E5D9422254E6}" srcOrd="3" destOrd="0" presId="urn:microsoft.com/office/officeart/2008/layout/VerticalCurvedList"/>
    <dgm:cxn modelId="{7189449F-D112-D741-BD04-3408D5ABCD1D}" type="presParOf" srcId="{6EE619CD-8EDA-5F4F-8E2C-17CCE4A715C0}" destId="{6330C7BA-2B2D-CF47-AE9E-256D2772EB9C}" srcOrd="1" destOrd="0" presId="urn:microsoft.com/office/officeart/2008/layout/VerticalCurvedList"/>
    <dgm:cxn modelId="{AC2AA8BC-3120-3E41-991A-B3887732E958}" type="presParOf" srcId="{6EE619CD-8EDA-5F4F-8E2C-17CCE4A715C0}" destId="{546A1C2F-4DD8-0C4C-9CA5-67D5F0B08CAE}" srcOrd="2" destOrd="0" presId="urn:microsoft.com/office/officeart/2008/layout/VerticalCurvedList"/>
    <dgm:cxn modelId="{E9B97132-1CE6-B943-80DC-2F4355735237}" type="presParOf" srcId="{546A1C2F-4DD8-0C4C-9CA5-67D5F0B08CAE}" destId="{34D46EE3-6E15-2A4A-A947-7639CC9E53F1}" srcOrd="0" destOrd="0" presId="urn:microsoft.com/office/officeart/2008/layout/VerticalCurvedList"/>
    <dgm:cxn modelId="{2DB30C0F-0C35-1C4D-BA30-AF09E0B8A8A0}" type="presParOf" srcId="{6EE619CD-8EDA-5F4F-8E2C-17CCE4A715C0}" destId="{548A823F-6AFE-D841-9133-F138C2829217}" srcOrd="3" destOrd="0" presId="urn:microsoft.com/office/officeart/2008/layout/VerticalCurvedList"/>
    <dgm:cxn modelId="{EC60CE39-022A-9F41-A697-9BB0828E38DC}" type="presParOf" srcId="{6EE619CD-8EDA-5F4F-8E2C-17CCE4A715C0}" destId="{7A94A3A9-74F4-934B-91B2-8BC27B8A1B58}" srcOrd="4" destOrd="0" presId="urn:microsoft.com/office/officeart/2008/layout/VerticalCurvedList"/>
    <dgm:cxn modelId="{DD7E1066-22F8-574E-9E6F-708608582EFD}" type="presParOf" srcId="{7A94A3A9-74F4-934B-91B2-8BC27B8A1B58}" destId="{C1BBD075-A8A4-1645-9387-F6EB3D61B5F1}" srcOrd="0" destOrd="0" presId="urn:microsoft.com/office/officeart/2008/layout/VerticalCurvedList"/>
    <dgm:cxn modelId="{C4B41604-C28A-0D46-82B5-7C8513FD0272}" type="presParOf" srcId="{6EE619CD-8EDA-5F4F-8E2C-17CCE4A715C0}" destId="{ED5F3BAA-0E0B-1044-A371-9DB26FD32E7D}" srcOrd="5" destOrd="0" presId="urn:microsoft.com/office/officeart/2008/layout/VerticalCurvedList"/>
    <dgm:cxn modelId="{30E08435-2531-D643-95CC-CC7B1EFE56E6}" type="presParOf" srcId="{6EE619CD-8EDA-5F4F-8E2C-17CCE4A715C0}" destId="{103F9115-85EF-094F-B312-D8DBF36617E4}" srcOrd="6" destOrd="0" presId="urn:microsoft.com/office/officeart/2008/layout/VerticalCurvedList"/>
    <dgm:cxn modelId="{519B07EB-F0BB-1C49-BD57-AA65895F66B5}" type="presParOf" srcId="{103F9115-85EF-094F-B312-D8DBF36617E4}" destId="{E4412BEC-578C-0142-B59B-9A80D8234A5C}" srcOrd="0" destOrd="0" presId="urn:microsoft.com/office/officeart/2008/layout/VerticalCurvedList"/>
    <dgm:cxn modelId="{20799529-0C67-024C-B3A4-1925D667E4C8}" type="presParOf" srcId="{6EE619CD-8EDA-5F4F-8E2C-17CCE4A715C0}" destId="{D40091C7-52E0-C54C-886B-8E62A3539CE9}" srcOrd="7" destOrd="0" presId="urn:microsoft.com/office/officeart/2008/layout/VerticalCurvedList"/>
    <dgm:cxn modelId="{98F4232D-9491-5847-A3F7-F6542A755337}" type="presParOf" srcId="{6EE619CD-8EDA-5F4F-8E2C-17CCE4A715C0}" destId="{2AA13B00-AB0D-0E4D-A1B6-3B6AF2016E40}" srcOrd="8" destOrd="0" presId="urn:microsoft.com/office/officeart/2008/layout/VerticalCurvedList"/>
    <dgm:cxn modelId="{0F7F0210-998E-4C4C-B826-6DD31EC8E1FE}" type="presParOf" srcId="{2AA13B00-AB0D-0E4D-A1B6-3B6AF2016E40}" destId="{D628C852-D0F6-D54A-9952-74C46E30580F}" srcOrd="0" destOrd="0" presId="urn:microsoft.com/office/officeart/2008/layout/VerticalCurve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305D5-7AF5-AE45-8914-28C7A56FC680}">
      <dsp:nvSpPr>
        <dsp:cNvPr id="0" name=""/>
        <dsp:cNvSpPr/>
      </dsp:nvSpPr>
      <dsp:spPr>
        <a:xfrm>
          <a:off x="-5686345" y="-870422"/>
          <a:ext cx="6770044" cy="6770044"/>
        </a:xfrm>
        <a:prstGeom prst="blockArc">
          <a:avLst>
            <a:gd name="adj1" fmla="val 18900000"/>
            <a:gd name="adj2" fmla="val 2700000"/>
            <a:gd name="adj3" fmla="val 319"/>
          </a:avLst>
        </a:prstGeom>
        <a:noFill/>
        <a:ln w="9525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30C7BA-2B2D-CF47-AE9E-256D2772EB9C}">
      <dsp:nvSpPr>
        <dsp:cNvPr id="0" name=""/>
        <dsp:cNvSpPr/>
      </dsp:nvSpPr>
      <dsp:spPr>
        <a:xfrm>
          <a:off x="567271" y="386644"/>
          <a:ext cx="7134697" cy="773692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4118" tIns="96520" rIns="96520" bIns="9652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800" kern="1200" dirty="0" smtClean="0"/>
            <a:t>架构</a:t>
          </a:r>
          <a:endParaRPr lang="zh-CN" altLang="en-US" sz="3800" kern="1200" dirty="0"/>
        </a:p>
      </dsp:txBody>
      <dsp:txXfrm>
        <a:off x="567271" y="386644"/>
        <a:ext cx="7134697" cy="773692"/>
      </dsp:txXfrm>
    </dsp:sp>
    <dsp:sp modelId="{34D46EE3-6E15-2A4A-A947-7639CC9E53F1}">
      <dsp:nvSpPr>
        <dsp:cNvPr id="0" name=""/>
        <dsp:cNvSpPr/>
      </dsp:nvSpPr>
      <dsp:spPr>
        <a:xfrm>
          <a:off x="83714" y="289933"/>
          <a:ext cx="967115" cy="967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A823F-6AFE-D841-9133-F138C2829217}">
      <dsp:nvSpPr>
        <dsp:cNvPr id="0" name=""/>
        <dsp:cNvSpPr/>
      </dsp:nvSpPr>
      <dsp:spPr>
        <a:xfrm>
          <a:off x="1010847" y="1547384"/>
          <a:ext cx="6691122" cy="773692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3333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13333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3333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4118" tIns="96520" rIns="96520" bIns="9652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800" kern="1200" dirty="0" err="1" smtClean="0"/>
            <a:t>Kylin</a:t>
          </a:r>
          <a:endParaRPr lang="zh-CN" altLang="en-US" sz="3800" kern="1200" dirty="0"/>
        </a:p>
      </dsp:txBody>
      <dsp:txXfrm>
        <a:off x="1010847" y="1547384"/>
        <a:ext cx="6691122" cy="773692"/>
      </dsp:txXfrm>
    </dsp:sp>
    <dsp:sp modelId="{C1BBD075-A8A4-1645-9387-F6EB3D61B5F1}">
      <dsp:nvSpPr>
        <dsp:cNvPr id="0" name=""/>
        <dsp:cNvSpPr/>
      </dsp:nvSpPr>
      <dsp:spPr>
        <a:xfrm>
          <a:off x="527289" y="1450672"/>
          <a:ext cx="967115" cy="967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F3BAA-0E0B-1044-A371-9DB26FD32E7D}">
      <dsp:nvSpPr>
        <dsp:cNvPr id="0" name=""/>
        <dsp:cNvSpPr/>
      </dsp:nvSpPr>
      <dsp:spPr>
        <a:xfrm>
          <a:off x="1010847" y="2708123"/>
          <a:ext cx="6691122" cy="773692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6667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26667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6667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4118" tIns="96520" rIns="96520" bIns="9652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800" kern="1200" dirty="0" err="1" smtClean="0"/>
            <a:t>Saiku</a:t>
          </a:r>
          <a:endParaRPr lang="zh-CN" altLang="en-US" sz="3800" kern="1200" dirty="0"/>
        </a:p>
      </dsp:txBody>
      <dsp:txXfrm>
        <a:off x="1010847" y="2708123"/>
        <a:ext cx="6691122" cy="773692"/>
      </dsp:txXfrm>
    </dsp:sp>
    <dsp:sp modelId="{E4412BEC-578C-0142-B59B-9A80D8234A5C}">
      <dsp:nvSpPr>
        <dsp:cNvPr id="0" name=""/>
        <dsp:cNvSpPr/>
      </dsp:nvSpPr>
      <dsp:spPr>
        <a:xfrm>
          <a:off x="527289" y="2611412"/>
          <a:ext cx="967115" cy="967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091C7-52E0-C54C-886B-8E62A3539CE9}">
      <dsp:nvSpPr>
        <dsp:cNvPr id="0" name=""/>
        <dsp:cNvSpPr/>
      </dsp:nvSpPr>
      <dsp:spPr>
        <a:xfrm>
          <a:off x="567271" y="3868862"/>
          <a:ext cx="7134697" cy="773692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4118" tIns="96520" rIns="96520" bIns="9652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800" kern="1200" dirty="0" err="1" smtClean="0"/>
            <a:t>Mondrain</a:t>
          </a:r>
          <a:endParaRPr lang="zh-CN" altLang="en-US" sz="3800" kern="1200" dirty="0"/>
        </a:p>
      </dsp:txBody>
      <dsp:txXfrm>
        <a:off x="567271" y="3868862"/>
        <a:ext cx="7134697" cy="773692"/>
      </dsp:txXfrm>
    </dsp:sp>
    <dsp:sp modelId="{D628C852-D0F6-D54A-9952-74C46E30580F}">
      <dsp:nvSpPr>
        <dsp:cNvPr id="0" name=""/>
        <dsp:cNvSpPr/>
      </dsp:nvSpPr>
      <dsp:spPr>
        <a:xfrm>
          <a:off x="83714" y="3772151"/>
          <a:ext cx="967115" cy="967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A7162-95E3-834D-B4C3-C48BEC16B719}" type="datetimeFigureOut">
              <a:rPr kumimoji="1" lang="zh-CN" altLang="en-US" smtClean="0"/>
              <a:t>2018/12/29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D3E91-DFF9-544F-90BB-EF2CC80CC8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871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D3E91-DFF9-544F-90BB-EF2CC80CC86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83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373888"/>
            <a:ext cx="10358120" cy="500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96E05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E7E7E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61188" y="355091"/>
            <a:ext cx="702564" cy="630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E7E7E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7E7E7E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0476" cy="68579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23" y="0"/>
            <a:ext cx="12190730" cy="6858000"/>
          </a:xfrm>
          <a:custGeom>
            <a:avLst/>
            <a:gdLst/>
            <a:ahLst/>
            <a:cxnLst/>
            <a:rect l="l" t="t" r="r" b="b"/>
            <a:pathLst>
              <a:path w="12190730" h="6858000">
                <a:moveTo>
                  <a:pt x="0" y="6857995"/>
                </a:moveTo>
                <a:lnTo>
                  <a:pt x="12190476" y="6857995"/>
                </a:lnTo>
                <a:lnTo>
                  <a:pt x="12190476" y="0"/>
                </a:lnTo>
                <a:lnTo>
                  <a:pt x="0" y="0"/>
                </a:lnTo>
                <a:lnTo>
                  <a:pt x="0" y="6857995"/>
                </a:lnTo>
                <a:close/>
              </a:path>
            </a:pathLst>
          </a:custGeom>
          <a:solidFill>
            <a:srgbClr val="FFFFFF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904476" y="0"/>
            <a:ext cx="1895855" cy="16215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73888"/>
            <a:ext cx="10358120" cy="946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7E7E7E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1443" y="2024126"/>
            <a:ext cx="8389112" cy="331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1741" y="4"/>
            <a:ext cx="9700259" cy="685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2514600"/>
            <a:ext cx="7162800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sz="4200" spc="-5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多维分析技术框架分享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7620000" y="5244640"/>
            <a:ext cx="243840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600" b="1" i="0">
                <a:solidFill>
                  <a:srgbClr val="7E7E7E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 algn="ctr"/>
            <a:r>
              <a:rPr lang="zh-CN" altLang="en-US" sz="1400" b="0" kern="0" spc="-5" dirty="0" smtClean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赵耀远</a:t>
            </a:r>
            <a:endParaRPr lang="en-US" altLang="zh-CN" sz="1400" b="0" kern="0" spc="-5" dirty="0" smtClean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700" algn="ctr"/>
            <a:r>
              <a:rPr lang="en-US" altLang="zh-CN" sz="1400" b="0" kern="0" spc="-5" dirty="0" smtClean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2018.12.28</a:t>
            </a:r>
            <a:endParaRPr lang="mr-IN" sz="1400" b="0" kern="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>
            <p:extLst>
              <p:ext uri="{D42A27DB-BD31-4B8C-83A1-F6EECF244321}">
                <p14:modId xmlns:p14="http://schemas.microsoft.com/office/powerpoint/2010/main" val="1495484180"/>
              </p:ext>
            </p:extLst>
          </p:nvPr>
        </p:nvGraphicFramePr>
        <p:xfrm>
          <a:off x="1752600" y="914400"/>
          <a:ext cx="7772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51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9120352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架构图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4139902" y="2209800"/>
            <a:ext cx="127298" cy="759287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76360" y="2354386"/>
            <a:ext cx="687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MDX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731171" y="4085336"/>
            <a:ext cx="65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SQL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751144" y="2354386"/>
            <a:ext cx="81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DATA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789521" y="4132845"/>
            <a:ext cx="80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DATA</a:t>
            </a:r>
            <a:endParaRPr kumimoji="1" lang="zh-CN" altLang="en-US" dirty="0"/>
          </a:p>
        </p:txBody>
      </p:sp>
      <p:sp>
        <p:nvSpPr>
          <p:cNvPr id="21" name="立方体 20"/>
          <p:cNvSpPr/>
          <p:nvPr/>
        </p:nvSpPr>
        <p:spPr>
          <a:xfrm>
            <a:off x="6229411" y="4712280"/>
            <a:ext cx="933389" cy="850320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CUBE</a:t>
            </a:r>
            <a:endParaRPr kumimoji="1" lang="zh-CN" altLang="en-US" dirty="0"/>
          </a:p>
        </p:txBody>
      </p:sp>
      <p:sp>
        <p:nvSpPr>
          <p:cNvPr id="22" name="多文档 21"/>
          <p:cNvSpPr/>
          <p:nvPr/>
        </p:nvSpPr>
        <p:spPr>
          <a:xfrm>
            <a:off x="2195301" y="4876800"/>
            <a:ext cx="852699" cy="928404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HDFS</a:t>
            </a:r>
            <a:endParaRPr kumimoji="1"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6310127" y="5498068"/>
            <a:ext cx="108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 smtClean="0"/>
              <a:t>Hbase</a:t>
            </a:r>
            <a:endParaRPr kumimoji="1" lang="zh-CN" altLang="en-US" dirty="0"/>
          </a:p>
        </p:txBody>
      </p:sp>
      <p:sp>
        <p:nvSpPr>
          <p:cNvPr id="29" name="右箭头 28"/>
          <p:cNvSpPr/>
          <p:nvPr/>
        </p:nvSpPr>
        <p:spPr>
          <a:xfrm>
            <a:off x="5180823" y="5201420"/>
            <a:ext cx="939504" cy="112391"/>
          </a:xfrm>
          <a:prstGeom prst="rightArrow">
            <a:avLst/>
          </a:prstGeom>
          <a:solidFill>
            <a:srgbClr val="FF9E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左箭头 29"/>
          <p:cNvSpPr/>
          <p:nvPr/>
        </p:nvSpPr>
        <p:spPr>
          <a:xfrm>
            <a:off x="3110049" y="5201420"/>
            <a:ext cx="961385" cy="137585"/>
          </a:xfrm>
          <a:prstGeom prst="leftArrow">
            <a:avLst/>
          </a:prstGeom>
          <a:solidFill>
            <a:srgbClr val="FF9E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001675" y="5715000"/>
            <a:ext cx="1427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mtClean="0"/>
              <a:t>Hive/Impala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000965" y="4900881"/>
            <a:ext cx="126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Pushdown</a:t>
            </a:r>
            <a:endParaRPr kumimoji="1" lang="zh-CN" alt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891" y="4628701"/>
            <a:ext cx="1192594" cy="109350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296" y="991697"/>
            <a:ext cx="1233544" cy="122326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285143" y="1392764"/>
            <a:ext cx="85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 smtClean="0"/>
              <a:t>Saiku</a:t>
            </a:r>
            <a:endParaRPr kumimoji="1" lang="zh-CN" altLang="en-US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57156">
            <a:off x="4036688" y="3038026"/>
            <a:ext cx="897041" cy="929661"/>
          </a:xfrm>
          <a:prstGeom prst="rect">
            <a:avLst/>
          </a:prstGeom>
        </p:spPr>
      </p:pic>
      <p:sp>
        <p:nvSpPr>
          <p:cNvPr id="37" name="上箭头 36"/>
          <p:cNvSpPr/>
          <p:nvPr/>
        </p:nvSpPr>
        <p:spPr>
          <a:xfrm>
            <a:off x="4724400" y="3886200"/>
            <a:ext cx="130243" cy="791261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下箭头 37"/>
          <p:cNvSpPr/>
          <p:nvPr/>
        </p:nvSpPr>
        <p:spPr>
          <a:xfrm>
            <a:off x="4191000" y="3962400"/>
            <a:ext cx="127298" cy="759287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上箭头 38"/>
          <p:cNvSpPr/>
          <p:nvPr/>
        </p:nvSpPr>
        <p:spPr>
          <a:xfrm>
            <a:off x="4724400" y="2180539"/>
            <a:ext cx="130243" cy="791261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876800" y="3205870"/>
            <a:ext cx="120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 smtClean="0"/>
              <a:t>Mondrain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970" y="1170297"/>
            <a:ext cx="953830" cy="769120"/>
          </a:xfrm>
          <a:prstGeom prst="rect">
            <a:avLst/>
          </a:prstGeom>
        </p:spPr>
      </p:pic>
      <p:sp>
        <p:nvSpPr>
          <p:cNvPr id="3" name="左箭头 2"/>
          <p:cNvSpPr/>
          <p:nvPr/>
        </p:nvSpPr>
        <p:spPr>
          <a:xfrm>
            <a:off x="5178971" y="1441383"/>
            <a:ext cx="993229" cy="127226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43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8200" y="1600200"/>
            <a:ext cx="922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定义数据查询方式，包括表关联关系、数据范围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06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Model</a:t>
            </a: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Kylin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-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概念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1060" y="2340433"/>
            <a:ext cx="76032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Cube</a:t>
            </a: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1060" y="2932059"/>
            <a:ext cx="9247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预计算的数据集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KV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结构，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K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：维度组合、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V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：指标值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58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8200" y="106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多维分析引擎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Kylin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-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特点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4901" y="2821456"/>
            <a:ext cx="76032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SQL</a:t>
            </a: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查询接口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1060" y="3263763"/>
            <a:ext cx="9220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Kylin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Web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直接用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SQL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查询数据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集成到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Hue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，公司统一的数据查询入口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JDBC/ODBC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，方便集成到第三方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BI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工具</a:t>
            </a: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600200"/>
            <a:ext cx="9220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预计算、时间换空间，离线构建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Cube</a:t>
            </a: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查询下压</a:t>
            </a:r>
            <a:r>
              <a:rPr lang="zh-CN" altLang="en-US" dirty="0">
                <a:latin typeface="Hiragino Sans GB W3" charset="-122"/>
                <a:ea typeface="Hiragino Sans GB W3" charset="-122"/>
                <a:cs typeface="Hiragino Sans GB W3" charset="-122"/>
              </a:rPr>
              <a:t>：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Hive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、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Impala</a:t>
            </a: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732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0325" y="1774691"/>
            <a:ext cx="922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事实表、维表是清晰的、确定的</a:t>
            </a: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06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标准星型模型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Kylin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-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限制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2269437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不支持指标</a:t>
            </a:r>
            <a:r>
              <a:rPr lang="zh-CN" altLang="en-US" b="1" dirty="0">
                <a:latin typeface="Hiragino Sans GB W3" charset="-122"/>
                <a:ea typeface="Hiragino Sans GB W3" charset="-122"/>
                <a:cs typeface="Hiragino Sans GB W3" charset="-122"/>
              </a:rPr>
              <a:t>逻辑</a:t>
            </a: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计算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0325" y="3082260"/>
            <a:ext cx="922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>
                <a:latin typeface="Hiragino Sans GB W3" charset="-122"/>
                <a:ea typeface="Hiragino Sans GB W3" charset="-122"/>
                <a:cs typeface="Hiragino Sans GB W3" charset="-122"/>
              </a:rPr>
              <a:t>sum(A+B)/sum(C*D)</a:t>
            </a:r>
            <a:r>
              <a:rPr lang="zh-CN" altLang="en-US" dirty="0">
                <a:latin typeface="Hiragino Sans GB W3" charset="-122"/>
                <a:ea typeface="Hiragino Sans GB W3" charset="-122"/>
                <a:cs typeface="Hiragino Sans GB W3" charset="-122"/>
              </a:rPr>
              <a:t>，</a:t>
            </a:r>
            <a:r>
              <a:rPr lang="en-US" altLang="zh-CN" dirty="0">
                <a:latin typeface="Hiragino Sans GB W3" charset="-122"/>
                <a:ea typeface="Hiragino Sans GB W3" charset="-122"/>
                <a:cs typeface="Hiragino Sans GB W3" charset="-122"/>
              </a:rPr>
              <a:t>case 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when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等等</a:t>
            </a: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0" y="3657389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指标数据类型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200" y="4580719"/>
            <a:ext cx="922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tinyint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37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5294" y="1615009"/>
            <a:ext cx="91930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不同角度分析感兴趣的数据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对分析结果进行保存、导出、共享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06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用户</a:t>
            </a: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操作界面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Saiku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mr-IN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概念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4901" y="2821456"/>
            <a:ext cx="76032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DataSource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6826" y="3326058"/>
            <a:ext cx="922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支持分析多种不同的数据源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1603" y="3744786"/>
            <a:ext cx="75865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Schema</a:t>
            </a: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1603" y="4282163"/>
            <a:ext cx="922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配置维度、指标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412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5294" y="1615009"/>
            <a:ext cx="91930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简单</a:t>
            </a:r>
            <a:r>
              <a:rPr lang="zh-CN" altLang="en-US" dirty="0">
                <a:latin typeface="Hiragino Sans GB W3" charset="-122"/>
                <a:ea typeface="Hiragino Sans GB W3" charset="-122"/>
                <a:cs typeface="Hiragino Sans GB W3" charset="-122"/>
              </a:rPr>
              <a:t>拖拉拽的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方式生成报表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直接写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MDX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语句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06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用户交互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Saiku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-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特点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4901" y="2821456"/>
            <a:ext cx="76032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LDAP</a:t>
            </a: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集成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6826" y="3326058"/>
            <a:ext cx="922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统一登录方式、权限控制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1603" y="3744786"/>
            <a:ext cx="75865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丰富的下载格式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1603" y="4282163"/>
            <a:ext cx="922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PDF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、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Excel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、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CSV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等格式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1603" y="4780464"/>
            <a:ext cx="7586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分析模板共享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556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8200" y="10668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模型只支持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inner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join</a:t>
            </a: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Saku</a:t>
            </a: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 - </a:t>
            </a: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限制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656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8200" y="16002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接收到的多维分析语句转换成底层数据引擎的执行语言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0668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OLAP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分析引擎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err="1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Mondrain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2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4041" y="1815952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按照数仓字段统一定义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solidFill>
                <a:srgbClr val="FF9E09"/>
              </a:solidFill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任务集成到调度平台</a:t>
            </a: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5572" y="1102321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事实表、维表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6" name="object 2"/>
          <p:cNvSpPr txBox="1">
            <a:spLocks noGrp="1"/>
          </p:cNvSpPr>
          <p:nvPr>
            <p:ph type="title"/>
          </p:nvPr>
        </p:nvSpPr>
        <p:spPr>
          <a:xfrm>
            <a:off x="709448" y="457200"/>
            <a:ext cx="912035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开发规范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4041" y="2824661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事实表视图、维表视图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7179" y="3193993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数据权限控制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endParaRPr lang="en-US" altLang="zh-CN" dirty="0" smtClean="0">
              <a:solidFill>
                <a:srgbClr val="FF9E09"/>
              </a:solidFill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不做逻辑处理</a:t>
            </a:r>
            <a:endParaRPr lang="en-US" altLang="zh-CN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5572" y="4242808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en-US" altLang="zh-CN" b="1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Saiku</a:t>
            </a: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en-US" altLang="zh-CN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Schema</a:t>
            </a:r>
          </a:p>
        </p:txBody>
      </p:sp>
      <p:sp>
        <p:nvSpPr>
          <p:cNvPr id="9" name="矩形 8"/>
          <p:cNvSpPr/>
          <p:nvPr/>
        </p:nvSpPr>
        <p:spPr>
          <a:xfrm>
            <a:off x="804041" y="4699566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zh-CN" altLang="en-US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  </a:t>
            </a: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指标分组、维度分组</a:t>
            </a:r>
            <a:endParaRPr lang="en-US" altLang="zh-CN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5572" y="5221925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Clr>
                <a:schemeClr val="accent6">
                  <a:lumMod val="75000"/>
                </a:schemeClr>
              </a:buClr>
              <a:buFont typeface="Wingdings" charset="2"/>
              <a:buChar char="l"/>
            </a:pPr>
            <a:r>
              <a:rPr lang="zh-CN" altLang="en-US" b="1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代码管理</a:t>
            </a:r>
            <a:endParaRPr lang="en-US" altLang="zh-CN" b="1" dirty="0" smtClean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5724" y="5701690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buClr>
                <a:schemeClr val="accent6">
                  <a:lumMod val="75000"/>
                </a:schemeClr>
              </a:buClr>
            </a:pPr>
            <a:r>
              <a:rPr lang="zh-CN" altLang="en-US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mr-IN" altLang="zh-CN" dirty="0" smtClean="0">
                <a:solidFill>
                  <a:srgbClr val="FF9E09"/>
                </a:solidFill>
                <a:latin typeface="Hiragino Sans GB W3" charset="-122"/>
                <a:ea typeface="Hiragino Sans GB W3" charset="-122"/>
                <a:cs typeface="Hiragino Sans GB W3" charset="-122"/>
              </a:rPr>
              <a:t>–</a:t>
            </a:r>
            <a:r>
              <a:rPr lang="en-US" altLang="zh-CN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Git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：建表语句、建视图语句、</a:t>
            </a:r>
            <a:r>
              <a:rPr lang="en-US" altLang="zh-CN" dirty="0" err="1" smtClean="0">
                <a:latin typeface="Hiragino Sans GB W3" charset="-122"/>
                <a:ea typeface="Hiragino Sans GB W3" charset="-122"/>
                <a:cs typeface="Hiragino Sans GB W3" charset="-122"/>
              </a:rPr>
              <a:t>Saiku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Schema</a:t>
            </a:r>
            <a:r>
              <a:rPr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XML</a:t>
            </a:r>
          </a:p>
        </p:txBody>
      </p:sp>
    </p:spTree>
    <p:extLst>
      <p:ext uri="{BB962C8B-B14F-4D97-AF65-F5344CB8AC3E}">
        <p14:creationId xmlns:p14="http://schemas.microsoft.com/office/powerpoint/2010/main" val="199147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600200"/>
            <a:ext cx="4102100" cy="3822700"/>
          </a:xfrm>
          <a:prstGeom prst="rect">
            <a:avLst/>
          </a:prstGeom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9220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3200" dirty="0" smtClean="0">
                <a:solidFill>
                  <a:srgbClr val="C96E05"/>
                </a:solidFill>
                <a:latin typeface="Microsoft YaHei" charset="-122"/>
                <a:ea typeface="Microsoft YaHei" charset="-122"/>
                <a:cs typeface="Microsoft YaHei" charset="-122"/>
              </a:rPr>
              <a:t>THX</a:t>
            </a:r>
            <a:endParaRPr sz="32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015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7241</TotalTime>
  <Words>319</Words>
  <Application>Microsoft Macintosh PowerPoint</Application>
  <PresentationFormat>宽屏</PresentationFormat>
  <Paragraphs>111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Calibri</vt:lpstr>
      <vt:lpstr>DengXian</vt:lpstr>
      <vt:lpstr>Hiragino Sans GB W3</vt:lpstr>
      <vt:lpstr>Microsoft YaHei</vt:lpstr>
      <vt:lpstr>PMingLiU</vt:lpstr>
      <vt:lpstr>Wingdings</vt:lpstr>
      <vt:lpstr>宋体</vt:lpstr>
      <vt:lpstr>Office Theme</vt:lpstr>
      <vt:lpstr>多维分析技术框架分享</vt:lpstr>
      <vt:lpstr>PowerPoint 演示文稿</vt:lpstr>
      <vt:lpstr>架构图 </vt:lpstr>
      <vt:lpstr>Kylin - 概念</vt:lpstr>
      <vt:lpstr>Kylin - 特点</vt:lpstr>
      <vt:lpstr>Kylin - 限制</vt:lpstr>
      <vt:lpstr>Saiku – 概念</vt:lpstr>
      <vt:lpstr>Saiku - 特点</vt:lpstr>
      <vt:lpstr>Saku - 限制</vt:lpstr>
      <vt:lpstr>Mondrain</vt:lpstr>
      <vt:lpstr>开发规范</vt:lpstr>
      <vt:lpstr>THX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yy Zhao</cp:lastModifiedBy>
  <cp:revision>843</cp:revision>
  <dcterms:created xsi:type="dcterms:W3CDTF">2017-08-25T02:07:12Z</dcterms:created>
  <dcterms:modified xsi:type="dcterms:W3CDTF">2018-12-29T01:59:23Z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2017-07-31T00:00:00Z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2017-08-25T00:00:00Z</vt:filetime>
  </property>
</Properties>
</file>